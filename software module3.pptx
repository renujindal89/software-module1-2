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4795" r:id="rId2"/>
    <p:sldId id="4775" r:id="rId3"/>
    <p:sldId id="4820" r:id="rId4"/>
    <p:sldId id="4821" r:id="rId5"/>
    <p:sldId id="4822" r:id="rId6"/>
    <p:sldId id="4823" r:id="rId7"/>
    <p:sldId id="4824" r:id="rId8"/>
    <p:sldId id="4825" r:id="rId9"/>
    <p:sldId id="4826" r:id="rId10"/>
    <p:sldId id="4827" r:id="rId11"/>
    <p:sldId id="4828" r:id="rId12"/>
    <p:sldId id="4829" r:id="rId13"/>
    <p:sldId id="4830" r:id="rId14"/>
    <p:sldId id="4831" r:id="rId15"/>
    <p:sldId id="4832" r:id="rId16"/>
    <p:sldId id="4833" r:id="rId17"/>
    <p:sldId id="4834" r:id="rId18"/>
    <p:sldId id="4835" r:id="rId19"/>
    <p:sldId id="4836" r:id="rId20"/>
    <p:sldId id="4837" r:id="rId21"/>
    <p:sldId id="4838" r:id="rId22"/>
    <p:sldId id="4839" r:id="rId23"/>
    <p:sldId id="4840" r:id="rId24"/>
    <p:sldId id="4841" r:id="rId25"/>
    <p:sldId id="4842" r:id="rId26"/>
    <p:sldId id="4843" r:id="rId27"/>
    <p:sldId id="4844" r:id="rId28"/>
    <p:sldId id="4845" r:id="rId29"/>
    <p:sldId id="4846" r:id="rId30"/>
    <p:sldId id="4847" r:id="rId31"/>
    <p:sldId id="4848" r:id="rId32"/>
    <p:sldId id="4849" r:id="rId33"/>
    <p:sldId id="4850" r:id="rId34"/>
    <p:sldId id="4851" r:id="rId35"/>
    <p:sldId id="4852" r:id="rId36"/>
    <p:sldId id="4853" r:id="rId37"/>
    <p:sldId id="4854" r:id="rId38"/>
    <p:sldId id="4855" r:id="rId39"/>
    <p:sldId id="4856" r:id="rId40"/>
    <p:sldId id="485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67E879-CB91-561D-26D9-5AE78D3D01C1}" v="1" dt="2025-10-13T14:27:26.7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u  Jindal" userId="S::renu.jindal@complereinfosystem.com::d9ec3bc4-ed8f-451f-b671-f5ff93217273" providerId="AD" clId="Web-{EE67E879-CB91-561D-26D9-5AE78D3D01C1}"/>
    <pc:docChg chg="delSld">
      <pc:chgData name="Renu  Jindal" userId="S::renu.jindal@complereinfosystem.com::d9ec3bc4-ed8f-451f-b671-f5ff93217273" providerId="AD" clId="Web-{EE67E879-CB91-561D-26D9-5AE78D3D01C1}" dt="2025-10-13T14:27:26.744" v="0"/>
      <pc:docMkLst>
        <pc:docMk/>
      </pc:docMkLst>
      <pc:sldChg chg="del">
        <pc:chgData name="Renu  Jindal" userId="S::renu.jindal@complereinfosystem.com::d9ec3bc4-ed8f-451f-b671-f5ff93217273" providerId="AD" clId="Web-{EE67E879-CB91-561D-26D9-5AE78D3D01C1}" dt="2025-10-13T14:27:26.744" v="0"/>
        <pc:sldMkLst>
          <pc:docMk/>
          <pc:sldMk cId="1013331193"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B9501-BF7D-4419-A798-C7BED25F0FA3}" type="datetimeFigureOut">
              <a:rPr lang="en-IN" smtClean="0"/>
              <a:t>13-10-2025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A9AD59-5705-4DC9-B0B6-B85BB0237F7A}" type="slidenum">
              <a:rPr lang="en-IN" smtClean="0"/>
              <a:t>‹#›</a:t>
            </a:fld>
            <a:endParaRPr lang="en-IN"/>
          </a:p>
        </p:txBody>
      </p:sp>
    </p:spTree>
    <p:extLst>
      <p:ext uri="{BB962C8B-B14F-4D97-AF65-F5344CB8AC3E}">
        <p14:creationId xmlns:p14="http://schemas.microsoft.com/office/powerpoint/2010/main" val="2519458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2</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0D42-E822-10CC-8040-B948F2D94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4643F-2565-839F-351D-14F15BD80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B5717-892B-D625-5D44-4794C4DDF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694CF-95FB-3DDF-FAC3-848A9C02F940}"/>
              </a:ext>
            </a:extLst>
          </p:cNvPr>
          <p:cNvSpPr>
            <a:spLocks noGrp="1"/>
          </p:cNvSpPr>
          <p:nvPr>
            <p:ph type="sldNum" sz="quarter" idx="5"/>
          </p:nvPr>
        </p:nvSpPr>
        <p:spPr/>
        <p:txBody>
          <a:bodyPr/>
          <a:lstStyle/>
          <a:p>
            <a:fld id="{4169D07A-98AC-4408-9A87-677237176D46}" type="slidenum">
              <a:rPr lang="en-GB" smtClean="0"/>
              <a:t>3</a:t>
            </a:fld>
            <a:endParaRPr lang="en-GB" dirty="0"/>
          </a:p>
        </p:txBody>
      </p:sp>
    </p:spTree>
    <p:extLst>
      <p:ext uri="{BB962C8B-B14F-4D97-AF65-F5344CB8AC3E}">
        <p14:creationId xmlns:p14="http://schemas.microsoft.com/office/powerpoint/2010/main" val="1648922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0F46-AD31-7B8C-6B26-32DE0FFCA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0BE47-43A6-3919-BF12-3BE8A901F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F6C49-8E37-2D56-9710-EB31915556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88A50-BFED-EE5E-9658-04DA4510A19B}"/>
              </a:ext>
            </a:extLst>
          </p:cNvPr>
          <p:cNvSpPr>
            <a:spLocks noGrp="1"/>
          </p:cNvSpPr>
          <p:nvPr>
            <p:ph type="sldNum" sz="quarter" idx="5"/>
          </p:nvPr>
        </p:nvSpPr>
        <p:spPr/>
        <p:txBody>
          <a:bodyPr/>
          <a:lstStyle/>
          <a:p>
            <a:fld id="{4169D07A-98AC-4408-9A87-677237176D46}" type="slidenum">
              <a:rPr lang="en-GB" smtClean="0"/>
              <a:t>4</a:t>
            </a:fld>
            <a:endParaRPr lang="en-GB" dirty="0"/>
          </a:p>
        </p:txBody>
      </p:sp>
    </p:spTree>
    <p:extLst>
      <p:ext uri="{BB962C8B-B14F-4D97-AF65-F5344CB8AC3E}">
        <p14:creationId xmlns:p14="http://schemas.microsoft.com/office/powerpoint/2010/main" val="1694292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6</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0D42-E822-10CC-8040-B948F2D94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4643F-2565-839F-351D-14F15BD80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B5717-892B-D625-5D44-4794C4DDF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694CF-95FB-3DDF-FAC3-848A9C02F940}"/>
              </a:ext>
            </a:extLst>
          </p:cNvPr>
          <p:cNvSpPr>
            <a:spLocks noGrp="1"/>
          </p:cNvSpPr>
          <p:nvPr>
            <p:ph type="sldNum" sz="quarter" idx="5"/>
          </p:nvPr>
        </p:nvSpPr>
        <p:spPr/>
        <p:txBody>
          <a:bodyPr/>
          <a:lstStyle/>
          <a:p>
            <a:fld id="{4169D07A-98AC-4408-9A87-677237176D46}" type="slidenum">
              <a:rPr lang="en-GB" smtClean="0"/>
              <a:t>7</a:t>
            </a:fld>
            <a:endParaRPr lang="en-GB" dirty="0"/>
          </a:p>
        </p:txBody>
      </p:sp>
    </p:spTree>
    <p:extLst>
      <p:ext uri="{BB962C8B-B14F-4D97-AF65-F5344CB8AC3E}">
        <p14:creationId xmlns:p14="http://schemas.microsoft.com/office/powerpoint/2010/main" val="1648922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16175-9FA0-51FD-8AAF-5A3CCEA22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7053F-7114-F043-969D-897A91CA0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40558-EB6A-4EC6-C0B5-D07D42BACF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414464-3C63-7034-CBDF-7E4BE96F4F78}"/>
              </a:ext>
            </a:extLst>
          </p:cNvPr>
          <p:cNvSpPr>
            <a:spLocks noGrp="1"/>
          </p:cNvSpPr>
          <p:nvPr>
            <p:ph type="sldNum" sz="quarter" idx="5"/>
          </p:nvPr>
        </p:nvSpPr>
        <p:spPr/>
        <p:txBody>
          <a:bodyPr/>
          <a:lstStyle/>
          <a:p>
            <a:fld id="{4169D07A-98AC-4408-9A87-677237176D46}" type="slidenum">
              <a:rPr lang="en-GB" smtClean="0"/>
              <a:t>8</a:t>
            </a:fld>
            <a:endParaRPr lang="en-GB" dirty="0"/>
          </a:p>
        </p:txBody>
      </p:sp>
    </p:spTree>
    <p:extLst>
      <p:ext uri="{BB962C8B-B14F-4D97-AF65-F5344CB8AC3E}">
        <p14:creationId xmlns:p14="http://schemas.microsoft.com/office/powerpoint/2010/main" val="1951309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687A-A63B-4A8B-0DAB-FD6B0C457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E769A-FB02-34A9-C3FD-704693D24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A1ACD-828D-017D-4CBF-74A1A42BEA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648AA-7EF8-AE4B-3E9C-A83B67567D48}"/>
              </a:ext>
            </a:extLst>
          </p:cNvPr>
          <p:cNvSpPr>
            <a:spLocks noGrp="1"/>
          </p:cNvSpPr>
          <p:nvPr>
            <p:ph type="sldNum" sz="quarter" idx="5"/>
          </p:nvPr>
        </p:nvSpPr>
        <p:spPr/>
        <p:txBody>
          <a:bodyPr/>
          <a:lstStyle/>
          <a:p>
            <a:fld id="{4169D07A-98AC-4408-9A87-677237176D46}" type="slidenum">
              <a:rPr lang="en-GB" smtClean="0"/>
              <a:t>9</a:t>
            </a:fld>
            <a:endParaRPr lang="en-GB" dirty="0"/>
          </a:p>
        </p:txBody>
      </p:sp>
    </p:spTree>
    <p:extLst>
      <p:ext uri="{BB962C8B-B14F-4D97-AF65-F5344CB8AC3E}">
        <p14:creationId xmlns:p14="http://schemas.microsoft.com/office/powerpoint/2010/main" val="4261967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27E94-A20A-6003-B0C3-579C370E1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94B83-71E1-C11F-A354-BB8040C9D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B01C0F-D4ED-2DDB-DABB-E5F7893D43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10BDA2-E1BC-035E-D750-4B192E076500}"/>
              </a:ext>
            </a:extLst>
          </p:cNvPr>
          <p:cNvSpPr>
            <a:spLocks noGrp="1"/>
          </p:cNvSpPr>
          <p:nvPr>
            <p:ph type="sldNum" sz="quarter" idx="5"/>
          </p:nvPr>
        </p:nvSpPr>
        <p:spPr/>
        <p:txBody>
          <a:bodyPr/>
          <a:lstStyle/>
          <a:p>
            <a:fld id="{4169D07A-98AC-4408-9A87-677237176D46}" type="slidenum">
              <a:rPr lang="en-GB" smtClean="0"/>
              <a:t>10</a:t>
            </a:fld>
            <a:endParaRPr lang="en-GB" dirty="0"/>
          </a:p>
        </p:txBody>
      </p:sp>
    </p:spTree>
    <p:extLst>
      <p:ext uri="{BB962C8B-B14F-4D97-AF65-F5344CB8AC3E}">
        <p14:creationId xmlns:p14="http://schemas.microsoft.com/office/powerpoint/2010/main" val="1727587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0F46-AD31-7B8C-6B26-32DE0FFCA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0BE47-43A6-3919-BF12-3BE8A901F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F6C49-8E37-2D56-9710-EB31915556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88A50-BFED-EE5E-9658-04DA4510A19B}"/>
              </a:ext>
            </a:extLst>
          </p:cNvPr>
          <p:cNvSpPr>
            <a:spLocks noGrp="1"/>
          </p:cNvSpPr>
          <p:nvPr>
            <p:ph type="sldNum" sz="quarter" idx="5"/>
          </p:nvPr>
        </p:nvSpPr>
        <p:spPr/>
        <p:txBody>
          <a:bodyPr/>
          <a:lstStyle/>
          <a:p>
            <a:fld id="{4169D07A-98AC-4408-9A87-677237176D46}" type="slidenum">
              <a:rPr lang="en-GB" smtClean="0"/>
              <a:t>11</a:t>
            </a:fld>
            <a:endParaRPr lang="en-GB" dirty="0"/>
          </a:p>
        </p:txBody>
      </p:sp>
    </p:spTree>
    <p:extLst>
      <p:ext uri="{BB962C8B-B14F-4D97-AF65-F5344CB8AC3E}">
        <p14:creationId xmlns:p14="http://schemas.microsoft.com/office/powerpoint/2010/main" val="1694292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13</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D541A-5A0E-DE8D-BE29-D8AB07C25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5C295-CC71-BE77-9E16-1ACFB763BD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C4941-9874-9B4B-B809-8B9A2F4649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4CABBB-E645-9E4B-FABA-61C949FF155A}"/>
              </a:ext>
            </a:extLst>
          </p:cNvPr>
          <p:cNvSpPr>
            <a:spLocks noGrp="1"/>
          </p:cNvSpPr>
          <p:nvPr>
            <p:ph type="sldNum" sz="quarter" idx="5"/>
          </p:nvPr>
        </p:nvSpPr>
        <p:spPr/>
        <p:txBody>
          <a:bodyPr/>
          <a:lstStyle/>
          <a:p>
            <a:fld id="{4169D07A-98AC-4408-9A87-677237176D46}" type="slidenum">
              <a:rPr lang="en-GB" smtClean="0"/>
              <a:t>14</a:t>
            </a:fld>
            <a:endParaRPr lang="en-GB" dirty="0"/>
          </a:p>
        </p:txBody>
      </p:sp>
    </p:spTree>
    <p:extLst>
      <p:ext uri="{BB962C8B-B14F-4D97-AF65-F5344CB8AC3E}">
        <p14:creationId xmlns:p14="http://schemas.microsoft.com/office/powerpoint/2010/main" val="3756592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0D42-E822-10CC-8040-B948F2D94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4643F-2565-839F-351D-14F15BD80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B5717-892B-D625-5D44-4794C4DDF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694CF-95FB-3DDF-FAC3-848A9C02F940}"/>
              </a:ext>
            </a:extLst>
          </p:cNvPr>
          <p:cNvSpPr>
            <a:spLocks noGrp="1"/>
          </p:cNvSpPr>
          <p:nvPr>
            <p:ph type="sldNum" sz="quarter" idx="5"/>
          </p:nvPr>
        </p:nvSpPr>
        <p:spPr/>
        <p:txBody>
          <a:bodyPr/>
          <a:lstStyle/>
          <a:p>
            <a:fld id="{4169D07A-98AC-4408-9A87-677237176D46}" type="slidenum">
              <a:rPr lang="en-GB" smtClean="0"/>
              <a:t>15</a:t>
            </a:fld>
            <a:endParaRPr lang="en-GB" dirty="0"/>
          </a:p>
        </p:txBody>
      </p:sp>
    </p:spTree>
    <p:extLst>
      <p:ext uri="{BB962C8B-B14F-4D97-AF65-F5344CB8AC3E}">
        <p14:creationId xmlns:p14="http://schemas.microsoft.com/office/powerpoint/2010/main" val="1648922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16175-9FA0-51FD-8AAF-5A3CCEA22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7053F-7114-F043-969D-897A91CA0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40558-EB6A-4EC6-C0B5-D07D42BACF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414464-3C63-7034-CBDF-7E4BE96F4F78}"/>
              </a:ext>
            </a:extLst>
          </p:cNvPr>
          <p:cNvSpPr>
            <a:spLocks noGrp="1"/>
          </p:cNvSpPr>
          <p:nvPr>
            <p:ph type="sldNum" sz="quarter" idx="5"/>
          </p:nvPr>
        </p:nvSpPr>
        <p:spPr/>
        <p:txBody>
          <a:bodyPr/>
          <a:lstStyle/>
          <a:p>
            <a:fld id="{4169D07A-98AC-4408-9A87-677237176D46}" type="slidenum">
              <a:rPr lang="en-GB" smtClean="0"/>
              <a:t>16</a:t>
            </a:fld>
            <a:endParaRPr lang="en-GB" dirty="0"/>
          </a:p>
        </p:txBody>
      </p:sp>
    </p:spTree>
    <p:extLst>
      <p:ext uri="{BB962C8B-B14F-4D97-AF65-F5344CB8AC3E}">
        <p14:creationId xmlns:p14="http://schemas.microsoft.com/office/powerpoint/2010/main" val="1951309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687A-A63B-4A8B-0DAB-FD6B0C457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E769A-FB02-34A9-C3FD-704693D24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A1ACD-828D-017D-4CBF-74A1A42BEA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648AA-7EF8-AE4B-3E9C-A83B67567D48}"/>
              </a:ext>
            </a:extLst>
          </p:cNvPr>
          <p:cNvSpPr>
            <a:spLocks noGrp="1"/>
          </p:cNvSpPr>
          <p:nvPr>
            <p:ph type="sldNum" sz="quarter" idx="5"/>
          </p:nvPr>
        </p:nvSpPr>
        <p:spPr/>
        <p:txBody>
          <a:bodyPr/>
          <a:lstStyle/>
          <a:p>
            <a:fld id="{4169D07A-98AC-4408-9A87-677237176D46}" type="slidenum">
              <a:rPr lang="en-GB" smtClean="0"/>
              <a:t>17</a:t>
            </a:fld>
            <a:endParaRPr lang="en-GB" dirty="0"/>
          </a:p>
        </p:txBody>
      </p:sp>
    </p:spTree>
    <p:extLst>
      <p:ext uri="{BB962C8B-B14F-4D97-AF65-F5344CB8AC3E}">
        <p14:creationId xmlns:p14="http://schemas.microsoft.com/office/powerpoint/2010/main" val="4261967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0F46-AD31-7B8C-6B26-32DE0FFCA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0BE47-43A6-3919-BF12-3BE8A901F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F6C49-8E37-2D56-9710-EB31915556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88A50-BFED-EE5E-9658-04DA4510A19B}"/>
              </a:ext>
            </a:extLst>
          </p:cNvPr>
          <p:cNvSpPr>
            <a:spLocks noGrp="1"/>
          </p:cNvSpPr>
          <p:nvPr>
            <p:ph type="sldNum" sz="quarter" idx="5"/>
          </p:nvPr>
        </p:nvSpPr>
        <p:spPr/>
        <p:txBody>
          <a:bodyPr/>
          <a:lstStyle/>
          <a:p>
            <a:fld id="{4169D07A-98AC-4408-9A87-677237176D46}" type="slidenum">
              <a:rPr lang="en-GB" smtClean="0"/>
              <a:t>18</a:t>
            </a:fld>
            <a:endParaRPr lang="en-GB" dirty="0"/>
          </a:p>
        </p:txBody>
      </p:sp>
    </p:spTree>
    <p:extLst>
      <p:ext uri="{BB962C8B-B14F-4D97-AF65-F5344CB8AC3E}">
        <p14:creationId xmlns:p14="http://schemas.microsoft.com/office/powerpoint/2010/main" val="1694292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20</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0D42-E822-10CC-8040-B948F2D94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4643F-2565-839F-351D-14F15BD80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B5717-892B-D625-5D44-4794C4DDF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694CF-95FB-3DDF-FAC3-848A9C02F940}"/>
              </a:ext>
            </a:extLst>
          </p:cNvPr>
          <p:cNvSpPr>
            <a:spLocks noGrp="1"/>
          </p:cNvSpPr>
          <p:nvPr>
            <p:ph type="sldNum" sz="quarter" idx="5"/>
          </p:nvPr>
        </p:nvSpPr>
        <p:spPr/>
        <p:txBody>
          <a:bodyPr/>
          <a:lstStyle/>
          <a:p>
            <a:fld id="{4169D07A-98AC-4408-9A87-677237176D46}" type="slidenum">
              <a:rPr lang="en-GB" smtClean="0"/>
              <a:t>21</a:t>
            </a:fld>
            <a:endParaRPr lang="en-GB" dirty="0"/>
          </a:p>
        </p:txBody>
      </p:sp>
    </p:spTree>
    <p:extLst>
      <p:ext uri="{BB962C8B-B14F-4D97-AF65-F5344CB8AC3E}">
        <p14:creationId xmlns:p14="http://schemas.microsoft.com/office/powerpoint/2010/main" val="1648922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16175-9FA0-51FD-8AAF-5A3CCEA22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7053F-7114-F043-969D-897A91CA0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40558-EB6A-4EC6-C0B5-D07D42BACF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414464-3C63-7034-CBDF-7E4BE96F4F78}"/>
              </a:ext>
            </a:extLst>
          </p:cNvPr>
          <p:cNvSpPr>
            <a:spLocks noGrp="1"/>
          </p:cNvSpPr>
          <p:nvPr>
            <p:ph type="sldNum" sz="quarter" idx="5"/>
          </p:nvPr>
        </p:nvSpPr>
        <p:spPr/>
        <p:txBody>
          <a:bodyPr/>
          <a:lstStyle/>
          <a:p>
            <a:fld id="{4169D07A-98AC-4408-9A87-677237176D46}" type="slidenum">
              <a:rPr lang="en-GB" smtClean="0"/>
              <a:t>22</a:t>
            </a:fld>
            <a:endParaRPr lang="en-GB" dirty="0"/>
          </a:p>
        </p:txBody>
      </p:sp>
    </p:spTree>
    <p:extLst>
      <p:ext uri="{BB962C8B-B14F-4D97-AF65-F5344CB8AC3E}">
        <p14:creationId xmlns:p14="http://schemas.microsoft.com/office/powerpoint/2010/main" val="1951309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687A-A63B-4A8B-0DAB-FD6B0C457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E769A-FB02-34A9-C3FD-704693D24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A1ACD-828D-017D-4CBF-74A1A42BEA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648AA-7EF8-AE4B-3E9C-A83B67567D48}"/>
              </a:ext>
            </a:extLst>
          </p:cNvPr>
          <p:cNvSpPr>
            <a:spLocks noGrp="1"/>
          </p:cNvSpPr>
          <p:nvPr>
            <p:ph type="sldNum" sz="quarter" idx="5"/>
          </p:nvPr>
        </p:nvSpPr>
        <p:spPr/>
        <p:txBody>
          <a:bodyPr/>
          <a:lstStyle/>
          <a:p>
            <a:fld id="{4169D07A-98AC-4408-9A87-677237176D46}" type="slidenum">
              <a:rPr lang="en-GB" smtClean="0"/>
              <a:t>23</a:t>
            </a:fld>
            <a:endParaRPr lang="en-GB" dirty="0"/>
          </a:p>
        </p:txBody>
      </p:sp>
    </p:spTree>
    <p:extLst>
      <p:ext uri="{BB962C8B-B14F-4D97-AF65-F5344CB8AC3E}">
        <p14:creationId xmlns:p14="http://schemas.microsoft.com/office/powerpoint/2010/main" val="4261967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0F46-AD31-7B8C-6B26-32DE0FFCA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0BE47-43A6-3919-BF12-3BE8A901F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F6C49-8E37-2D56-9710-EB31915556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88A50-BFED-EE5E-9658-04DA4510A19B}"/>
              </a:ext>
            </a:extLst>
          </p:cNvPr>
          <p:cNvSpPr>
            <a:spLocks noGrp="1"/>
          </p:cNvSpPr>
          <p:nvPr>
            <p:ph type="sldNum" sz="quarter" idx="5"/>
          </p:nvPr>
        </p:nvSpPr>
        <p:spPr/>
        <p:txBody>
          <a:bodyPr/>
          <a:lstStyle/>
          <a:p>
            <a:fld id="{4169D07A-98AC-4408-9A87-677237176D46}" type="slidenum">
              <a:rPr lang="en-GB" smtClean="0"/>
              <a:t>24</a:t>
            </a:fld>
            <a:endParaRPr lang="en-GB" dirty="0"/>
          </a:p>
        </p:txBody>
      </p:sp>
    </p:spTree>
    <p:extLst>
      <p:ext uri="{BB962C8B-B14F-4D97-AF65-F5344CB8AC3E}">
        <p14:creationId xmlns:p14="http://schemas.microsoft.com/office/powerpoint/2010/main" val="1694292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26</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5CF0-9BFE-5A86-992B-E44321B1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3F42F-84B4-8BF2-2256-7D6469812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788E7-1983-723B-1FEC-638550143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D7033-0FE1-4140-AAF4-D4126F44A668}"/>
              </a:ext>
            </a:extLst>
          </p:cNvPr>
          <p:cNvSpPr>
            <a:spLocks noGrp="1"/>
          </p:cNvSpPr>
          <p:nvPr>
            <p:ph type="sldNum" sz="quarter" idx="5"/>
          </p:nvPr>
        </p:nvSpPr>
        <p:spPr/>
        <p:txBody>
          <a:bodyPr/>
          <a:lstStyle/>
          <a:p>
            <a:fld id="{4169D07A-98AC-4408-9A87-677237176D46}" type="slidenum">
              <a:rPr lang="en-GB" smtClean="0"/>
              <a:t>27</a:t>
            </a:fld>
            <a:endParaRPr lang="en-GB" dirty="0"/>
          </a:p>
        </p:txBody>
      </p:sp>
    </p:spTree>
    <p:extLst>
      <p:ext uri="{BB962C8B-B14F-4D97-AF65-F5344CB8AC3E}">
        <p14:creationId xmlns:p14="http://schemas.microsoft.com/office/powerpoint/2010/main" val="3581371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FD4D9-A7E1-854B-BFDC-E0264A767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2C530-5DB6-D4D7-BF8F-8A10D24DA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1A9CF-BC2C-40FD-54CF-A46F957B7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92DF86-C70D-2F42-356A-316601D378A8}"/>
              </a:ext>
            </a:extLst>
          </p:cNvPr>
          <p:cNvSpPr>
            <a:spLocks noGrp="1"/>
          </p:cNvSpPr>
          <p:nvPr>
            <p:ph type="sldNum" sz="quarter" idx="5"/>
          </p:nvPr>
        </p:nvSpPr>
        <p:spPr/>
        <p:txBody>
          <a:bodyPr/>
          <a:lstStyle/>
          <a:p>
            <a:fld id="{4169D07A-98AC-4408-9A87-677237176D46}" type="slidenum">
              <a:rPr lang="en-GB" smtClean="0"/>
              <a:t>28</a:t>
            </a:fld>
            <a:endParaRPr lang="en-GB" dirty="0"/>
          </a:p>
        </p:txBody>
      </p:sp>
    </p:spTree>
    <p:extLst>
      <p:ext uri="{BB962C8B-B14F-4D97-AF65-F5344CB8AC3E}">
        <p14:creationId xmlns:p14="http://schemas.microsoft.com/office/powerpoint/2010/main" val="1256892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30</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5CF0-9BFE-5A86-992B-E44321B1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3F42F-84B4-8BF2-2256-7D6469812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788E7-1983-723B-1FEC-638550143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D7033-0FE1-4140-AAF4-D4126F44A668}"/>
              </a:ext>
            </a:extLst>
          </p:cNvPr>
          <p:cNvSpPr>
            <a:spLocks noGrp="1"/>
          </p:cNvSpPr>
          <p:nvPr>
            <p:ph type="sldNum" sz="quarter" idx="5"/>
          </p:nvPr>
        </p:nvSpPr>
        <p:spPr/>
        <p:txBody>
          <a:bodyPr/>
          <a:lstStyle/>
          <a:p>
            <a:fld id="{4169D07A-98AC-4408-9A87-677237176D46}" type="slidenum">
              <a:rPr lang="en-GB" smtClean="0"/>
              <a:t>31</a:t>
            </a:fld>
            <a:endParaRPr lang="en-GB" dirty="0"/>
          </a:p>
        </p:txBody>
      </p:sp>
    </p:spTree>
    <p:extLst>
      <p:ext uri="{BB962C8B-B14F-4D97-AF65-F5344CB8AC3E}">
        <p14:creationId xmlns:p14="http://schemas.microsoft.com/office/powerpoint/2010/main" val="35813716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7DDE-2C01-B255-774F-295EE52D1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79C55-3DB2-0FCE-3735-4B1C98226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69F6-9D64-2B9C-F95B-EA1150141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BD4138-30B7-45C8-9370-835DCDD05616}"/>
              </a:ext>
            </a:extLst>
          </p:cNvPr>
          <p:cNvSpPr>
            <a:spLocks noGrp="1"/>
          </p:cNvSpPr>
          <p:nvPr>
            <p:ph type="sldNum" sz="quarter" idx="5"/>
          </p:nvPr>
        </p:nvSpPr>
        <p:spPr/>
        <p:txBody>
          <a:bodyPr/>
          <a:lstStyle/>
          <a:p>
            <a:fld id="{4169D07A-98AC-4408-9A87-677237176D46}" type="slidenum">
              <a:rPr lang="en-GB" smtClean="0"/>
              <a:t>32</a:t>
            </a:fld>
            <a:endParaRPr lang="en-GB" dirty="0"/>
          </a:p>
        </p:txBody>
      </p:sp>
    </p:spTree>
    <p:extLst>
      <p:ext uri="{BB962C8B-B14F-4D97-AF65-F5344CB8AC3E}">
        <p14:creationId xmlns:p14="http://schemas.microsoft.com/office/powerpoint/2010/main" val="17885965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CA8C2-BD90-0E8D-E4D9-2EB22AEF6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EA5CF-C74C-4AEB-23CF-A856F3BD6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84A74-1FA5-BF2A-9274-CE9B3F46A2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D44716-F041-3BC5-11CC-09C34005C248}"/>
              </a:ext>
            </a:extLst>
          </p:cNvPr>
          <p:cNvSpPr>
            <a:spLocks noGrp="1"/>
          </p:cNvSpPr>
          <p:nvPr>
            <p:ph type="sldNum" sz="quarter" idx="5"/>
          </p:nvPr>
        </p:nvSpPr>
        <p:spPr/>
        <p:txBody>
          <a:bodyPr/>
          <a:lstStyle/>
          <a:p>
            <a:fld id="{4169D07A-98AC-4408-9A87-677237176D46}" type="slidenum">
              <a:rPr lang="en-GB" smtClean="0"/>
              <a:t>33</a:t>
            </a:fld>
            <a:endParaRPr lang="en-GB" dirty="0"/>
          </a:p>
        </p:txBody>
      </p:sp>
    </p:spTree>
    <p:extLst>
      <p:ext uri="{BB962C8B-B14F-4D97-AF65-F5344CB8AC3E}">
        <p14:creationId xmlns:p14="http://schemas.microsoft.com/office/powerpoint/2010/main" val="10510971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FD4D9-A7E1-854B-BFDC-E0264A767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2C530-5DB6-D4D7-BF8F-8A10D24DA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1A9CF-BC2C-40FD-54CF-A46F957B7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92DF86-C70D-2F42-356A-316601D378A8}"/>
              </a:ext>
            </a:extLst>
          </p:cNvPr>
          <p:cNvSpPr>
            <a:spLocks noGrp="1"/>
          </p:cNvSpPr>
          <p:nvPr>
            <p:ph type="sldNum" sz="quarter" idx="5"/>
          </p:nvPr>
        </p:nvSpPr>
        <p:spPr/>
        <p:txBody>
          <a:bodyPr/>
          <a:lstStyle/>
          <a:p>
            <a:fld id="{4169D07A-98AC-4408-9A87-677237176D46}" type="slidenum">
              <a:rPr lang="en-GB" smtClean="0"/>
              <a:t>34</a:t>
            </a:fld>
            <a:endParaRPr lang="en-GB" dirty="0"/>
          </a:p>
        </p:txBody>
      </p:sp>
    </p:spTree>
    <p:extLst>
      <p:ext uri="{BB962C8B-B14F-4D97-AF65-F5344CB8AC3E}">
        <p14:creationId xmlns:p14="http://schemas.microsoft.com/office/powerpoint/2010/main" val="12568926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36</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5CF0-9BFE-5A86-992B-E44321B1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3F42F-84B4-8BF2-2256-7D6469812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788E7-1983-723B-1FEC-638550143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D7033-0FE1-4140-AAF4-D4126F44A668}"/>
              </a:ext>
            </a:extLst>
          </p:cNvPr>
          <p:cNvSpPr>
            <a:spLocks noGrp="1"/>
          </p:cNvSpPr>
          <p:nvPr>
            <p:ph type="sldNum" sz="quarter" idx="5"/>
          </p:nvPr>
        </p:nvSpPr>
        <p:spPr/>
        <p:txBody>
          <a:bodyPr/>
          <a:lstStyle/>
          <a:p>
            <a:fld id="{4169D07A-98AC-4408-9A87-677237176D46}" type="slidenum">
              <a:rPr lang="en-GB" smtClean="0"/>
              <a:t>37</a:t>
            </a:fld>
            <a:endParaRPr lang="en-GB" dirty="0"/>
          </a:p>
        </p:txBody>
      </p:sp>
    </p:spTree>
    <p:extLst>
      <p:ext uri="{BB962C8B-B14F-4D97-AF65-F5344CB8AC3E}">
        <p14:creationId xmlns:p14="http://schemas.microsoft.com/office/powerpoint/2010/main" val="35813716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7DDE-2C01-B255-774F-295EE52D1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79C55-3DB2-0FCE-3735-4B1C98226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69F6-9D64-2B9C-F95B-EA1150141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BD4138-30B7-45C8-9370-835DCDD05616}"/>
              </a:ext>
            </a:extLst>
          </p:cNvPr>
          <p:cNvSpPr>
            <a:spLocks noGrp="1"/>
          </p:cNvSpPr>
          <p:nvPr>
            <p:ph type="sldNum" sz="quarter" idx="5"/>
          </p:nvPr>
        </p:nvSpPr>
        <p:spPr/>
        <p:txBody>
          <a:bodyPr/>
          <a:lstStyle/>
          <a:p>
            <a:fld id="{4169D07A-98AC-4408-9A87-677237176D46}" type="slidenum">
              <a:rPr lang="en-GB" smtClean="0"/>
              <a:t>38</a:t>
            </a:fld>
            <a:endParaRPr lang="en-GB" dirty="0"/>
          </a:p>
        </p:txBody>
      </p:sp>
    </p:spTree>
    <p:extLst>
      <p:ext uri="{BB962C8B-B14F-4D97-AF65-F5344CB8AC3E}">
        <p14:creationId xmlns:p14="http://schemas.microsoft.com/office/powerpoint/2010/main" val="1788596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CA8C2-BD90-0E8D-E4D9-2EB22AEF6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EA5CF-C74C-4AEB-23CF-A856F3BD6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84A74-1FA5-BF2A-9274-CE9B3F46A2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D44716-F041-3BC5-11CC-09C34005C248}"/>
              </a:ext>
            </a:extLst>
          </p:cNvPr>
          <p:cNvSpPr>
            <a:spLocks noGrp="1"/>
          </p:cNvSpPr>
          <p:nvPr>
            <p:ph type="sldNum" sz="quarter" idx="5"/>
          </p:nvPr>
        </p:nvSpPr>
        <p:spPr/>
        <p:txBody>
          <a:bodyPr/>
          <a:lstStyle/>
          <a:p>
            <a:fld id="{4169D07A-98AC-4408-9A87-677237176D46}" type="slidenum">
              <a:rPr lang="en-GB" smtClean="0"/>
              <a:t>39</a:t>
            </a:fld>
            <a:endParaRPr lang="en-GB" dirty="0"/>
          </a:p>
        </p:txBody>
      </p:sp>
    </p:spTree>
    <p:extLst>
      <p:ext uri="{BB962C8B-B14F-4D97-AF65-F5344CB8AC3E}">
        <p14:creationId xmlns:p14="http://schemas.microsoft.com/office/powerpoint/2010/main" val="1051097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FD4D9-A7E1-854B-BFDC-E0264A767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2C530-5DB6-D4D7-BF8F-8A10D24DA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1A9CF-BC2C-40FD-54CF-A46F957B7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92DF86-C70D-2F42-356A-316601D378A8}"/>
              </a:ext>
            </a:extLst>
          </p:cNvPr>
          <p:cNvSpPr>
            <a:spLocks noGrp="1"/>
          </p:cNvSpPr>
          <p:nvPr>
            <p:ph type="sldNum" sz="quarter" idx="5"/>
          </p:nvPr>
        </p:nvSpPr>
        <p:spPr/>
        <p:txBody>
          <a:bodyPr/>
          <a:lstStyle/>
          <a:p>
            <a:fld id="{4169D07A-98AC-4408-9A87-677237176D46}" type="slidenum">
              <a:rPr lang="en-GB" smtClean="0"/>
              <a:t>40</a:t>
            </a:fld>
            <a:endParaRPr lang="en-GB" dirty="0"/>
          </a:p>
        </p:txBody>
      </p:sp>
    </p:spTree>
    <p:extLst>
      <p:ext uri="{BB962C8B-B14F-4D97-AF65-F5344CB8AC3E}">
        <p14:creationId xmlns:p14="http://schemas.microsoft.com/office/powerpoint/2010/main" val="1256892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4E865-50FE-2B17-A021-62C2B1803A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6AB536-27DC-8EC1-D070-1B103F971D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8EE311-F865-3C6D-F3FB-1C3C1C8471D1}"/>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5" name="Footer Placeholder 4">
            <a:extLst>
              <a:ext uri="{FF2B5EF4-FFF2-40B4-BE49-F238E27FC236}">
                <a16:creationId xmlns:a16="http://schemas.microsoft.com/office/drawing/2014/main" id="{B10A41B8-F37F-F5F0-5421-F0ACEEDD9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C4DA5F-BA20-66C5-2A8F-E170ED98E598}"/>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2166470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99316-6018-A6A1-ABC3-07822BB269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094C68-1701-AC18-4B5E-6BC8CF31C4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10942C-D2A6-7143-8799-3606F9BAA18C}"/>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5" name="Footer Placeholder 4">
            <a:extLst>
              <a:ext uri="{FF2B5EF4-FFF2-40B4-BE49-F238E27FC236}">
                <a16:creationId xmlns:a16="http://schemas.microsoft.com/office/drawing/2014/main" id="{636ADF6C-7C01-19F1-7110-BE2786EA6D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5D99B-8CF0-4ED9-09DC-8B018A1BF8AA}"/>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95380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463C8-06C0-395A-3E09-3C8DE89564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2454B4-49D2-87D5-9B69-5E07067B3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38EF01-1ABA-2D21-1B62-D99583FDE021}"/>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5" name="Footer Placeholder 4">
            <a:extLst>
              <a:ext uri="{FF2B5EF4-FFF2-40B4-BE49-F238E27FC236}">
                <a16:creationId xmlns:a16="http://schemas.microsoft.com/office/drawing/2014/main" id="{91E42CD0-5945-C94D-32FF-EDA63EF353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7BE62E-8F51-3BA5-D173-AA389D20746D}"/>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1256401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423EF-8898-ABB8-D01F-B65643774F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339ACA-4816-5A5F-5FCB-9936954EF7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BE59C8-37EA-8A84-26A5-8A5E7DD801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322847-0F03-EFEE-4F0E-E77B7BDDECB4}"/>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6" name="Footer Placeholder 5">
            <a:extLst>
              <a:ext uri="{FF2B5EF4-FFF2-40B4-BE49-F238E27FC236}">
                <a16:creationId xmlns:a16="http://schemas.microsoft.com/office/drawing/2014/main" id="{767F53DC-3012-5E91-1ED6-7837131D49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C57E6B-AB45-15B9-D94A-7065E6C75DB8}"/>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151321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E1FE-253C-E41D-F2CA-DC135D332D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D3F614-406C-7C64-76BC-A40606B2A0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E5957B-92B9-0D1F-8C2F-D81DF67CCC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1726773-F8DD-108B-F9C5-86470C0BB0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DE1A19-DD8F-AFFF-4A32-DFCC5B6C99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8336EE-33FA-073C-E868-1084E401AE5A}"/>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8" name="Footer Placeholder 7">
            <a:extLst>
              <a:ext uri="{FF2B5EF4-FFF2-40B4-BE49-F238E27FC236}">
                <a16:creationId xmlns:a16="http://schemas.microsoft.com/office/drawing/2014/main" id="{8D845CC3-CA2A-019E-C7A5-FC4D6D3198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14B727-8614-7107-EFD8-383C45393278}"/>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1851034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A24A0-0CBC-4C7E-D7AD-97EB5A04A1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F81B52-AA22-3AE6-5254-C06C5BB59BE3}"/>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4" name="Footer Placeholder 3">
            <a:extLst>
              <a:ext uri="{FF2B5EF4-FFF2-40B4-BE49-F238E27FC236}">
                <a16:creationId xmlns:a16="http://schemas.microsoft.com/office/drawing/2014/main" id="{6EE67FF3-4C0C-6474-09C2-4462D1441C0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792E6D-B783-F979-8130-CA438A3A6D97}"/>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2613950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79032B-1AA4-35E9-A9CC-7C71A86E1A94}"/>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3" name="Footer Placeholder 2">
            <a:extLst>
              <a:ext uri="{FF2B5EF4-FFF2-40B4-BE49-F238E27FC236}">
                <a16:creationId xmlns:a16="http://schemas.microsoft.com/office/drawing/2014/main" id="{BD191DC2-17B3-1315-112E-E5F7B1DA4A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BD086F-A680-1A10-8E8B-6F1A87C07F06}"/>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3449011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52E93-303E-01EF-6374-CA868B5276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05CCC2-8BA3-7876-30B4-67F91FF423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B0EEB5-0603-5A0E-A8CB-5FE48F9327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F0965E-0E6C-EDA0-8A86-950EFC1E0A61}"/>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6" name="Footer Placeholder 5">
            <a:extLst>
              <a:ext uri="{FF2B5EF4-FFF2-40B4-BE49-F238E27FC236}">
                <a16:creationId xmlns:a16="http://schemas.microsoft.com/office/drawing/2014/main" id="{EFAAA1E2-F060-6E90-1862-C9067CDFC5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FCB967-99E3-AB16-D438-F4061F0CF664}"/>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17407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7DBDA-6DF6-701C-01EB-7ACF63F832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A2A348-5220-C16A-9655-BDBA7D075C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288248-34C2-3126-613D-81CAF4CE57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A14D77-1859-C544-7D39-B50B86919E00}"/>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6" name="Footer Placeholder 5">
            <a:extLst>
              <a:ext uri="{FF2B5EF4-FFF2-40B4-BE49-F238E27FC236}">
                <a16:creationId xmlns:a16="http://schemas.microsoft.com/office/drawing/2014/main" id="{7706BF64-DA73-EEF1-9E56-BACE423EE9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01AFBD-8D0E-F5AB-D905-C30283168B1C}"/>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1998508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2587A-4102-D6E1-4ED4-14625A15E5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EEC08A-A9E0-5A83-708E-75A6101975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E29691-236E-E3BE-C12C-F3A186241273}"/>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5" name="Footer Placeholder 4">
            <a:extLst>
              <a:ext uri="{FF2B5EF4-FFF2-40B4-BE49-F238E27FC236}">
                <a16:creationId xmlns:a16="http://schemas.microsoft.com/office/drawing/2014/main" id="{E90557A8-8B67-78A1-1932-6C772AD759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933CA5-854B-B289-A4DD-41223E0E9F70}"/>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23890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E6051D-6B56-2F13-F84C-008C82D2D4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AD89CC-3FED-8B19-D141-76F4E25B34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9676E9-72CF-8213-4796-A9898F4BD0DD}"/>
              </a:ext>
            </a:extLst>
          </p:cNvPr>
          <p:cNvSpPr>
            <a:spLocks noGrp="1"/>
          </p:cNvSpPr>
          <p:nvPr>
            <p:ph type="dt" sz="half" idx="10"/>
          </p:nvPr>
        </p:nvSpPr>
        <p:spPr/>
        <p:txBody>
          <a:bodyPr/>
          <a:lstStyle/>
          <a:p>
            <a:fld id="{FC3C5456-DEA4-450F-B003-4698857AEAC7}" type="datetimeFigureOut">
              <a:rPr lang="en-IN" smtClean="0"/>
              <a:t>13-10-2025</a:t>
            </a:fld>
            <a:endParaRPr lang="en-IN"/>
          </a:p>
        </p:txBody>
      </p:sp>
      <p:sp>
        <p:nvSpPr>
          <p:cNvPr id="5" name="Footer Placeholder 4">
            <a:extLst>
              <a:ext uri="{FF2B5EF4-FFF2-40B4-BE49-F238E27FC236}">
                <a16:creationId xmlns:a16="http://schemas.microsoft.com/office/drawing/2014/main" id="{A3903710-769D-34C4-8DB0-C885AB2312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E3CC17-84B3-89F0-C9D4-BF6DA020E930}"/>
              </a:ext>
            </a:extLst>
          </p:cNvPr>
          <p:cNvSpPr>
            <a:spLocks noGrp="1"/>
          </p:cNvSpPr>
          <p:nvPr>
            <p:ph type="sldNum" sz="quarter" idx="12"/>
          </p:nvPr>
        </p:nvSpPr>
        <p:spPr/>
        <p:txBody>
          <a:bodyPr/>
          <a:lstStyle/>
          <a:p>
            <a:fld id="{B96A8EA7-6411-413E-927B-EBB15C26C6EB}" type="slidenum">
              <a:rPr lang="en-IN" smtClean="0"/>
              <a:t>‹#›</a:t>
            </a:fld>
            <a:endParaRPr lang="en-IN"/>
          </a:p>
        </p:txBody>
      </p:sp>
    </p:spTree>
    <p:extLst>
      <p:ext uri="{BB962C8B-B14F-4D97-AF65-F5344CB8AC3E}">
        <p14:creationId xmlns:p14="http://schemas.microsoft.com/office/powerpoint/2010/main" val="4256602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age - Yellow - Client Logo">
    <p:bg>
      <p:bgPr>
        <a:solidFill>
          <a:schemeClr val="bg1"/>
        </a:solidFill>
        <a:effectLst/>
      </p:bgPr>
    </p:bg>
    <p:spTree>
      <p:nvGrpSpPr>
        <p:cNvPr id="1" name=""/>
        <p:cNvGrpSpPr/>
        <p:nvPr/>
      </p:nvGrpSpPr>
      <p:grpSpPr>
        <a:xfrm>
          <a:off x="0" y="0"/>
          <a:ext cx="0" cy="0"/>
          <a:chOff x="0" y="0"/>
          <a:chExt cx="0" cy="0"/>
        </a:xfrm>
      </p:grpSpPr>
      <p:pic>
        <p:nvPicPr>
          <p:cNvPr id="4" name="Picture 3" descr="A blue background with curved lines&#10;&#10;AI-generated content may be incorrect.">
            <a:extLst>
              <a:ext uri="{FF2B5EF4-FFF2-40B4-BE49-F238E27FC236}">
                <a16:creationId xmlns:a16="http://schemas.microsoft.com/office/drawing/2014/main" id="{B73DC436-C430-1491-E846-E1D25FC0680F}"/>
              </a:ext>
            </a:extLst>
          </p:cNvPr>
          <p:cNvPicPr>
            <a:picLocks noChangeAspect="1"/>
          </p:cNvPicPr>
          <p:nvPr userDrawn="1"/>
        </p:nvPicPr>
        <p:blipFill>
          <a:blip r:embed="rId2"/>
          <a:stretch>
            <a:fillRect/>
          </a:stretch>
        </p:blipFill>
        <p:spPr>
          <a:xfrm>
            <a:off x="1" y="0"/>
            <a:ext cx="12226183" cy="6858000"/>
          </a:xfrm>
          <a:prstGeom prst="rect">
            <a:avLst/>
          </a:prstGeom>
        </p:spPr>
      </p:pic>
      <p:sp>
        <p:nvSpPr>
          <p:cNvPr id="18" name="Text Placeholder 17"/>
          <p:cNvSpPr>
            <a:spLocks noGrp="1"/>
          </p:cNvSpPr>
          <p:nvPr>
            <p:ph type="body" sz="quarter" idx="11" hasCustomPrompt="1"/>
          </p:nvPr>
        </p:nvSpPr>
        <p:spPr>
          <a:xfrm>
            <a:off x="3630086" y="3705443"/>
            <a:ext cx="4931833" cy="270988"/>
          </a:xfrm>
          <a:prstGeom prst="rect">
            <a:avLst/>
          </a:prstGeom>
        </p:spPr>
        <p:txBody>
          <a:bodyPr lIns="0" tIns="0" rIns="0" bIns="0"/>
          <a:lstStyle>
            <a:lvl1pPr marL="0" indent="0" algn="ctr">
              <a:lnSpc>
                <a:spcPct val="100000"/>
              </a:lnSpc>
              <a:buNone/>
              <a:defRPr sz="1333" b="0" i="0" spc="267" baseline="0">
                <a:solidFill>
                  <a:schemeClr val="tx1"/>
                </a:solidFill>
                <a:latin typeface="Arial" charset="0"/>
                <a:ea typeface="Arial" charset="0"/>
                <a:cs typeface="Arial" charset="0"/>
              </a:defRPr>
            </a:lvl1pPr>
            <a:lvl2pPr marL="37251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2pPr>
            <a:lvl3pPr marL="755612"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3pPr>
            <a:lvl4pPr marL="1130244"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4pPr>
            <a:lvl5pPr marL="144349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5pPr>
          </a:lstStyle>
          <a:p>
            <a:pPr lvl="0"/>
            <a:r>
              <a:rPr lang="en-US" dirty="0"/>
              <a:t>PRESENTATION DATE</a:t>
            </a:r>
          </a:p>
        </p:txBody>
      </p:sp>
      <p:cxnSp>
        <p:nvCxnSpPr>
          <p:cNvPr id="10" name="Straight Connector 9"/>
          <p:cNvCxnSpPr/>
          <p:nvPr userDrawn="1"/>
        </p:nvCxnSpPr>
        <p:spPr>
          <a:xfrm>
            <a:off x="-34183" y="8110409"/>
            <a:ext cx="12260365" cy="0"/>
          </a:xfrm>
          <a:prstGeom prst="line">
            <a:avLst/>
          </a:prstGeom>
          <a:ln w="6350" cap="flat" cmpd="sng" algn="ctr">
            <a:solidFill>
              <a:schemeClr val="accent5">
                <a:alpha val="1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itle 2"/>
          <p:cNvSpPr>
            <a:spLocks noGrp="1"/>
          </p:cNvSpPr>
          <p:nvPr>
            <p:ph type="title" hasCustomPrompt="1"/>
          </p:nvPr>
        </p:nvSpPr>
        <p:spPr>
          <a:xfrm>
            <a:off x="765173" y="2215092"/>
            <a:ext cx="10611576" cy="732869"/>
          </a:xfrm>
          <a:prstGeom prst="rect">
            <a:avLst/>
          </a:prstGeom>
        </p:spPr>
        <p:txBody>
          <a:bodyPr lIns="0" tIns="0" rIns="0" bIns="0" anchor="ctr" anchorCtr="0"/>
          <a:lstStyle>
            <a:lvl1pPr algn="ctr">
              <a:defRPr sz="4800" b="1" i="0">
                <a:solidFill>
                  <a:schemeClr val="bg1"/>
                </a:solidFill>
                <a:latin typeface="Arial" charset="0"/>
                <a:ea typeface="Arial" charset="0"/>
                <a:cs typeface="Arial" charset="0"/>
              </a:defRPr>
            </a:lvl1pPr>
          </a:lstStyle>
          <a:p>
            <a:r>
              <a:rPr lang="en-US" dirty="0"/>
              <a:t>Presentation Title</a:t>
            </a:r>
            <a:endParaRPr lang="en-GB" dirty="0"/>
          </a:p>
        </p:txBody>
      </p:sp>
      <p:sp>
        <p:nvSpPr>
          <p:cNvPr id="6" name="Text Placeholder 5"/>
          <p:cNvSpPr>
            <a:spLocks noGrp="1"/>
          </p:cNvSpPr>
          <p:nvPr>
            <p:ph type="body" sz="quarter" idx="10" hasCustomPrompt="1"/>
          </p:nvPr>
        </p:nvSpPr>
        <p:spPr>
          <a:xfrm>
            <a:off x="765173" y="3093068"/>
            <a:ext cx="10611576" cy="467273"/>
          </a:xfrm>
          <a:prstGeom prst="rect">
            <a:avLst/>
          </a:prstGeom>
        </p:spPr>
        <p:txBody>
          <a:bodyPr lIns="0" tIns="0" rIns="0" bIns="0"/>
          <a:lstStyle>
            <a:lvl1pPr marL="0" indent="0" algn="ctr">
              <a:buNone/>
              <a:defRPr sz="2133" b="1" i="0">
                <a:solidFill>
                  <a:schemeClr val="bg1"/>
                </a:solidFill>
                <a:latin typeface="Arial" charset="0"/>
                <a:ea typeface="Arial" charset="0"/>
                <a:cs typeface="Arial" charset="0"/>
              </a:defRPr>
            </a:lvl1pPr>
            <a:lvl2pPr marL="37251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2pPr>
            <a:lvl3pPr marL="755612"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3pPr>
            <a:lvl4pPr marL="1130244"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4pPr>
            <a:lvl5pPr marL="144349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5pPr>
          </a:lstStyle>
          <a:p>
            <a:pPr lvl="0"/>
            <a:r>
              <a:rPr lang="en-US" dirty="0"/>
              <a:t>Presentation Subtitle</a:t>
            </a:r>
          </a:p>
        </p:txBody>
      </p:sp>
      <p:sp>
        <p:nvSpPr>
          <p:cNvPr id="7" name="Content Placeholder 6">
            <a:extLst>
              <a:ext uri="{FF2B5EF4-FFF2-40B4-BE49-F238E27FC236}">
                <a16:creationId xmlns:a16="http://schemas.microsoft.com/office/drawing/2014/main" id="{5C64F9DD-DE30-C34A-A485-A07A839C3CA1}"/>
              </a:ext>
            </a:extLst>
          </p:cNvPr>
          <p:cNvSpPr>
            <a:spLocks noGrp="1"/>
          </p:cNvSpPr>
          <p:nvPr>
            <p:ph sz="quarter" idx="13" hasCustomPrompt="1"/>
          </p:nvPr>
        </p:nvSpPr>
        <p:spPr>
          <a:xfrm>
            <a:off x="7063317" y="5454985"/>
            <a:ext cx="3510899" cy="683351"/>
          </a:xfrm>
          <a:prstGeom prst="rect">
            <a:avLst/>
          </a:prstGeom>
        </p:spPr>
        <p:txBody>
          <a:bodyPr anchor="ctr"/>
          <a:lstStyle>
            <a:lvl1pPr marL="0" indent="0" algn="ctr">
              <a:buNone/>
              <a:defRPr sz="1867">
                <a:solidFill>
                  <a:schemeClr val="bg1"/>
                </a:solidFill>
                <a:latin typeface="Arial" panose="020B0604020202020204" pitchFamily="34" charset="0"/>
                <a:cs typeface="Arial" panose="020B0604020202020204" pitchFamily="34" charset="0"/>
              </a:defRPr>
            </a:lvl1pPr>
          </a:lstStyle>
          <a:p>
            <a:pPr lvl="0"/>
            <a:r>
              <a:rPr lang="en-US" dirty="0"/>
              <a:t>Insert client logo</a:t>
            </a:r>
          </a:p>
        </p:txBody>
      </p:sp>
      <p:pic>
        <p:nvPicPr>
          <p:cNvPr id="5" name="Picture 4" descr="A black background with white text&#10;&#10;AI-generated content may be incorrect.">
            <a:extLst>
              <a:ext uri="{FF2B5EF4-FFF2-40B4-BE49-F238E27FC236}">
                <a16:creationId xmlns:a16="http://schemas.microsoft.com/office/drawing/2014/main" id="{932B273F-83BA-A2C5-1897-4D85557BA0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82256" y="3560340"/>
            <a:ext cx="3759200" cy="3759200"/>
          </a:xfrm>
          <a:prstGeom prst="rect">
            <a:avLst/>
          </a:prstGeom>
        </p:spPr>
      </p:pic>
    </p:spTree>
    <p:extLst>
      <p:ext uri="{BB962C8B-B14F-4D97-AF65-F5344CB8AC3E}">
        <p14:creationId xmlns:p14="http://schemas.microsoft.com/office/powerpoint/2010/main" val="2657174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 White">
    <p:bg>
      <p:bgPr>
        <a:solidFill>
          <a:srgbClr val="FEFDFF"/>
        </a:solidFill>
        <a:effectLst/>
      </p:bgPr>
    </p:bg>
    <p:spTree>
      <p:nvGrpSpPr>
        <p:cNvPr id="1" name=""/>
        <p:cNvGrpSpPr/>
        <p:nvPr/>
      </p:nvGrpSpPr>
      <p:grpSpPr>
        <a:xfrm>
          <a:off x="0" y="0"/>
          <a:ext cx="0" cy="0"/>
          <a:chOff x="0" y="0"/>
          <a:chExt cx="0" cy="0"/>
        </a:xfrm>
      </p:grpSpPr>
      <p:sp>
        <p:nvSpPr>
          <p:cNvPr id="20" name="Title 1"/>
          <p:cNvSpPr>
            <a:spLocks noGrp="1"/>
          </p:cNvSpPr>
          <p:nvPr>
            <p:ph type="title" hasCustomPrompt="1"/>
          </p:nvPr>
        </p:nvSpPr>
        <p:spPr>
          <a:xfrm>
            <a:off x="685950" y="571697"/>
            <a:ext cx="10807652" cy="440488"/>
          </a:xfrm>
          <a:prstGeom prst="rect">
            <a:avLst/>
          </a:prstGeom>
        </p:spPr>
        <p:txBody>
          <a:bodyPr lIns="0" tIns="0" rIns="0" bIns="0" anchor="ctr" anchorCtr="0"/>
          <a:lstStyle>
            <a:lvl1pPr algn="l">
              <a:lnSpc>
                <a:spcPts val="2667"/>
              </a:lnSpc>
              <a:defRPr sz="2933" b="1" i="0">
                <a:solidFill>
                  <a:schemeClr val="tx1"/>
                </a:solidFill>
                <a:latin typeface="Arial" charset="0"/>
                <a:ea typeface="Arial" charset="0"/>
                <a:cs typeface="Arial" charset="0"/>
              </a:defRPr>
            </a:lvl1pPr>
          </a:lstStyle>
          <a:p>
            <a:r>
              <a:rPr lang="en-US" dirty="0"/>
              <a:t>Slide title</a:t>
            </a:r>
            <a:endParaRPr lang="en-GB" dirty="0"/>
          </a:p>
        </p:txBody>
      </p:sp>
      <p:sp>
        <p:nvSpPr>
          <p:cNvPr id="3" name="Text Placeholder 2">
            <a:extLst>
              <a:ext uri="{FF2B5EF4-FFF2-40B4-BE49-F238E27FC236}">
                <a16:creationId xmlns:a16="http://schemas.microsoft.com/office/drawing/2014/main" id="{36200608-C600-554E-813F-6D4EC02AF493}"/>
              </a:ext>
            </a:extLst>
          </p:cNvPr>
          <p:cNvSpPr>
            <a:spLocks noGrp="1"/>
          </p:cNvSpPr>
          <p:nvPr>
            <p:ph type="body" sz="quarter" idx="10"/>
          </p:nvPr>
        </p:nvSpPr>
        <p:spPr>
          <a:xfrm>
            <a:off x="569070" y="1583269"/>
            <a:ext cx="10807700" cy="2800351"/>
          </a:xfrm>
          <a:prstGeom prst="rect">
            <a:avLst/>
          </a:prstGeom>
        </p:spPr>
        <p:txBody>
          <a:bodyPr/>
          <a:lstStyle>
            <a:lvl1pPr marL="380981" indent="-380981">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1pPr>
            <a:lvl2pPr marL="598988"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2pPr>
            <a:lvl3pPr marL="833926"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3pPr>
            <a:lvl4pPr marL="1077330"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4pPr>
            <a:lvl5pPr marL="1316502"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Box 16">
            <a:extLst>
              <a:ext uri="{FF2B5EF4-FFF2-40B4-BE49-F238E27FC236}">
                <a16:creationId xmlns:a16="http://schemas.microsoft.com/office/drawing/2014/main" id="{C95C8156-3E9F-6D42-BC09-E86831EB4BD7}"/>
              </a:ext>
            </a:extLst>
          </p:cNvPr>
          <p:cNvSpPr txBox="1"/>
          <p:nvPr userDrawn="1"/>
        </p:nvSpPr>
        <p:spPr>
          <a:xfrm>
            <a:off x="11469217" y="6576097"/>
            <a:ext cx="666087" cy="194990"/>
          </a:xfrm>
          <a:prstGeom prst="rect">
            <a:avLst/>
          </a:prstGeom>
          <a:noFill/>
        </p:spPr>
        <p:txBody>
          <a:bodyPr wrap="square" rtlCol="0">
            <a:spAutoFit/>
          </a:bodyPr>
          <a:lstStyle/>
          <a:p>
            <a:pPr algn="r"/>
            <a:fld id="{A99FBE0F-E013-8744-85F1-2202A360EF8A}" type="slidenum">
              <a:rPr lang="en-US" sz="667" b="0" i="0" spc="0" baseline="0" smtClean="0">
                <a:solidFill>
                  <a:schemeClr val="bg1"/>
                </a:solidFill>
                <a:latin typeface="Arial" charset="0"/>
                <a:ea typeface="Arial" charset="0"/>
                <a:cs typeface="Arial" charset="0"/>
              </a:rPr>
              <a:pPr algn="r"/>
              <a:t>‹#›</a:t>
            </a:fld>
            <a:endParaRPr lang="en-US" sz="667" b="0" i="0" spc="0" baseline="0" dirty="0">
              <a:solidFill>
                <a:schemeClr val="bg1"/>
              </a:solidFill>
              <a:latin typeface="Arial" charset="0"/>
              <a:ea typeface="Arial" charset="0"/>
              <a:cs typeface="Arial" charset="0"/>
            </a:endParaRPr>
          </a:p>
        </p:txBody>
      </p:sp>
      <p:pic>
        <p:nvPicPr>
          <p:cNvPr id="6" name="Picture 5">
            <a:extLst>
              <a:ext uri="{FF2B5EF4-FFF2-40B4-BE49-F238E27FC236}">
                <a16:creationId xmlns:a16="http://schemas.microsoft.com/office/drawing/2014/main" id="{EA1BCDDE-4B2D-D9CB-1B80-F64BBF7AB9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58997"/>
            <a:ext cx="419279" cy="358907"/>
          </a:xfrm>
          <a:prstGeom prst="rect">
            <a:avLst/>
          </a:prstGeom>
        </p:spPr>
      </p:pic>
      <p:grpSp>
        <p:nvGrpSpPr>
          <p:cNvPr id="9" name="Group 8">
            <a:extLst>
              <a:ext uri="{FF2B5EF4-FFF2-40B4-BE49-F238E27FC236}">
                <a16:creationId xmlns:a16="http://schemas.microsoft.com/office/drawing/2014/main" id="{B80FCFB7-345B-5532-901F-FB3C2AA30452}"/>
              </a:ext>
            </a:extLst>
          </p:cNvPr>
          <p:cNvGrpSpPr/>
          <p:nvPr userDrawn="1"/>
        </p:nvGrpSpPr>
        <p:grpSpPr>
          <a:xfrm>
            <a:off x="-56699" y="6286303"/>
            <a:ext cx="12248699" cy="582884"/>
            <a:chOff x="-42524" y="4714727"/>
            <a:chExt cx="9186524" cy="437163"/>
          </a:xfrm>
        </p:grpSpPr>
        <p:pic>
          <p:nvPicPr>
            <p:cNvPr id="10" name="Picture 9">
              <a:extLst>
                <a:ext uri="{FF2B5EF4-FFF2-40B4-BE49-F238E27FC236}">
                  <a16:creationId xmlns:a16="http://schemas.microsoft.com/office/drawing/2014/main" id="{FAD3E70E-8207-1DD9-A0BA-C9B76DADC2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524" y="4714727"/>
              <a:ext cx="9186524" cy="437163"/>
            </a:xfrm>
            <a:prstGeom prst="rect">
              <a:avLst/>
            </a:prstGeom>
          </p:spPr>
        </p:pic>
        <p:grpSp>
          <p:nvGrpSpPr>
            <p:cNvPr id="11" name="Group 10">
              <a:extLst>
                <a:ext uri="{FF2B5EF4-FFF2-40B4-BE49-F238E27FC236}">
                  <a16:creationId xmlns:a16="http://schemas.microsoft.com/office/drawing/2014/main" id="{57882186-B640-AD70-6515-3EE323ECF299}"/>
                </a:ext>
              </a:extLst>
            </p:cNvPr>
            <p:cNvGrpSpPr/>
            <p:nvPr userDrawn="1"/>
          </p:nvGrpSpPr>
          <p:grpSpPr>
            <a:xfrm>
              <a:off x="157229" y="4832170"/>
              <a:ext cx="1798358" cy="269180"/>
              <a:chOff x="314460" y="4647384"/>
              <a:chExt cx="2355272" cy="359852"/>
            </a:xfrm>
          </p:grpSpPr>
          <p:pic>
            <p:nvPicPr>
              <p:cNvPr id="12" name="Picture 11" descr="A black background with white text&#10;&#10;AI-generated content may be incorrect.">
                <a:extLst>
                  <a:ext uri="{FF2B5EF4-FFF2-40B4-BE49-F238E27FC236}">
                    <a16:creationId xmlns:a16="http://schemas.microsoft.com/office/drawing/2014/main" id="{14B8BAAB-1A0E-E7F6-9140-98409B12FFEE}"/>
                  </a:ext>
                </a:extLst>
              </p:cNvPr>
              <p:cNvPicPr>
                <a:picLocks noChangeAspect="1"/>
              </p:cNvPicPr>
              <p:nvPr userDrawn="1"/>
            </p:nvPicPr>
            <p:blipFill>
              <a:blip r:embed="rId4">
                <a:extLst>
                  <a:ext uri="{28A0092B-C50C-407E-A947-70E740481C1C}">
                    <a14:useLocalDpi xmlns:a14="http://schemas.microsoft.com/office/drawing/2010/main" val="0"/>
                  </a:ext>
                </a:extLst>
              </a:blip>
              <a:srcRect l="22043" t="31741" r="22676" b="46337"/>
              <a:stretch/>
            </p:blipFill>
            <p:spPr>
              <a:xfrm>
                <a:off x="314460" y="4647384"/>
                <a:ext cx="907472" cy="359852"/>
              </a:xfrm>
              <a:prstGeom prst="rect">
                <a:avLst/>
              </a:prstGeom>
            </p:spPr>
          </p:pic>
          <p:pic>
            <p:nvPicPr>
              <p:cNvPr id="13" name="Picture 12" descr="A black background with white text&#10;&#10;AI-generated content may be incorrect.">
                <a:extLst>
                  <a:ext uri="{FF2B5EF4-FFF2-40B4-BE49-F238E27FC236}">
                    <a16:creationId xmlns:a16="http://schemas.microsoft.com/office/drawing/2014/main" id="{7C5C02F2-245D-A75B-547C-7883F417D6DC}"/>
                  </a:ext>
                </a:extLst>
              </p:cNvPr>
              <p:cNvPicPr>
                <a:picLocks noChangeAspect="1"/>
              </p:cNvPicPr>
              <p:nvPr userDrawn="1"/>
            </p:nvPicPr>
            <p:blipFill>
              <a:blip r:embed="rId5">
                <a:extLst>
                  <a:ext uri="{28A0092B-C50C-407E-A947-70E740481C1C}">
                    <a14:useLocalDpi xmlns:a14="http://schemas.microsoft.com/office/drawing/2010/main" val="0"/>
                  </a:ext>
                </a:extLst>
              </a:blip>
              <a:srcRect l="25307" t="53939" r="23341" b="35665"/>
              <a:stretch/>
            </p:blipFill>
            <p:spPr>
              <a:xfrm>
                <a:off x="1221932" y="4714151"/>
                <a:ext cx="1447800" cy="293085"/>
              </a:xfrm>
              <a:prstGeom prst="rect">
                <a:avLst/>
              </a:prstGeom>
            </p:spPr>
          </p:pic>
        </p:grpSp>
      </p:grpSp>
    </p:spTree>
    <p:extLst>
      <p:ext uri="{BB962C8B-B14F-4D97-AF65-F5344CB8AC3E}">
        <p14:creationId xmlns:p14="http://schemas.microsoft.com/office/powerpoint/2010/main" val="3733094932"/>
      </p:ext>
    </p:extLst>
  </p:cSld>
  <p:clrMapOvr>
    <a:masterClrMapping/>
  </p:clrMapOvr>
  <p:extLst>
    <p:ext uri="{DCECCB84-F9BA-43D5-87BE-67443E8EF086}">
      <p15:sldGuideLst xmlns:p15="http://schemas.microsoft.com/office/powerpoint/2012/main">
        <p15:guide id="1" pos="1474">
          <p15:clr>
            <a:srgbClr val="FBAE40"/>
          </p15:clr>
        </p15:guide>
        <p15:guide id="2" pos="31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DB77E5-BDF2-0A62-B96A-CC7A869C0F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6F8D38-5E6D-E7D6-1C89-DFA098605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5F8B2C-1348-140D-09BA-03028FDB2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3C5456-DEA4-450F-B003-4698857AEAC7}" type="datetimeFigureOut">
              <a:rPr lang="en-IN" smtClean="0"/>
              <a:t>13-10-2025</a:t>
            </a:fld>
            <a:endParaRPr lang="en-IN"/>
          </a:p>
        </p:txBody>
      </p:sp>
      <p:sp>
        <p:nvSpPr>
          <p:cNvPr id="5" name="Footer Placeholder 4">
            <a:extLst>
              <a:ext uri="{FF2B5EF4-FFF2-40B4-BE49-F238E27FC236}">
                <a16:creationId xmlns:a16="http://schemas.microsoft.com/office/drawing/2014/main" id="{2516DD99-618A-39CF-0E56-FD7436F69B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470F1D4-F2BC-93EE-6F5F-8DBE2F99B6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A8EA7-6411-413E-927B-EBB15C26C6EB}" type="slidenum">
              <a:rPr lang="en-IN" smtClean="0"/>
              <a:t>‹#›</a:t>
            </a:fld>
            <a:endParaRPr lang="en-IN"/>
          </a:p>
        </p:txBody>
      </p:sp>
    </p:spTree>
    <p:extLst>
      <p:ext uri="{BB962C8B-B14F-4D97-AF65-F5344CB8AC3E}">
        <p14:creationId xmlns:p14="http://schemas.microsoft.com/office/powerpoint/2010/main" val="3999040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hyperlink" Target="https://www.w3schools.com/git/git_workflow.asp?remote=github#undo" TargetMode="External"/><Relationship Id="rId3" Type="http://schemas.openxmlformats.org/officeDocument/2006/relationships/hyperlink" Target="https://www.w3schools.com/git/git_workflow.asp?remote=github#working-directory" TargetMode="External"/><Relationship Id="rId7" Type="http://schemas.openxmlformats.org/officeDocument/2006/relationships/hyperlink" Target="https://www.w3schools.com/git/git_workflow.asp?remote=github#git-status"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hyperlink" Target="https://www.w3schools.com/git/git_workflow.asp?remote=github#git-push" TargetMode="External"/><Relationship Id="rId5" Type="http://schemas.openxmlformats.org/officeDocument/2006/relationships/hyperlink" Target="https://www.w3schools.com/git/git_workflow.asp?remote=github#git-commit" TargetMode="External"/><Relationship Id="rId4" Type="http://schemas.openxmlformats.org/officeDocument/2006/relationships/hyperlink" Target="https://www.w3schools.com/git/git_workflow.asp?remote=github#git-ad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What is Git &amp; why it’s important</a:t>
            </a:r>
          </a:p>
        </p:txBody>
      </p:sp>
    </p:spTree>
    <p:extLst>
      <p:ext uri="{BB962C8B-B14F-4D97-AF65-F5344CB8AC3E}">
        <p14:creationId xmlns:p14="http://schemas.microsoft.com/office/powerpoint/2010/main" val="254516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340234"/>
            <a:ext cx="10573667" cy="1243930"/>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Git is a distributed version control system used to track changes in source code. It allows developers to collaborate efficiently, maintaining a full history of all changes. Git supports branching and merging, enabling multiple features or experiments to be developed in parallel. Every developer has a full copy of the repository, making it resilient and reliable.</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is Git?</a:t>
            </a:r>
          </a:p>
        </p:txBody>
      </p:sp>
      <p:sp>
        <p:nvSpPr>
          <p:cNvPr id="2" name="Title 1">
            <a:extLst>
              <a:ext uri="{FF2B5EF4-FFF2-40B4-BE49-F238E27FC236}">
                <a16:creationId xmlns:a16="http://schemas.microsoft.com/office/drawing/2014/main" id="{F4B98C0A-D206-BFA4-A1B2-217B185E2422}"/>
              </a:ext>
            </a:extLst>
          </p:cNvPr>
          <p:cNvSpPr txBox="1">
            <a:spLocks/>
          </p:cNvSpPr>
          <p:nvPr/>
        </p:nvSpPr>
        <p:spPr>
          <a:xfrm>
            <a:off x="692174" y="2920526"/>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Key Features of Git</a:t>
            </a:r>
          </a:p>
        </p:txBody>
      </p:sp>
      <p:sp>
        <p:nvSpPr>
          <p:cNvPr id="3" name="object 5">
            <a:extLst>
              <a:ext uri="{FF2B5EF4-FFF2-40B4-BE49-F238E27FC236}">
                <a16:creationId xmlns:a16="http://schemas.microsoft.com/office/drawing/2014/main" id="{F2A5C08E-1350-B7BD-4936-5A53C5A0B846}"/>
              </a:ext>
            </a:extLst>
          </p:cNvPr>
          <p:cNvSpPr txBox="1"/>
          <p:nvPr/>
        </p:nvSpPr>
        <p:spPr>
          <a:xfrm>
            <a:off x="692174" y="3697376"/>
            <a:ext cx="10573667" cy="1551707"/>
          </a:xfrm>
          <a:prstGeom prst="rect">
            <a:avLst/>
          </a:prstGeom>
        </p:spPr>
        <p:txBody>
          <a:bodyPr vert="horz" wrap="square" lIns="0" tIns="12700" rIns="0" bIns="0" rtlCol="0">
            <a:spAutoFit/>
          </a:bodyPr>
          <a:lstStyle/>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Version Tracking: </a:t>
            </a:r>
            <a:r>
              <a:rPr lang="en-US" sz="2000" dirty="0">
                <a:latin typeface="Times New Roman" panose="02020603050405020304" pitchFamily="18" charset="0"/>
                <a:cs typeface="Times New Roman" panose="02020603050405020304" pitchFamily="18" charset="0"/>
              </a:rPr>
              <a:t>Every change is recorded and can be reverted if needed.</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Branching &amp; Merging: </a:t>
            </a:r>
            <a:r>
              <a:rPr lang="en-US" sz="2000" dirty="0">
                <a:latin typeface="Times New Roman" panose="02020603050405020304" pitchFamily="18" charset="0"/>
                <a:cs typeface="Times New Roman" panose="02020603050405020304" pitchFamily="18" charset="0"/>
              </a:rPr>
              <a:t>Safe experimentation without affecting the main codebase.</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Collaboration: </a:t>
            </a:r>
            <a:r>
              <a:rPr lang="en-US" sz="2000" dirty="0">
                <a:latin typeface="Times New Roman" panose="02020603050405020304" pitchFamily="18" charset="0"/>
                <a:cs typeface="Times New Roman" panose="02020603050405020304" pitchFamily="18" charset="0"/>
              </a:rPr>
              <a:t>Multiple developers can work simultaneously without conflicts.</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Distributed System: </a:t>
            </a:r>
            <a:r>
              <a:rPr lang="en-US" sz="2000" dirty="0">
                <a:latin typeface="Times New Roman" panose="02020603050405020304" pitchFamily="18" charset="0"/>
                <a:cs typeface="Times New Roman" panose="02020603050405020304" pitchFamily="18" charset="0"/>
              </a:rPr>
              <a:t>Local copies allow offline work and reduce dependency on a central server.</a:t>
            </a:r>
          </a:p>
          <a:p>
            <a:pPr marL="342900" indent="-342900">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History &amp; Accountability: </a:t>
            </a:r>
            <a:r>
              <a:rPr lang="en-US" sz="2000" dirty="0">
                <a:latin typeface="Times New Roman" panose="02020603050405020304" pitchFamily="18" charset="0"/>
                <a:cs typeface="Times New Roman" panose="02020603050405020304" pitchFamily="18" charset="0"/>
              </a:rPr>
              <a:t>Maintains a detailed log of who made changes and why.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308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E1F1-A5EE-C3C0-0141-88C04481D0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F7A09B4-C42E-A205-F592-E00321738FA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Why Git is Important?</a:t>
            </a:r>
          </a:p>
        </p:txBody>
      </p:sp>
      <p:sp>
        <p:nvSpPr>
          <p:cNvPr id="3" name="object 5">
            <a:extLst>
              <a:ext uri="{FF2B5EF4-FFF2-40B4-BE49-F238E27FC236}">
                <a16:creationId xmlns:a16="http://schemas.microsoft.com/office/drawing/2014/main" id="{9781890D-7BBC-759A-5AD8-7090E43814F8}"/>
              </a:ext>
            </a:extLst>
          </p:cNvPr>
          <p:cNvSpPr txBox="1"/>
          <p:nvPr/>
        </p:nvSpPr>
        <p:spPr>
          <a:xfrm>
            <a:off x="504305" y="1455615"/>
            <a:ext cx="10515688" cy="3189143"/>
          </a:xfrm>
          <a:prstGeom prst="rect">
            <a:avLst/>
          </a:prstGeom>
        </p:spPr>
        <p:txBody>
          <a:bodyPr vert="horz" wrap="square" lIns="0" tIns="12700" rIns="0" bIns="0" rtlCol="0">
            <a:spAutoFit/>
          </a:bodyPr>
          <a:lstStyle/>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Collaboration: </a:t>
            </a:r>
            <a:r>
              <a:rPr lang="en-US" sz="2000" dirty="0">
                <a:latin typeface="Times New Roman" panose="02020603050405020304" pitchFamily="18" charset="0"/>
                <a:cs typeface="Times New Roman" panose="02020603050405020304" pitchFamily="18" charset="0"/>
              </a:rPr>
              <a:t>Essential for team projects, allowing multiple developers to work together seamlessly.</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Backup &amp; Recovery: </a:t>
            </a:r>
            <a:r>
              <a:rPr lang="en-US" sz="2000" dirty="0">
                <a:latin typeface="Times New Roman" panose="02020603050405020304" pitchFamily="18" charset="0"/>
                <a:cs typeface="Times New Roman" panose="02020603050405020304" pitchFamily="18" charset="0"/>
              </a:rPr>
              <a:t>Complete history allows rollback to previous versions in case of mistakes.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Code Quality &amp; Integrity: </a:t>
            </a:r>
            <a:r>
              <a:rPr lang="en-US" sz="2000" dirty="0">
                <a:latin typeface="Times New Roman" panose="02020603050405020304" pitchFamily="18" charset="0"/>
                <a:cs typeface="Times New Roman" panose="02020603050405020304" pitchFamily="18" charset="0"/>
              </a:rPr>
              <a:t>Tracks changes and helps enforce code reviews.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Efficiency: </a:t>
            </a:r>
            <a:r>
              <a:rPr lang="en-US" sz="2000" dirty="0">
                <a:latin typeface="Times New Roman" panose="02020603050405020304" pitchFamily="18" charset="0"/>
                <a:cs typeface="Times New Roman" panose="02020603050405020304" pitchFamily="18" charset="0"/>
              </a:rPr>
              <a:t>Branching and merging reduce development conflicts and streamline workflows.</a:t>
            </a:r>
          </a:p>
          <a:p>
            <a:pPr marL="342900" indent="-342900">
              <a:lnSpc>
                <a:spcPct val="150000"/>
              </a:lnSpc>
              <a:buFont typeface="Wingdings" panose="05000000000000000000" pitchFamily="2" charset="2"/>
              <a:buChar char="§"/>
              <a:defRPr sz="1800"/>
            </a:pPr>
            <a:r>
              <a:rPr lang="en-US" sz="2000" b="1" dirty="0">
                <a:solidFill>
                  <a:srgbClr val="0066CC"/>
                </a:solidFill>
                <a:latin typeface="Times New Roman" panose="02020603050405020304" pitchFamily="18" charset="0"/>
                <a:cs typeface="Times New Roman" panose="02020603050405020304" pitchFamily="18" charset="0"/>
              </a:rPr>
              <a:t>Integration: </a:t>
            </a:r>
            <a:r>
              <a:rPr lang="en-US" sz="2000" dirty="0">
                <a:latin typeface="Times New Roman" panose="02020603050405020304" pitchFamily="18" charset="0"/>
                <a:cs typeface="Times New Roman" panose="02020603050405020304" pitchFamily="18" charset="0"/>
              </a:rPr>
              <a:t>Works with platforms like GitHub, GitLab, and Bitbucket for CI/CD, issue tracking, and project management.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234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A2DCD-30C2-E7BB-823F-C7E13AB30E4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B784F0-1853-F7E5-F18B-CE8A0CBAB49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Git in Real-World Use</a:t>
            </a:r>
          </a:p>
        </p:txBody>
      </p:sp>
      <p:sp>
        <p:nvSpPr>
          <p:cNvPr id="3" name="object 5">
            <a:extLst>
              <a:ext uri="{FF2B5EF4-FFF2-40B4-BE49-F238E27FC236}">
                <a16:creationId xmlns:a16="http://schemas.microsoft.com/office/drawing/2014/main" id="{1B53A7FA-5D41-AB13-99D7-8D3B4E0B010F}"/>
              </a:ext>
            </a:extLst>
          </p:cNvPr>
          <p:cNvSpPr txBox="1"/>
          <p:nvPr/>
        </p:nvSpPr>
        <p:spPr>
          <a:xfrm>
            <a:off x="692174" y="1195149"/>
            <a:ext cx="10515688" cy="4784708"/>
          </a:xfrm>
          <a:prstGeom prst="rect">
            <a:avLst/>
          </a:prstGeom>
        </p:spPr>
        <p:txBody>
          <a:bodyPr vert="horz" wrap="square" lIns="0" tIns="12700" rIns="0" bIns="0" rtlCol="0">
            <a:spAutoFit/>
          </a:bodyPr>
          <a:lstStyle/>
          <a:p>
            <a:pPr marL="342900" indent="-342900">
              <a:lnSpc>
                <a:spcPct val="150000"/>
              </a:lnSpc>
              <a:buFont typeface="Wingdings" panose="05000000000000000000" pitchFamily="2" charset="2"/>
              <a:buChar char="§"/>
              <a:defRPr sz="1800"/>
            </a:pPr>
            <a:r>
              <a:rPr lang="en-US" sz="1900" b="1" dirty="0">
                <a:solidFill>
                  <a:srgbClr val="0066CC"/>
                </a:solidFill>
                <a:latin typeface="Times New Roman" panose="02020603050405020304" pitchFamily="18" charset="0"/>
                <a:cs typeface="Times New Roman" panose="02020603050405020304" pitchFamily="18" charset="0"/>
              </a:rPr>
              <a:t>Open-Source Projects: </a:t>
            </a:r>
            <a:r>
              <a:rPr lang="en-US" sz="1900" dirty="0">
                <a:latin typeface="Times New Roman" panose="02020603050405020304" pitchFamily="18" charset="0"/>
                <a:cs typeface="Times New Roman" panose="02020603050405020304" pitchFamily="18" charset="0"/>
              </a:rPr>
              <a:t>Used in projects like Linux, Python, and React for version control and collaboration.</a:t>
            </a:r>
          </a:p>
          <a:p>
            <a:pPr marL="342900" indent="-342900">
              <a:lnSpc>
                <a:spcPct val="150000"/>
              </a:lnSpc>
              <a:buFont typeface="Wingdings" panose="05000000000000000000" pitchFamily="2" charset="2"/>
              <a:buChar char="§"/>
              <a:defRPr sz="1800"/>
            </a:pPr>
            <a:r>
              <a:rPr lang="en-US" sz="1900" b="1" dirty="0">
                <a:solidFill>
                  <a:srgbClr val="0066CC"/>
                </a:solidFill>
                <a:latin typeface="Times New Roman" panose="02020603050405020304" pitchFamily="18" charset="0"/>
                <a:cs typeface="Times New Roman" panose="02020603050405020304" pitchFamily="18" charset="0"/>
              </a:rPr>
              <a:t>Team Collaboration: </a:t>
            </a:r>
            <a:r>
              <a:rPr lang="en-US" sz="1900" dirty="0">
                <a:latin typeface="Times New Roman" panose="02020603050405020304" pitchFamily="18" charset="0"/>
                <a:cs typeface="Times New Roman" panose="02020603050405020304" pitchFamily="18" charset="0"/>
              </a:rPr>
              <a:t>Allows multiple developers to work on the same project simultaneously without conflicts.</a:t>
            </a:r>
          </a:p>
          <a:p>
            <a:pPr marL="342900" indent="-342900">
              <a:lnSpc>
                <a:spcPct val="150000"/>
              </a:lnSpc>
              <a:buFont typeface="Wingdings" panose="05000000000000000000" pitchFamily="2" charset="2"/>
              <a:buChar char="§"/>
              <a:defRPr sz="1800"/>
            </a:pPr>
            <a:r>
              <a:rPr lang="en-US" sz="1900" b="1" dirty="0">
                <a:solidFill>
                  <a:srgbClr val="0066CC"/>
                </a:solidFill>
                <a:latin typeface="Times New Roman" panose="02020603050405020304" pitchFamily="18" charset="0"/>
                <a:cs typeface="Times New Roman" panose="02020603050405020304" pitchFamily="18" charset="0"/>
              </a:rPr>
              <a:t>Continuous Integration &amp; Deployment (CI/CD): </a:t>
            </a:r>
            <a:r>
              <a:rPr lang="en-US" sz="1900" dirty="0">
                <a:latin typeface="Times New Roman" panose="02020603050405020304" pitchFamily="18" charset="0"/>
                <a:cs typeface="Times New Roman" panose="02020603050405020304" pitchFamily="18" charset="0"/>
              </a:rPr>
              <a:t>Integrates with pipelines to automate testing, building, and deployment.</a:t>
            </a:r>
          </a:p>
          <a:p>
            <a:pPr marL="342900" indent="-342900">
              <a:lnSpc>
                <a:spcPct val="150000"/>
              </a:lnSpc>
              <a:buFont typeface="Wingdings" panose="05000000000000000000" pitchFamily="2" charset="2"/>
              <a:buChar char="§"/>
              <a:defRPr sz="1800"/>
            </a:pPr>
            <a:r>
              <a:rPr lang="en-US" sz="1900" b="1" dirty="0">
                <a:solidFill>
                  <a:srgbClr val="0066CC"/>
                </a:solidFill>
                <a:latin typeface="Times New Roman" panose="02020603050405020304" pitchFamily="18" charset="0"/>
                <a:cs typeface="Times New Roman" panose="02020603050405020304" pitchFamily="18" charset="0"/>
              </a:rPr>
              <a:t>Code Review &amp; Quality Control: </a:t>
            </a:r>
            <a:r>
              <a:rPr lang="en-US" sz="1900" dirty="0">
                <a:latin typeface="Times New Roman" panose="02020603050405020304" pitchFamily="18" charset="0"/>
                <a:cs typeface="Times New Roman" panose="02020603050405020304" pitchFamily="18" charset="0"/>
              </a:rPr>
              <a:t>Supports pull requests and reviews to maintain high code quality.</a:t>
            </a:r>
          </a:p>
          <a:p>
            <a:pPr marL="342900" indent="-342900">
              <a:lnSpc>
                <a:spcPct val="150000"/>
              </a:lnSpc>
              <a:buFont typeface="Wingdings" panose="05000000000000000000" pitchFamily="2" charset="2"/>
              <a:buChar char="§"/>
              <a:defRPr sz="1800"/>
            </a:pPr>
            <a:r>
              <a:rPr lang="en-US" sz="1900" b="1" dirty="0">
                <a:solidFill>
                  <a:srgbClr val="0066CC"/>
                </a:solidFill>
                <a:latin typeface="Times New Roman" panose="02020603050405020304" pitchFamily="18" charset="0"/>
                <a:cs typeface="Times New Roman" panose="02020603050405020304" pitchFamily="18" charset="0"/>
              </a:rPr>
              <a:t>Backup &amp; Recovery: </a:t>
            </a:r>
            <a:r>
              <a:rPr lang="en-US" sz="1900" dirty="0">
                <a:latin typeface="Times New Roman" panose="02020603050405020304" pitchFamily="18" charset="0"/>
                <a:cs typeface="Times New Roman" panose="02020603050405020304" pitchFamily="18" charset="0"/>
              </a:rPr>
              <a:t>Full history of code allows rollback to previous versions in case of mistakes.</a:t>
            </a:r>
          </a:p>
          <a:p>
            <a:pPr marL="342900" indent="-342900">
              <a:lnSpc>
                <a:spcPct val="150000"/>
              </a:lnSpc>
              <a:buFont typeface="Wingdings" panose="05000000000000000000" pitchFamily="2" charset="2"/>
              <a:buChar char="§"/>
              <a:defRPr sz="1800"/>
            </a:pPr>
            <a:r>
              <a:rPr lang="en-US" sz="1900" b="1" dirty="0">
                <a:solidFill>
                  <a:srgbClr val="0066CC"/>
                </a:solidFill>
                <a:latin typeface="Times New Roman" panose="02020603050405020304" pitchFamily="18" charset="0"/>
                <a:cs typeface="Times New Roman" panose="02020603050405020304" pitchFamily="18" charset="0"/>
              </a:rPr>
              <a:t>Project Management Integration: </a:t>
            </a:r>
            <a:r>
              <a:rPr lang="en-US" sz="1900" dirty="0">
                <a:latin typeface="Times New Roman" panose="02020603050405020304" pitchFamily="18" charset="0"/>
                <a:cs typeface="Times New Roman" panose="02020603050405020304" pitchFamily="18" charset="0"/>
              </a:rPr>
              <a:t>Works with GitHub, GitLab, and Bitbucket for issue tracking and task management.</a:t>
            </a:r>
          </a:p>
          <a:p>
            <a:pPr marL="342900" indent="-342900">
              <a:lnSpc>
                <a:spcPct val="150000"/>
              </a:lnSpc>
              <a:buFont typeface="Wingdings" panose="05000000000000000000" pitchFamily="2" charset="2"/>
              <a:buChar char="§"/>
              <a:defRPr sz="1800"/>
            </a:pPr>
            <a:r>
              <a:rPr lang="en-US" sz="1900" b="1" dirty="0">
                <a:solidFill>
                  <a:srgbClr val="0066CC"/>
                </a:solidFill>
                <a:latin typeface="Times New Roman" panose="02020603050405020304" pitchFamily="18" charset="0"/>
                <a:cs typeface="Times New Roman" panose="02020603050405020304" pitchFamily="18" charset="0"/>
              </a:rPr>
              <a:t>Scalability: </a:t>
            </a:r>
            <a:r>
              <a:rPr lang="en-US" sz="1900" dirty="0">
                <a:latin typeface="Times New Roman" panose="02020603050405020304" pitchFamily="18" charset="0"/>
                <a:cs typeface="Times New Roman" panose="02020603050405020304" pitchFamily="18" charset="0"/>
              </a:rPr>
              <a:t>Handles small projects as well as large-scale enterprise applications efficiently.</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73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Basic Git workflow</a:t>
            </a:r>
          </a:p>
        </p:txBody>
      </p:sp>
    </p:spTree>
    <p:extLst>
      <p:ext uri="{BB962C8B-B14F-4D97-AF65-F5344CB8AC3E}">
        <p14:creationId xmlns:p14="http://schemas.microsoft.com/office/powerpoint/2010/main" val="1500132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340234"/>
            <a:ext cx="10573667" cy="936154"/>
          </a:xfrm>
          <a:prstGeom prst="rect">
            <a:avLst/>
          </a:prstGeom>
        </p:spPr>
        <p:txBody>
          <a:bodyPr vert="horz" wrap="square" lIns="0" tIns="12700" rIns="0" bIns="0" rtlCol="0">
            <a:spAutoFit/>
          </a:bodyPr>
          <a:lstStyle/>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The Git workflow defines the standard process developers follow to manage changes in a project.</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Understanding the workflow ensures organized, trackable, and safe development. </a:t>
            </a:r>
          </a:p>
          <a:p>
            <a:pPr marL="342900" indent="-342900">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Core steps include initializing a repository, staging changes, committing, and checking the status.</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Basic Git Workflow</a:t>
            </a:r>
          </a:p>
        </p:txBody>
      </p:sp>
      <p:sp>
        <p:nvSpPr>
          <p:cNvPr id="2" name="Title 1">
            <a:extLst>
              <a:ext uri="{FF2B5EF4-FFF2-40B4-BE49-F238E27FC236}">
                <a16:creationId xmlns:a16="http://schemas.microsoft.com/office/drawing/2014/main" id="{F4B98C0A-D206-BFA4-A1B2-217B185E2422}"/>
              </a:ext>
            </a:extLst>
          </p:cNvPr>
          <p:cNvSpPr txBox="1">
            <a:spLocks/>
          </p:cNvSpPr>
          <p:nvPr/>
        </p:nvSpPr>
        <p:spPr>
          <a:xfrm>
            <a:off x="692174" y="2920526"/>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Git Workflow Commands</a:t>
            </a:r>
          </a:p>
        </p:txBody>
      </p:sp>
      <p:sp>
        <p:nvSpPr>
          <p:cNvPr id="3" name="object 5">
            <a:extLst>
              <a:ext uri="{FF2B5EF4-FFF2-40B4-BE49-F238E27FC236}">
                <a16:creationId xmlns:a16="http://schemas.microsoft.com/office/drawing/2014/main" id="{F2A5C08E-1350-B7BD-4936-5A53C5A0B846}"/>
              </a:ext>
            </a:extLst>
          </p:cNvPr>
          <p:cNvSpPr txBox="1"/>
          <p:nvPr/>
        </p:nvSpPr>
        <p:spPr>
          <a:xfrm>
            <a:off x="692174" y="3697376"/>
            <a:ext cx="10573667" cy="1674817"/>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3"/>
              </a:rPr>
              <a:t>Working Directory</a:t>
            </a:r>
            <a:r>
              <a:rPr lang="en-US" dirty="0">
                <a:latin typeface="Times New Roman" panose="02020603050405020304" pitchFamily="18" charset="0"/>
                <a:cs typeface="Times New Roman" panose="02020603050405020304" pitchFamily="18" charset="0"/>
              </a:rPr>
              <a:t> - Where you make changes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4"/>
              </a:rPr>
              <a:t>git add</a:t>
            </a:r>
            <a:r>
              <a:rPr lang="en-US" dirty="0">
                <a:latin typeface="Times New Roman" panose="02020603050405020304" pitchFamily="18" charset="0"/>
                <a:cs typeface="Times New Roman" panose="02020603050405020304" pitchFamily="18" charset="0"/>
              </a:rPr>
              <a:t> - Stage changes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5"/>
              </a:rPr>
              <a:t>git commit</a:t>
            </a:r>
            <a:r>
              <a:rPr lang="en-US" dirty="0">
                <a:latin typeface="Times New Roman" panose="02020603050405020304" pitchFamily="18" charset="0"/>
                <a:cs typeface="Times New Roman" panose="02020603050405020304" pitchFamily="18" charset="0"/>
              </a:rPr>
              <a:t> - Save changes to your repository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6"/>
              </a:rPr>
              <a:t>git push</a:t>
            </a:r>
            <a:r>
              <a:rPr lang="en-US" dirty="0">
                <a:latin typeface="Times New Roman" panose="02020603050405020304" pitchFamily="18" charset="0"/>
                <a:cs typeface="Times New Roman" panose="02020603050405020304" pitchFamily="18" charset="0"/>
              </a:rPr>
              <a:t> - Share changes with others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7"/>
              </a:rPr>
              <a:t>git status</a:t>
            </a:r>
            <a:r>
              <a:rPr lang="en-US" dirty="0">
                <a:latin typeface="Times New Roman" panose="02020603050405020304" pitchFamily="18" charset="0"/>
                <a:cs typeface="Times New Roman" panose="02020603050405020304" pitchFamily="18" charset="0"/>
              </a:rPr>
              <a:t> - Check what's going 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8"/>
              </a:rPr>
              <a:t>Undo/Amend</a:t>
            </a:r>
            <a:r>
              <a:rPr lang="en-US" dirty="0">
                <a:latin typeface="Times New Roman" panose="02020603050405020304" pitchFamily="18" charset="0"/>
                <a:cs typeface="Times New Roman" panose="02020603050405020304" pitchFamily="18" charset="0"/>
              </a:rPr>
              <a:t> - Fix mistakes (git restore, git reset, git commit --amend)</a:t>
            </a:r>
          </a:p>
        </p:txBody>
      </p:sp>
    </p:spTree>
    <p:extLst>
      <p:ext uri="{BB962C8B-B14F-4D97-AF65-F5344CB8AC3E}">
        <p14:creationId xmlns:p14="http://schemas.microsoft.com/office/powerpoint/2010/main" val="2042814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E1F1-A5EE-C3C0-0141-88C04481D0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F7A09B4-C42E-A205-F592-E00321738FA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a:t>
            </a:r>
            <a:r>
              <a:rPr lang="en-US" altLang="en-US" sz="2800" dirty="0" err="1">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init</a:t>
            </a:r>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initialize repo.</a:t>
            </a:r>
          </a:p>
        </p:txBody>
      </p:sp>
      <p:sp>
        <p:nvSpPr>
          <p:cNvPr id="3" name="object 5">
            <a:extLst>
              <a:ext uri="{FF2B5EF4-FFF2-40B4-BE49-F238E27FC236}">
                <a16:creationId xmlns:a16="http://schemas.microsoft.com/office/drawing/2014/main" id="{9781890D-7BBC-759A-5AD8-7090E43814F8}"/>
              </a:ext>
            </a:extLst>
          </p:cNvPr>
          <p:cNvSpPr txBox="1"/>
          <p:nvPr/>
        </p:nvSpPr>
        <p:spPr>
          <a:xfrm>
            <a:off x="692173" y="1455615"/>
            <a:ext cx="10327819" cy="180414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a:t>
            </a:r>
            <a:r>
              <a:rPr lang="en-US" sz="2000" dirty="0" err="1">
                <a:latin typeface="Times New Roman" panose="02020603050405020304" pitchFamily="18" charset="0"/>
                <a:cs typeface="Times New Roman" panose="02020603050405020304" pitchFamily="18" charset="0"/>
              </a:rPr>
              <a:t>init</a:t>
            </a:r>
            <a:r>
              <a:rPr lang="en-US" sz="2000" dirty="0">
                <a:latin typeface="Times New Roman" panose="02020603050405020304" pitchFamily="18" charset="0"/>
                <a:cs typeface="Times New Roman" panose="02020603050405020304" pitchFamily="18" charset="0"/>
              </a:rPr>
              <a:t> is used to initialize a new Git repository in a project directory.</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It creates a hidden .git folder that tracks changes in the project.</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After initialization, Git can track files, commits, and branches.</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C7DFE66-DB8B-69AF-B4A9-CA110891ACEE}"/>
              </a:ext>
            </a:extLst>
          </p:cNvPr>
          <p:cNvPicPr>
            <a:picLocks noChangeAspect="1"/>
          </p:cNvPicPr>
          <p:nvPr/>
        </p:nvPicPr>
        <p:blipFill>
          <a:blip r:embed="rId3"/>
          <a:stretch>
            <a:fillRect/>
          </a:stretch>
        </p:blipFill>
        <p:spPr>
          <a:xfrm>
            <a:off x="692173" y="3540944"/>
            <a:ext cx="4077269" cy="1505160"/>
          </a:xfrm>
          <a:prstGeom prst="rect">
            <a:avLst/>
          </a:prstGeom>
        </p:spPr>
      </p:pic>
      <p:sp>
        <p:nvSpPr>
          <p:cNvPr id="6" name="object 5">
            <a:extLst>
              <a:ext uri="{FF2B5EF4-FFF2-40B4-BE49-F238E27FC236}">
                <a16:creationId xmlns:a16="http://schemas.microsoft.com/office/drawing/2014/main" id="{FB39F3B3-3924-A49F-B795-73275B23942D}"/>
              </a:ext>
            </a:extLst>
          </p:cNvPr>
          <p:cNvSpPr txBox="1"/>
          <p:nvPr/>
        </p:nvSpPr>
        <p:spPr>
          <a:xfrm>
            <a:off x="5752406" y="3711506"/>
            <a:ext cx="5267586" cy="886781"/>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Use this when starting a new project or converting an existing project to Git.</a:t>
            </a:r>
            <a:endParaRPr lang="en-IN" sz="2000" b="1" dirty="0">
              <a:solidFill>
                <a:srgbClr val="0066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7418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5EAFC-6BAB-EF80-2EA9-BB7714FE6CE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427993E-EB2B-CBB2-833C-9E242F309DE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add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stage changes</a:t>
            </a:r>
          </a:p>
        </p:txBody>
      </p:sp>
      <p:sp>
        <p:nvSpPr>
          <p:cNvPr id="3" name="object 5">
            <a:extLst>
              <a:ext uri="{FF2B5EF4-FFF2-40B4-BE49-F238E27FC236}">
                <a16:creationId xmlns:a16="http://schemas.microsoft.com/office/drawing/2014/main" id="{71466705-A95D-00F1-39BF-FAA02BD010B1}"/>
              </a:ext>
            </a:extLst>
          </p:cNvPr>
          <p:cNvSpPr txBox="1"/>
          <p:nvPr/>
        </p:nvSpPr>
        <p:spPr>
          <a:xfrm>
            <a:off x="692173" y="1455615"/>
            <a:ext cx="10327819" cy="180414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add is used to stage changes before committing them.</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Only staged files are included in the next commit.</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Can stage a single file or all modified files.</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836D17DC-1EF5-AF9C-C4BE-F60A40F0BF77}"/>
              </a:ext>
            </a:extLst>
          </p:cNvPr>
          <p:cNvSpPr txBox="1"/>
          <p:nvPr/>
        </p:nvSpPr>
        <p:spPr>
          <a:xfrm>
            <a:off x="692173" y="5177494"/>
            <a:ext cx="1038877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Staging allows selective commits and avoids committing unnecessary changes.</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C45BFAD-54DB-BAD0-0574-B88C129FDF0F}"/>
              </a:ext>
            </a:extLst>
          </p:cNvPr>
          <p:cNvPicPr>
            <a:picLocks noChangeAspect="1"/>
          </p:cNvPicPr>
          <p:nvPr/>
        </p:nvPicPr>
        <p:blipFill>
          <a:blip r:embed="rId3"/>
          <a:stretch>
            <a:fillRect/>
          </a:stretch>
        </p:blipFill>
        <p:spPr>
          <a:xfrm>
            <a:off x="692173" y="3598238"/>
            <a:ext cx="7907536" cy="1450358"/>
          </a:xfrm>
          <a:prstGeom prst="rect">
            <a:avLst/>
          </a:prstGeom>
        </p:spPr>
      </p:pic>
    </p:spTree>
    <p:extLst>
      <p:ext uri="{BB962C8B-B14F-4D97-AF65-F5344CB8AC3E}">
        <p14:creationId xmlns:p14="http://schemas.microsoft.com/office/powerpoint/2010/main" val="2494132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549B6-082E-AF19-C05A-234AAE933B6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651C2E2-4514-8F35-5BEC-B02143478E1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commit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save changes with a message</a:t>
            </a:r>
          </a:p>
        </p:txBody>
      </p:sp>
      <p:sp>
        <p:nvSpPr>
          <p:cNvPr id="3" name="object 5">
            <a:extLst>
              <a:ext uri="{FF2B5EF4-FFF2-40B4-BE49-F238E27FC236}">
                <a16:creationId xmlns:a16="http://schemas.microsoft.com/office/drawing/2014/main" id="{A943C750-0543-BF73-8460-AE1FC85D6EB2}"/>
              </a:ext>
            </a:extLst>
          </p:cNvPr>
          <p:cNvSpPr txBox="1"/>
          <p:nvPr/>
        </p:nvSpPr>
        <p:spPr>
          <a:xfrm>
            <a:off x="692173" y="1455615"/>
            <a:ext cx="10327819" cy="180414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commit saves the staged changes to the repository with a descriptive message.</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Commits represent a snapshot of the project at a point in time.</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Good commit messages make it easy to understand changes later.</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B44B4761-16D0-8EB4-621E-DC8A5AD1298F}"/>
              </a:ext>
            </a:extLst>
          </p:cNvPr>
          <p:cNvSpPr txBox="1"/>
          <p:nvPr/>
        </p:nvSpPr>
        <p:spPr>
          <a:xfrm>
            <a:off x="692173" y="5177494"/>
            <a:ext cx="1038877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Commit often to maintain granular and organized history.</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4583F12-8DC8-BC06-F72E-E0B9F705ED17}"/>
              </a:ext>
            </a:extLst>
          </p:cNvPr>
          <p:cNvPicPr>
            <a:picLocks noChangeAspect="1"/>
          </p:cNvPicPr>
          <p:nvPr/>
        </p:nvPicPr>
        <p:blipFill>
          <a:blip r:embed="rId3"/>
          <a:stretch>
            <a:fillRect/>
          </a:stretch>
        </p:blipFill>
        <p:spPr>
          <a:xfrm>
            <a:off x="692174" y="3598238"/>
            <a:ext cx="8354590" cy="1343212"/>
          </a:xfrm>
          <a:prstGeom prst="rect">
            <a:avLst/>
          </a:prstGeom>
        </p:spPr>
      </p:pic>
    </p:spTree>
    <p:extLst>
      <p:ext uri="{BB962C8B-B14F-4D97-AF65-F5344CB8AC3E}">
        <p14:creationId xmlns:p14="http://schemas.microsoft.com/office/powerpoint/2010/main" val="1290000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AD29A-CB07-4EBD-DDA4-ED93E82B738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B180D4C-0CBE-3D52-EF37-8034D7CBA8D8}"/>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status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check current state</a:t>
            </a:r>
          </a:p>
        </p:txBody>
      </p:sp>
      <p:sp>
        <p:nvSpPr>
          <p:cNvPr id="3" name="object 5">
            <a:extLst>
              <a:ext uri="{FF2B5EF4-FFF2-40B4-BE49-F238E27FC236}">
                <a16:creationId xmlns:a16="http://schemas.microsoft.com/office/drawing/2014/main" id="{D9138F30-0333-A26C-BBF6-73C6751C6B03}"/>
              </a:ext>
            </a:extLst>
          </p:cNvPr>
          <p:cNvSpPr txBox="1"/>
          <p:nvPr/>
        </p:nvSpPr>
        <p:spPr>
          <a:xfrm>
            <a:off x="692174" y="1349724"/>
            <a:ext cx="10327819" cy="3189143"/>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status shows the current state of the repository.</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Displays:</a:t>
            </a:r>
          </a:p>
          <a:p>
            <a:pPr marL="1257300" lvl="2" indent="-342900">
              <a:lnSpc>
                <a:spcPct val="150000"/>
              </a:lnSpc>
              <a:buFont typeface="Wingdings" panose="05000000000000000000" pitchFamily="2" charset="2"/>
              <a:buChar char="ü"/>
              <a:defRPr sz="1800"/>
            </a:pPr>
            <a:r>
              <a:rPr lang="en-US" sz="2000" dirty="0">
                <a:latin typeface="Times New Roman" panose="02020603050405020304" pitchFamily="18" charset="0"/>
                <a:cs typeface="Times New Roman" panose="02020603050405020304" pitchFamily="18" charset="0"/>
              </a:rPr>
              <a:t>Staged changes</a:t>
            </a:r>
          </a:p>
          <a:p>
            <a:pPr marL="1257300" lvl="2" indent="-342900">
              <a:lnSpc>
                <a:spcPct val="150000"/>
              </a:lnSpc>
              <a:buFont typeface="Wingdings" panose="05000000000000000000" pitchFamily="2" charset="2"/>
              <a:buChar char="ü"/>
              <a:defRPr sz="1800"/>
            </a:pPr>
            <a:r>
              <a:rPr lang="en-US" sz="2000" dirty="0" err="1">
                <a:latin typeface="Times New Roman" panose="02020603050405020304" pitchFamily="18" charset="0"/>
                <a:cs typeface="Times New Roman" panose="02020603050405020304" pitchFamily="18" charset="0"/>
              </a:rPr>
              <a:t>Unstaged</a:t>
            </a:r>
            <a:r>
              <a:rPr lang="en-US" sz="2000" dirty="0">
                <a:latin typeface="Times New Roman" panose="02020603050405020304" pitchFamily="18" charset="0"/>
                <a:cs typeface="Times New Roman" panose="02020603050405020304" pitchFamily="18" charset="0"/>
              </a:rPr>
              <a:t> changes</a:t>
            </a:r>
          </a:p>
          <a:p>
            <a:pPr marL="1257300" lvl="2" indent="-342900">
              <a:lnSpc>
                <a:spcPct val="150000"/>
              </a:lnSpc>
              <a:buFont typeface="Wingdings" panose="05000000000000000000" pitchFamily="2" charset="2"/>
              <a:buChar char="ü"/>
              <a:defRPr sz="1800"/>
            </a:pPr>
            <a:r>
              <a:rPr lang="en-US" sz="2000" dirty="0">
                <a:latin typeface="Times New Roman" panose="02020603050405020304" pitchFamily="18" charset="0"/>
                <a:cs typeface="Times New Roman" panose="02020603050405020304" pitchFamily="18" charset="0"/>
              </a:rPr>
              <a:t>Untracked files</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Helps developers verify what has been added or modified before committing.</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616FD391-9B78-CA3C-5534-EEF6BDB2A49F}"/>
              </a:ext>
            </a:extLst>
          </p:cNvPr>
          <p:cNvSpPr txBox="1"/>
          <p:nvPr/>
        </p:nvSpPr>
        <p:spPr>
          <a:xfrm>
            <a:off x="6096000" y="5021795"/>
            <a:ext cx="5043608" cy="880819"/>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A key command to avoid mistakes and maintain a clean workflow.</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665812E-0D62-A3CF-E4B9-5B1E86E12F97}"/>
              </a:ext>
            </a:extLst>
          </p:cNvPr>
          <p:cNvPicPr>
            <a:picLocks noChangeAspect="1"/>
          </p:cNvPicPr>
          <p:nvPr/>
        </p:nvPicPr>
        <p:blipFill>
          <a:blip r:embed="rId3"/>
          <a:srcRect r="20505"/>
          <a:stretch>
            <a:fillRect/>
          </a:stretch>
        </p:blipFill>
        <p:spPr>
          <a:xfrm>
            <a:off x="692174" y="4757257"/>
            <a:ext cx="5043608" cy="1409897"/>
          </a:xfrm>
          <a:prstGeom prst="rect">
            <a:avLst/>
          </a:prstGeom>
        </p:spPr>
      </p:pic>
    </p:spTree>
    <p:extLst>
      <p:ext uri="{BB962C8B-B14F-4D97-AF65-F5344CB8AC3E}">
        <p14:creationId xmlns:p14="http://schemas.microsoft.com/office/powerpoint/2010/main" val="3211644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A2DCD-30C2-E7BB-823F-C7E13AB30E4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B784F0-1853-F7E5-F18B-CE8A0CBAB49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Summary of Basic Workflow</a:t>
            </a:r>
          </a:p>
        </p:txBody>
      </p:sp>
      <p:sp>
        <p:nvSpPr>
          <p:cNvPr id="3" name="object 5">
            <a:extLst>
              <a:ext uri="{FF2B5EF4-FFF2-40B4-BE49-F238E27FC236}">
                <a16:creationId xmlns:a16="http://schemas.microsoft.com/office/drawing/2014/main" id="{1B53A7FA-5D41-AB13-99D7-8D3B4E0B010F}"/>
              </a:ext>
            </a:extLst>
          </p:cNvPr>
          <p:cNvSpPr txBox="1"/>
          <p:nvPr/>
        </p:nvSpPr>
        <p:spPr>
          <a:xfrm>
            <a:off x="692174" y="1195149"/>
            <a:ext cx="10515688" cy="2591800"/>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1900" b="1" dirty="0">
                <a:latin typeface="Times New Roman" panose="02020603050405020304" pitchFamily="18" charset="0"/>
                <a:cs typeface="Times New Roman" panose="02020603050405020304" pitchFamily="18" charset="0"/>
              </a:rPr>
              <a:t>Initialize Repository: </a:t>
            </a:r>
            <a:r>
              <a:rPr lang="en-US" sz="1900" dirty="0">
                <a:latin typeface="Times New Roman" panose="02020603050405020304" pitchFamily="18" charset="0"/>
                <a:cs typeface="Times New Roman" panose="02020603050405020304" pitchFamily="18" charset="0"/>
              </a:rPr>
              <a:t>git </a:t>
            </a:r>
            <a:r>
              <a:rPr lang="en-US" sz="1900" dirty="0" err="1">
                <a:latin typeface="Times New Roman" panose="02020603050405020304" pitchFamily="18" charset="0"/>
                <a:cs typeface="Times New Roman" panose="02020603050405020304" pitchFamily="18" charset="0"/>
              </a:rPr>
              <a:t>init</a:t>
            </a:r>
            <a:endParaRPr lang="en-US" sz="19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defRPr sz="1800"/>
            </a:pPr>
            <a:r>
              <a:rPr lang="en-US" sz="1900" b="1" dirty="0">
                <a:latin typeface="Times New Roman" panose="02020603050405020304" pitchFamily="18" charset="0"/>
                <a:cs typeface="Times New Roman" panose="02020603050405020304" pitchFamily="18" charset="0"/>
              </a:rPr>
              <a:t>Stage Changes: </a:t>
            </a:r>
            <a:r>
              <a:rPr lang="en-US" sz="1900" dirty="0">
                <a:latin typeface="Times New Roman" panose="02020603050405020304" pitchFamily="18" charset="0"/>
                <a:cs typeface="Times New Roman" panose="02020603050405020304" pitchFamily="18" charset="0"/>
              </a:rPr>
              <a:t>git add &lt;file&gt; or git add</a:t>
            </a:r>
          </a:p>
          <a:p>
            <a:pPr marL="342900" indent="-342900">
              <a:lnSpc>
                <a:spcPct val="150000"/>
              </a:lnSpc>
              <a:buFont typeface="Arial" panose="020B0604020202020204" pitchFamily="34" charset="0"/>
              <a:buChar char="•"/>
              <a:defRPr sz="1800"/>
            </a:pPr>
            <a:r>
              <a:rPr lang="en-US" sz="1900" b="1" dirty="0">
                <a:latin typeface="Times New Roman" panose="02020603050405020304" pitchFamily="18" charset="0"/>
                <a:cs typeface="Times New Roman" panose="02020603050405020304" pitchFamily="18" charset="0"/>
              </a:rPr>
              <a:t>Commit Changes: </a:t>
            </a:r>
            <a:r>
              <a:rPr lang="en-US" sz="1900" dirty="0">
                <a:latin typeface="Times New Roman" panose="02020603050405020304" pitchFamily="18" charset="0"/>
                <a:cs typeface="Times New Roman" panose="02020603050405020304" pitchFamily="18" charset="0"/>
              </a:rPr>
              <a:t>git commit -m "message“</a:t>
            </a:r>
          </a:p>
          <a:p>
            <a:pPr marL="342900" indent="-342900">
              <a:lnSpc>
                <a:spcPct val="150000"/>
              </a:lnSpc>
              <a:buFont typeface="Arial" panose="020B0604020202020204" pitchFamily="34" charset="0"/>
              <a:buChar char="•"/>
              <a:defRPr sz="1800"/>
            </a:pPr>
            <a:r>
              <a:rPr lang="en-US" sz="1900" b="1" dirty="0">
                <a:latin typeface="Times New Roman" panose="02020603050405020304" pitchFamily="18" charset="0"/>
                <a:cs typeface="Times New Roman" panose="02020603050405020304" pitchFamily="18" charset="0"/>
              </a:rPr>
              <a:t>Check Status: </a:t>
            </a:r>
            <a:r>
              <a:rPr lang="en-US" sz="1900" dirty="0">
                <a:latin typeface="Times New Roman" panose="02020603050405020304" pitchFamily="18" charset="0"/>
                <a:cs typeface="Times New Roman" panose="02020603050405020304" pitchFamily="18" charset="0"/>
              </a:rPr>
              <a:t>git status</a:t>
            </a:r>
          </a:p>
          <a:p>
            <a:pPr>
              <a:lnSpc>
                <a:spcPct val="150000"/>
              </a:lnSpc>
              <a:defRPr sz="1800"/>
            </a:pPr>
            <a:endParaRPr lang="en-US" sz="1900" dirty="0">
              <a:latin typeface="Times New Roman" panose="02020603050405020304" pitchFamily="18" charset="0"/>
              <a:cs typeface="Times New Roman" panose="02020603050405020304" pitchFamily="18" charset="0"/>
            </a:endParaRPr>
          </a:p>
          <a:p>
            <a:pPr>
              <a:lnSpc>
                <a:spcPct val="150000"/>
              </a:lnSpc>
              <a:defRPr sz="1800"/>
            </a:pPr>
            <a:r>
              <a:rPr lang="en-US" sz="1900" b="1" dirty="0">
                <a:solidFill>
                  <a:srgbClr val="0066CC"/>
                </a:solidFill>
                <a:latin typeface="Times New Roman" panose="02020603050405020304" pitchFamily="18" charset="0"/>
                <a:cs typeface="Times New Roman" panose="02020603050405020304" pitchFamily="18" charset="0"/>
              </a:rPr>
              <a:t>This workflow ensures organized version control, easy collaboration, and a complete project history.</a:t>
            </a:r>
            <a:endParaRPr lang="en-IN" sz="19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589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fontScale="85000" lnSpcReduction="20000"/>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Remote Repositories</a:t>
            </a:r>
          </a:p>
          <a:p>
            <a:pPr algn="l">
              <a:lnSpc>
                <a:spcPct val="160000"/>
              </a:lnSpc>
            </a:pPr>
            <a:r>
              <a:rPr lang="en-US" dirty="0"/>
              <a:t>(GitHub/GitLab/Bitbucket)</a:t>
            </a:r>
          </a:p>
        </p:txBody>
      </p:sp>
    </p:spTree>
    <p:extLst>
      <p:ext uri="{BB962C8B-B14F-4D97-AF65-F5344CB8AC3E}">
        <p14:creationId xmlns:p14="http://schemas.microsoft.com/office/powerpoint/2010/main" val="597947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340234"/>
            <a:ext cx="10573667" cy="1243930"/>
          </a:xfrm>
          <a:prstGeom prst="rect">
            <a:avLst/>
          </a:prstGeom>
        </p:spPr>
        <p:txBody>
          <a:bodyPr vert="horz" wrap="square" lIns="0" tIns="12700" rIns="0" bIns="0" rtlCol="0">
            <a:spAutoFit/>
          </a:bodyPr>
          <a:lstStyle/>
          <a:p>
            <a:pPr>
              <a:defRPr sz="1800"/>
            </a:pPr>
            <a:r>
              <a:rPr lang="en-US" sz="2000" dirty="0">
                <a:latin typeface="Times New Roman" panose="02020603050405020304" pitchFamily="18" charset="0"/>
                <a:cs typeface="Times New Roman" panose="02020603050405020304" pitchFamily="18" charset="0"/>
              </a:rPr>
              <a:t>Remote repositories are central locations where code and other files managed by Git are stored, enabling collaboration among multiple developers and serving as a backup. Unlike local repositories, which reside on an individual's machine, remote repositories are typically hosted on cloud-based platforms or internal servers.</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are Remote Repositories?</a:t>
            </a:r>
          </a:p>
        </p:txBody>
      </p:sp>
      <p:sp>
        <p:nvSpPr>
          <p:cNvPr id="2" name="Title 1">
            <a:extLst>
              <a:ext uri="{FF2B5EF4-FFF2-40B4-BE49-F238E27FC236}">
                <a16:creationId xmlns:a16="http://schemas.microsoft.com/office/drawing/2014/main" id="{F4B98C0A-D206-BFA4-A1B2-217B185E2422}"/>
              </a:ext>
            </a:extLst>
          </p:cNvPr>
          <p:cNvSpPr txBox="1">
            <a:spLocks/>
          </p:cNvSpPr>
          <p:nvPr/>
        </p:nvSpPr>
        <p:spPr>
          <a:xfrm>
            <a:off x="692174" y="2920526"/>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Popular Remote Repository Hosting Services:</a:t>
            </a:r>
          </a:p>
        </p:txBody>
      </p:sp>
      <p:sp>
        <p:nvSpPr>
          <p:cNvPr id="3" name="object 5">
            <a:extLst>
              <a:ext uri="{FF2B5EF4-FFF2-40B4-BE49-F238E27FC236}">
                <a16:creationId xmlns:a16="http://schemas.microsoft.com/office/drawing/2014/main" id="{F2A5C08E-1350-B7BD-4936-5A53C5A0B846}"/>
              </a:ext>
            </a:extLst>
          </p:cNvPr>
          <p:cNvSpPr txBox="1"/>
          <p:nvPr/>
        </p:nvSpPr>
        <p:spPr>
          <a:xfrm>
            <a:off x="692174" y="3697376"/>
            <a:ext cx="10573667" cy="2228815"/>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GitHub: </a:t>
            </a:r>
            <a:r>
              <a:rPr lang="en-US" dirty="0">
                <a:latin typeface="Times New Roman" panose="02020603050405020304" pitchFamily="18" charset="0"/>
                <a:cs typeface="Times New Roman" panose="02020603050405020304" pitchFamily="18" charset="0"/>
              </a:rPr>
              <a:t>A widely used platform known for its social coding features, extensive open-source community, and integrations with various development tools.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GitLab: </a:t>
            </a:r>
            <a:r>
              <a:rPr lang="en-US" dirty="0">
                <a:latin typeface="Times New Roman" panose="02020603050405020304" pitchFamily="18" charset="0"/>
                <a:cs typeface="Times New Roman" panose="02020603050405020304" pitchFamily="18" charset="0"/>
              </a:rPr>
              <a:t>Offers a comprehensive DevOps platform, including not only Git hosting but also CI/CD, project management, and security features. It can be hosted in the cloud or on-premise.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Bitbucket: </a:t>
            </a:r>
            <a:r>
              <a:rPr lang="en-US" dirty="0">
                <a:latin typeface="Times New Roman" panose="02020603050405020304" pitchFamily="18" charset="0"/>
                <a:cs typeface="Times New Roman" panose="02020603050405020304" pitchFamily="18" charset="0"/>
              </a:rPr>
              <a:t>Developed by Atlassian, it integrates seamlessly with other Atlassian products like Jira and Confluence, making it a popular choice for teams already using the Atlassian ecosystem.</a:t>
            </a:r>
          </a:p>
        </p:txBody>
      </p:sp>
    </p:spTree>
    <p:extLst>
      <p:ext uri="{BB962C8B-B14F-4D97-AF65-F5344CB8AC3E}">
        <p14:creationId xmlns:p14="http://schemas.microsoft.com/office/powerpoint/2010/main" val="103314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C8546-D723-D08E-C8FA-B508F8249D2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2CC992-D0D7-1BBB-F9FB-66A60921BDF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Key Functions of Remote Repositories</a:t>
            </a:r>
          </a:p>
        </p:txBody>
      </p:sp>
      <p:sp>
        <p:nvSpPr>
          <p:cNvPr id="3" name="object 5">
            <a:extLst>
              <a:ext uri="{FF2B5EF4-FFF2-40B4-BE49-F238E27FC236}">
                <a16:creationId xmlns:a16="http://schemas.microsoft.com/office/drawing/2014/main" id="{EFB0BF7E-079C-7CD0-D68B-237011A0F047}"/>
              </a:ext>
            </a:extLst>
          </p:cNvPr>
          <p:cNvSpPr txBox="1"/>
          <p:nvPr/>
        </p:nvSpPr>
        <p:spPr>
          <a:xfrm>
            <a:off x="692174" y="1552692"/>
            <a:ext cx="10573667" cy="2167260"/>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Collaboration: </a:t>
            </a:r>
            <a:r>
              <a:rPr lang="en-US" sz="2000" dirty="0">
                <a:latin typeface="Times New Roman" panose="02020603050405020304" pitchFamily="18" charset="0"/>
                <a:cs typeface="Times New Roman" panose="02020603050405020304" pitchFamily="18" charset="0"/>
              </a:rPr>
              <a:t>Multiple developers can share code by pushing and pulling changes.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Version Control: </a:t>
            </a:r>
            <a:r>
              <a:rPr lang="en-US" sz="2000" dirty="0">
                <a:latin typeface="Times New Roman" panose="02020603050405020304" pitchFamily="18" charset="0"/>
                <a:cs typeface="Times New Roman" panose="02020603050405020304" pitchFamily="18" charset="0"/>
              </a:rPr>
              <a:t>Stores complete history, enabling rollback and tracking modifications.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Backup: </a:t>
            </a:r>
            <a:r>
              <a:rPr lang="en-US" sz="2000" dirty="0">
                <a:latin typeface="Times New Roman" panose="02020603050405020304" pitchFamily="18" charset="0"/>
                <a:cs typeface="Times New Roman" panose="02020603050405020304" pitchFamily="18" charset="0"/>
              </a:rPr>
              <a:t>Acts as a safeguard against local data loss.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Code Review &amp; Management: </a:t>
            </a:r>
            <a:r>
              <a:rPr lang="en-US" sz="2000" dirty="0">
                <a:latin typeface="Times New Roman" panose="02020603050405020304" pitchFamily="18" charset="0"/>
                <a:cs typeface="Times New Roman" panose="02020603050405020304" pitchFamily="18" charset="0"/>
              </a:rPr>
              <a:t>Supports reviews, issue tracking, and project management.</a:t>
            </a:r>
          </a:p>
        </p:txBody>
      </p:sp>
    </p:spTree>
    <p:extLst>
      <p:ext uri="{BB962C8B-B14F-4D97-AF65-F5344CB8AC3E}">
        <p14:creationId xmlns:p14="http://schemas.microsoft.com/office/powerpoint/2010/main" val="2511283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E1F1-A5EE-C3C0-0141-88C04481D0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F7A09B4-C42E-A205-F592-E00321738FA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clone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copy a repo</a:t>
            </a:r>
          </a:p>
        </p:txBody>
      </p:sp>
      <p:sp>
        <p:nvSpPr>
          <p:cNvPr id="3" name="object 5">
            <a:extLst>
              <a:ext uri="{FF2B5EF4-FFF2-40B4-BE49-F238E27FC236}">
                <a16:creationId xmlns:a16="http://schemas.microsoft.com/office/drawing/2014/main" id="{9781890D-7BBC-759A-5AD8-7090E43814F8}"/>
              </a:ext>
            </a:extLst>
          </p:cNvPr>
          <p:cNvSpPr txBox="1"/>
          <p:nvPr/>
        </p:nvSpPr>
        <p:spPr>
          <a:xfrm>
            <a:off x="692173" y="1455615"/>
            <a:ext cx="10327819" cy="180414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push is used to upload local commits to the remote repository.</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Keeps the remote repo updated with the latest work.</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Typically pushes to the main or feature branch.</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FB39F3B3-3924-A49F-B795-73275B23942D}"/>
              </a:ext>
            </a:extLst>
          </p:cNvPr>
          <p:cNvSpPr txBox="1"/>
          <p:nvPr/>
        </p:nvSpPr>
        <p:spPr>
          <a:xfrm>
            <a:off x="692173" y="4908539"/>
            <a:ext cx="1032781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Ensures team members can see and use your latest changes.</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08346BE-61D2-44ED-9A96-C261510C0E5A}"/>
              </a:ext>
            </a:extLst>
          </p:cNvPr>
          <p:cNvPicPr>
            <a:picLocks noChangeAspect="1"/>
          </p:cNvPicPr>
          <p:nvPr/>
        </p:nvPicPr>
        <p:blipFill>
          <a:blip r:embed="rId3"/>
          <a:stretch>
            <a:fillRect/>
          </a:stretch>
        </p:blipFill>
        <p:spPr>
          <a:xfrm>
            <a:off x="692173" y="3393492"/>
            <a:ext cx="7344800" cy="1381318"/>
          </a:xfrm>
          <a:prstGeom prst="rect">
            <a:avLst/>
          </a:prstGeom>
        </p:spPr>
      </p:pic>
    </p:spTree>
    <p:extLst>
      <p:ext uri="{BB962C8B-B14F-4D97-AF65-F5344CB8AC3E}">
        <p14:creationId xmlns:p14="http://schemas.microsoft.com/office/powerpoint/2010/main" val="462080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5EAFC-6BAB-EF80-2EA9-BB7714FE6CE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427993E-EB2B-CBB2-833C-9E242F309DE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pull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Fetch &amp; Merge Updates from Remote</a:t>
            </a:r>
          </a:p>
        </p:txBody>
      </p:sp>
      <p:sp>
        <p:nvSpPr>
          <p:cNvPr id="3" name="object 5">
            <a:extLst>
              <a:ext uri="{FF2B5EF4-FFF2-40B4-BE49-F238E27FC236}">
                <a16:creationId xmlns:a16="http://schemas.microsoft.com/office/drawing/2014/main" id="{71466705-A95D-00F1-39BF-FAA02BD010B1}"/>
              </a:ext>
            </a:extLst>
          </p:cNvPr>
          <p:cNvSpPr txBox="1"/>
          <p:nvPr/>
        </p:nvSpPr>
        <p:spPr>
          <a:xfrm>
            <a:off x="692173" y="1455615"/>
            <a:ext cx="10327819" cy="180414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pull is used to download and merge changes from the remote repository into the local repo.</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Keeps your local project in sync with team updates.</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Equivalent to running </a:t>
            </a:r>
            <a:r>
              <a:rPr lang="en-US" sz="2000" dirty="0">
                <a:solidFill>
                  <a:srgbClr val="0066CC"/>
                </a:solidFill>
                <a:latin typeface="Times New Roman" panose="02020603050405020304" pitchFamily="18" charset="0"/>
                <a:cs typeface="Times New Roman" panose="02020603050405020304" pitchFamily="18" charset="0"/>
              </a:rPr>
              <a:t>git fetch + git merge</a:t>
            </a:r>
            <a:r>
              <a:rPr lang="en-US" sz="2000" dirty="0">
                <a:latin typeface="Times New Roman" panose="02020603050405020304" pitchFamily="18" charset="0"/>
                <a:cs typeface="Times New Roman" panose="02020603050405020304" pitchFamily="18" charset="0"/>
              </a:rPr>
              <a:t>.</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836D17DC-1EF5-AF9C-C4BE-F60A40F0BF77}"/>
              </a:ext>
            </a:extLst>
          </p:cNvPr>
          <p:cNvSpPr txBox="1"/>
          <p:nvPr/>
        </p:nvSpPr>
        <p:spPr>
          <a:xfrm>
            <a:off x="692173" y="5177494"/>
            <a:ext cx="1038877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Prevents conflicts and ensures your work is based on the latest code.</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ECC5F9-644B-2755-5A57-78537CEF109E}"/>
              </a:ext>
            </a:extLst>
          </p:cNvPr>
          <p:cNvPicPr>
            <a:picLocks noChangeAspect="1"/>
          </p:cNvPicPr>
          <p:nvPr/>
        </p:nvPicPr>
        <p:blipFill>
          <a:blip r:embed="rId3"/>
          <a:srcRect r="9218"/>
          <a:stretch>
            <a:fillRect/>
          </a:stretch>
        </p:blipFill>
        <p:spPr>
          <a:xfrm>
            <a:off x="692173" y="3494627"/>
            <a:ext cx="7515260" cy="1448002"/>
          </a:xfrm>
          <a:prstGeom prst="rect">
            <a:avLst/>
          </a:prstGeom>
        </p:spPr>
      </p:pic>
    </p:spTree>
    <p:extLst>
      <p:ext uri="{BB962C8B-B14F-4D97-AF65-F5344CB8AC3E}">
        <p14:creationId xmlns:p14="http://schemas.microsoft.com/office/powerpoint/2010/main" val="3977586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549B6-082E-AF19-C05A-234AAE933B6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651C2E2-4514-8F35-5BEC-B02143478E1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push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Send Local Changes to Remote</a:t>
            </a:r>
          </a:p>
        </p:txBody>
      </p:sp>
      <p:sp>
        <p:nvSpPr>
          <p:cNvPr id="3" name="object 5">
            <a:extLst>
              <a:ext uri="{FF2B5EF4-FFF2-40B4-BE49-F238E27FC236}">
                <a16:creationId xmlns:a16="http://schemas.microsoft.com/office/drawing/2014/main" id="{A943C750-0543-BF73-8460-AE1FC85D6EB2}"/>
              </a:ext>
            </a:extLst>
          </p:cNvPr>
          <p:cNvSpPr txBox="1"/>
          <p:nvPr/>
        </p:nvSpPr>
        <p:spPr>
          <a:xfrm>
            <a:off x="692173" y="1455615"/>
            <a:ext cx="10327819" cy="180414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push is used to upload local commits to the remote repository.</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Keeps the remote repo updated with the latest work.</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Typically pushes to the main or feature branch.</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B44B4761-16D0-8EB4-621E-DC8A5AD1298F}"/>
              </a:ext>
            </a:extLst>
          </p:cNvPr>
          <p:cNvSpPr txBox="1"/>
          <p:nvPr/>
        </p:nvSpPr>
        <p:spPr>
          <a:xfrm>
            <a:off x="692173" y="5177494"/>
            <a:ext cx="1038877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Ensures team members can see and use your latest changes.</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9B463C3-0BF2-153C-7CEE-96FC34366560}"/>
              </a:ext>
            </a:extLst>
          </p:cNvPr>
          <p:cNvPicPr>
            <a:picLocks noChangeAspect="1"/>
          </p:cNvPicPr>
          <p:nvPr/>
        </p:nvPicPr>
        <p:blipFill>
          <a:blip r:embed="rId3"/>
          <a:stretch>
            <a:fillRect/>
          </a:stretch>
        </p:blipFill>
        <p:spPr>
          <a:xfrm>
            <a:off x="692173" y="3513680"/>
            <a:ext cx="7706801" cy="1409897"/>
          </a:xfrm>
          <a:prstGeom prst="rect">
            <a:avLst/>
          </a:prstGeom>
        </p:spPr>
      </p:pic>
    </p:spTree>
    <p:extLst>
      <p:ext uri="{BB962C8B-B14F-4D97-AF65-F5344CB8AC3E}">
        <p14:creationId xmlns:p14="http://schemas.microsoft.com/office/powerpoint/2010/main" val="361515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A2DCD-30C2-E7BB-823F-C7E13AB30E4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B784F0-1853-F7E5-F18B-CE8A0CBAB49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Summary of Basic Workflow</a:t>
            </a:r>
          </a:p>
        </p:txBody>
      </p:sp>
      <p:sp>
        <p:nvSpPr>
          <p:cNvPr id="3" name="object 5">
            <a:extLst>
              <a:ext uri="{FF2B5EF4-FFF2-40B4-BE49-F238E27FC236}">
                <a16:creationId xmlns:a16="http://schemas.microsoft.com/office/drawing/2014/main" id="{1B53A7FA-5D41-AB13-99D7-8D3B4E0B010F}"/>
              </a:ext>
            </a:extLst>
          </p:cNvPr>
          <p:cNvSpPr txBox="1"/>
          <p:nvPr/>
        </p:nvSpPr>
        <p:spPr>
          <a:xfrm>
            <a:off x="692174" y="1195149"/>
            <a:ext cx="10515688" cy="2591800"/>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1900" b="1" dirty="0">
                <a:latin typeface="Times New Roman" panose="02020603050405020304" pitchFamily="18" charset="0"/>
                <a:cs typeface="Times New Roman" panose="02020603050405020304" pitchFamily="18" charset="0"/>
              </a:rPr>
              <a:t>Clone Project: </a:t>
            </a:r>
            <a:r>
              <a:rPr lang="en-US" sz="1900" dirty="0">
                <a:latin typeface="Times New Roman" panose="02020603050405020304" pitchFamily="18" charset="0"/>
                <a:cs typeface="Times New Roman" panose="02020603050405020304" pitchFamily="18" charset="0"/>
              </a:rPr>
              <a:t>git clone to copy a repository.</a:t>
            </a:r>
          </a:p>
          <a:p>
            <a:pPr marL="342900" indent="-342900">
              <a:lnSpc>
                <a:spcPct val="150000"/>
              </a:lnSpc>
              <a:buFont typeface="Arial" panose="020B0604020202020204" pitchFamily="34" charset="0"/>
              <a:buChar char="•"/>
              <a:defRPr sz="1800"/>
            </a:pPr>
            <a:r>
              <a:rPr lang="en-US" sz="1900" b="1" dirty="0">
                <a:latin typeface="Times New Roman" panose="02020603050405020304" pitchFamily="18" charset="0"/>
                <a:cs typeface="Times New Roman" panose="02020603050405020304" pitchFamily="18" charset="0"/>
              </a:rPr>
              <a:t>Push Changes: </a:t>
            </a:r>
            <a:r>
              <a:rPr lang="en-US" sz="1900" dirty="0">
                <a:latin typeface="Times New Roman" panose="02020603050405020304" pitchFamily="18" charset="0"/>
                <a:cs typeface="Times New Roman" panose="02020603050405020304" pitchFamily="18" charset="0"/>
              </a:rPr>
              <a:t>git push to share your work with the team.</a:t>
            </a:r>
          </a:p>
          <a:p>
            <a:pPr marL="342900" indent="-342900">
              <a:lnSpc>
                <a:spcPct val="150000"/>
              </a:lnSpc>
              <a:buFont typeface="Arial" panose="020B0604020202020204" pitchFamily="34" charset="0"/>
              <a:buChar char="•"/>
              <a:defRPr sz="1800"/>
            </a:pPr>
            <a:r>
              <a:rPr lang="en-US" sz="1900" b="1" dirty="0">
                <a:latin typeface="Times New Roman" panose="02020603050405020304" pitchFamily="18" charset="0"/>
                <a:cs typeface="Times New Roman" panose="02020603050405020304" pitchFamily="18" charset="0"/>
              </a:rPr>
              <a:t>Pull Updates: </a:t>
            </a:r>
            <a:r>
              <a:rPr lang="en-US" sz="1900" dirty="0">
                <a:latin typeface="Times New Roman" panose="02020603050405020304" pitchFamily="18" charset="0"/>
                <a:cs typeface="Times New Roman" panose="02020603050405020304" pitchFamily="18" charset="0"/>
              </a:rPr>
              <a:t>git pull to stay updated with others’ changes. </a:t>
            </a:r>
          </a:p>
          <a:p>
            <a:pPr>
              <a:lnSpc>
                <a:spcPct val="150000"/>
              </a:lnSpc>
              <a:defRPr sz="1800"/>
            </a:pPr>
            <a:endParaRPr lang="en-US" sz="1900" b="1" dirty="0">
              <a:latin typeface="Times New Roman" panose="02020603050405020304" pitchFamily="18" charset="0"/>
              <a:cs typeface="Times New Roman" panose="02020603050405020304" pitchFamily="18" charset="0"/>
            </a:endParaRPr>
          </a:p>
          <a:p>
            <a:pPr>
              <a:lnSpc>
                <a:spcPct val="150000"/>
              </a:lnSpc>
              <a:defRPr sz="1800"/>
            </a:pPr>
            <a:r>
              <a:rPr lang="en-US" sz="1900" b="1" dirty="0">
                <a:solidFill>
                  <a:srgbClr val="0066CC"/>
                </a:solidFill>
                <a:latin typeface="Times New Roman" panose="02020603050405020304" pitchFamily="18" charset="0"/>
                <a:cs typeface="Times New Roman" panose="02020603050405020304" pitchFamily="18" charset="0"/>
              </a:rPr>
              <a:t>Remote repositories ensure collaboration, synchronization, and backup in modern software engineering.</a:t>
            </a:r>
          </a:p>
        </p:txBody>
      </p:sp>
    </p:spTree>
    <p:extLst>
      <p:ext uri="{BB962C8B-B14F-4D97-AF65-F5344CB8AC3E}">
        <p14:creationId xmlns:p14="http://schemas.microsoft.com/office/powerpoint/2010/main" val="2830858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lnSpc>
                <a:spcPct val="70000"/>
              </a:lnSpc>
            </a:pPr>
            <a:r>
              <a:rPr lang="en-US">
                <a:solidFill>
                  <a:srgbClr val="FFFFFF"/>
                </a:solidFill>
                <a:latin typeface="Arial"/>
                <a:cs typeface="Arial"/>
              </a:rPr>
              <a:t>Branching</a:t>
            </a:r>
            <a:r>
              <a:rPr lang="en-US">
                <a:latin typeface="Arial"/>
                <a:cs typeface="Arial"/>
              </a:rPr>
              <a:t> &amp; Merging</a:t>
            </a:r>
            <a:endParaRPr lang="en-US"/>
          </a:p>
          <a:p>
            <a:pPr algn="l"/>
            <a:endParaRPr lang="en-US" dirty="0"/>
          </a:p>
        </p:txBody>
      </p:sp>
    </p:spTree>
    <p:extLst>
      <p:ext uri="{BB962C8B-B14F-4D97-AF65-F5344CB8AC3E}">
        <p14:creationId xmlns:p14="http://schemas.microsoft.com/office/powerpoint/2010/main" val="3721260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228306"/>
            <a:ext cx="10573667" cy="180414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Branching allows developers to work on features or fixes independently without affecting the main codebase.</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Merging integrates the changes from one branch back into another (usually into main/master).</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This workflow makes experimentation and teamwork safe and efficient.</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Git Branching &amp; Merging</a:t>
            </a:r>
          </a:p>
        </p:txBody>
      </p:sp>
      <p:sp>
        <p:nvSpPr>
          <p:cNvPr id="5" name="Title 1">
            <a:extLst>
              <a:ext uri="{FF2B5EF4-FFF2-40B4-BE49-F238E27FC236}">
                <a16:creationId xmlns:a16="http://schemas.microsoft.com/office/drawing/2014/main" id="{48F72ED1-4C66-D891-3AD6-EE28BC51A6BB}"/>
              </a:ext>
            </a:extLst>
          </p:cNvPr>
          <p:cNvSpPr txBox="1">
            <a:spLocks/>
          </p:cNvSpPr>
          <p:nvPr/>
        </p:nvSpPr>
        <p:spPr>
          <a:xfrm>
            <a:off x="692174" y="3256888"/>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a:ea typeface="ＭＳ Ｐゴシック"/>
                <a:cs typeface="Times New Roman"/>
              </a:rPr>
              <a:t>Key Functions of </a:t>
            </a:r>
            <a:r>
              <a:rPr lang="en-US" sz="2800">
                <a:latin typeface="Times New Roman"/>
                <a:ea typeface="ＭＳ Ｐゴシック"/>
                <a:cs typeface="Times New Roman"/>
              </a:rPr>
              <a:t>Branching &amp; Merging</a:t>
            </a:r>
            <a:endParaRPr lang="en-US" sz="2800" b="0">
              <a:latin typeface="Times New Roman"/>
              <a:ea typeface="ＭＳ Ｐゴシック"/>
              <a:cs typeface="Times New Roman"/>
            </a:endParaRPr>
          </a:p>
        </p:txBody>
      </p:sp>
      <p:sp>
        <p:nvSpPr>
          <p:cNvPr id="6" name="object 5">
            <a:extLst>
              <a:ext uri="{FF2B5EF4-FFF2-40B4-BE49-F238E27FC236}">
                <a16:creationId xmlns:a16="http://schemas.microsoft.com/office/drawing/2014/main" id="{91AA9BDB-116A-E42A-83F1-7117621B3ED1}"/>
              </a:ext>
            </a:extLst>
          </p:cNvPr>
          <p:cNvSpPr txBox="1"/>
          <p:nvPr/>
        </p:nvSpPr>
        <p:spPr>
          <a:xfrm>
            <a:off x="692174" y="3921810"/>
            <a:ext cx="10573667" cy="1804148"/>
          </a:xfrm>
          <a:prstGeom prst="rect">
            <a:avLst/>
          </a:prstGeom>
        </p:spPr>
        <p:txBody>
          <a:bodyPr vert="horz" wrap="square" lIns="0" tIns="12700" rIns="0" bIns="0" rtlCol="0">
            <a:spAutoFit/>
          </a:bodyPr>
          <a:lstStyle/>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Collaboration: </a:t>
            </a:r>
            <a:r>
              <a:rPr lang="en-US" sz="2000" dirty="0">
                <a:latin typeface="Times New Roman" panose="02020603050405020304" pitchFamily="18" charset="0"/>
                <a:cs typeface="Times New Roman" panose="02020603050405020304" pitchFamily="18" charset="0"/>
              </a:rPr>
              <a:t>Multiple developers can share code by pushing and pulling changes.</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Version Control: </a:t>
            </a:r>
            <a:r>
              <a:rPr lang="en-US" sz="2000" dirty="0">
                <a:latin typeface="Times New Roman" panose="02020603050405020304" pitchFamily="18" charset="0"/>
                <a:cs typeface="Times New Roman" panose="02020603050405020304" pitchFamily="18" charset="0"/>
              </a:rPr>
              <a:t>Stores complete history, enabling rollback and tracking modifications.</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Backup: </a:t>
            </a:r>
            <a:r>
              <a:rPr lang="en-US" sz="2000" dirty="0">
                <a:latin typeface="Times New Roman" panose="02020603050405020304" pitchFamily="18" charset="0"/>
                <a:cs typeface="Times New Roman" panose="02020603050405020304" pitchFamily="18" charset="0"/>
              </a:rPr>
              <a:t>Acts as a safeguard against local data loss.</a:t>
            </a: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Code Review &amp; Management: </a:t>
            </a:r>
            <a:r>
              <a:rPr lang="en-US" sz="2000" dirty="0">
                <a:latin typeface="Times New Roman" panose="02020603050405020304" pitchFamily="18" charset="0"/>
                <a:cs typeface="Times New Roman" panose="02020603050405020304" pitchFamily="18" charset="0"/>
              </a:rPr>
              <a:t>Supports reviews, issue tracking, and project management.</a:t>
            </a:r>
          </a:p>
        </p:txBody>
      </p:sp>
    </p:spTree>
    <p:extLst>
      <p:ext uri="{BB962C8B-B14F-4D97-AF65-F5344CB8AC3E}">
        <p14:creationId xmlns:p14="http://schemas.microsoft.com/office/powerpoint/2010/main" val="2655699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E1F1-A5EE-C3C0-0141-88C04481D0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F7A09B4-C42E-A205-F592-E00321738FA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branch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create branch</a:t>
            </a:r>
          </a:p>
        </p:txBody>
      </p:sp>
      <p:sp>
        <p:nvSpPr>
          <p:cNvPr id="3" name="object 5">
            <a:extLst>
              <a:ext uri="{FF2B5EF4-FFF2-40B4-BE49-F238E27FC236}">
                <a16:creationId xmlns:a16="http://schemas.microsoft.com/office/drawing/2014/main" id="{9781890D-7BBC-759A-5AD8-7090E43814F8}"/>
              </a:ext>
            </a:extLst>
          </p:cNvPr>
          <p:cNvSpPr txBox="1"/>
          <p:nvPr/>
        </p:nvSpPr>
        <p:spPr>
          <a:xfrm>
            <a:off x="692173" y="1455615"/>
            <a:ext cx="10327819" cy="1342483"/>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branch is used to create a new branch in the repository.</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 branch is like a parallel workspace for new features or fixes.</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FB39F3B3-3924-A49F-B795-73275B23942D}"/>
              </a:ext>
            </a:extLst>
          </p:cNvPr>
          <p:cNvSpPr txBox="1"/>
          <p:nvPr/>
        </p:nvSpPr>
        <p:spPr>
          <a:xfrm>
            <a:off x="692173" y="4908539"/>
            <a:ext cx="1032781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Keeps work isolated from the main project until it’s ready.</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0FFA9F6-B665-2CD2-37AF-7264507CAD48}"/>
              </a:ext>
            </a:extLst>
          </p:cNvPr>
          <p:cNvPicPr>
            <a:picLocks noChangeAspect="1"/>
          </p:cNvPicPr>
          <p:nvPr/>
        </p:nvPicPr>
        <p:blipFill>
          <a:blip r:embed="rId3"/>
          <a:srcRect r="27218"/>
          <a:stretch>
            <a:fillRect/>
          </a:stretch>
        </p:blipFill>
        <p:spPr>
          <a:xfrm>
            <a:off x="692173" y="3153133"/>
            <a:ext cx="6822532" cy="1400370"/>
          </a:xfrm>
          <a:prstGeom prst="rect">
            <a:avLst/>
          </a:prstGeom>
        </p:spPr>
      </p:pic>
    </p:spTree>
    <p:extLst>
      <p:ext uri="{BB962C8B-B14F-4D97-AF65-F5344CB8AC3E}">
        <p14:creationId xmlns:p14="http://schemas.microsoft.com/office/powerpoint/2010/main" val="3586961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5EAFC-6BAB-EF80-2EA9-BB7714FE6CE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427993E-EB2B-CBB2-833C-9E242F309DE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checkout / git switch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Move Between Branches</a:t>
            </a:r>
          </a:p>
        </p:txBody>
      </p:sp>
      <p:sp>
        <p:nvSpPr>
          <p:cNvPr id="3" name="object 5">
            <a:extLst>
              <a:ext uri="{FF2B5EF4-FFF2-40B4-BE49-F238E27FC236}">
                <a16:creationId xmlns:a16="http://schemas.microsoft.com/office/drawing/2014/main" id="{71466705-A95D-00F1-39BF-FAA02BD010B1}"/>
              </a:ext>
            </a:extLst>
          </p:cNvPr>
          <p:cNvSpPr txBox="1"/>
          <p:nvPr/>
        </p:nvSpPr>
        <p:spPr>
          <a:xfrm>
            <a:off x="692173" y="1455615"/>
            <a:ext cx="10327819" cy="1342483"/>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checkout or git switch lets you move between branches.</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You can switch to an existing branch to continue work.</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836D17DC-1EF5-AF9C-C4BE-F60A40F0BF77}"/>
              </a:ext>
            </a:extLst>
          </p:cNvPr>
          <p:cNvSpPr txBox="1"/>
          <p:nvPr/>
        </p:nvSpPr>
        <p:spPr>
          <a:xfrm>
            <a:off x="692173" y="5177494"/>
            <a:ext cx="1038877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Ensures you are working in the correct branch.</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E0F6495-977E-09C1-688D-5565A2485E17}"/>
              </a:ext>
            </a:extLst>
          </p:cNvPr>
          <p:cNvPicPr>
            <a:picLocks noChangeAspect="1"/>
          </p:cNvPicPr>
          <p:nvPr/>
        </p:nvPicPr>
        <p:blipFill>
          <a:blip r:embed="rId3"/>
          <a:srcRect b="63933"/>
          <a:stretch>
            <a:fillRect/>
          </a:stretch>
        </p:blipFill>
        <p:spPr>
          <a:xfrm>
            <a:off x="692173" y="2886692"/>
            <a:ext cx="6603321" cy="1084616"/>
          </a:xfrm>
          <a:prstGeom prst="rect">
            <a:avLst/>
          </a:prstGeom>
        </p:spPr>
      </p:pic>
      <p:pic>
        <p:nvPicPr>
          <p:cNvPr id="9" name="Picture 8">
            <a:extLst>
              <a:ext uri="{FF2B5EF4-FFF2-40B4-BE49-F238E27FC236}">
                <a16:creationId xmlns:a16="http://schemas.microsoft.com/office/drawing/2014/main" id="{714BBD61-6025-F45A-4AB9-F2E23058CB65}"/>
              </a:ext>
            </a:extLst>
          </p:cNvPr>
          <p:cNvPicPr>
            <a:picLocks noChangeAspect="1"/>
          </p:cNvPicPr>
          <p:nvPr/>
        </p:nvPicPr>
        <p:blipFill>
          <a:blip r:embed="rId3"/>
          <a:srcRect t="63933"/>
          <a:stretch>
            <a:fillRect/>
          </a:stretch>
        </p:blipFill>
        <p:spPr>
          <a:xfrm>
            <a:off x="692172" y="4059902"/>
            <a:ext cx="6603322" cy="1084617"/>
          </a:xfrm>
          <a:prstGeom prst="rect">
            <a:avLst/>
          </a:prstGeom>
        </p:spPr>
      </p:pic>
    </p:spTree>
    <p:extLst>
      <p:ext uri="{BB962C8B-B14F-4D97-AF65-F5344CB8AC3E}">
        <p14:creationId xmlns:p14="http://schemas.microsoft.com/office/powerpoint/2010/main" val="3083269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549B6-082E-AF19-C05A-234AAE933B6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651C2E2-4514-8F35-5BEC-B02143478E1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*git merge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Combine Work</a:t>
            </a:r>
          </a:p>
        </p:txBody>
      </p:sp>
      <p:sp>
        <p:nvSpPr>
          <p:cNvPr id="3" name="object 5">
            <a:extLst>
              <a:ext uri="{FF2B5EF4-FFF2-40B4-BE49-F238E27FC236}">
                <a16:creationId xmlns:a16="http://schemas.microsoft.com/office/drawing/2014/main" id="{A943C750-0543-BF73-8460-AE1FC85D6EB2}"/>
              </a:ext>
            </a:extLst>
          </p:cNvPr>
          <p:cNvSpPr txBox="1"/>
          <p:nvPr/>
        </p:nvSpPr>
        <p:spPr>
          <a:xfrm>
            <a:off x="692173" y="1455615"/>
            <a:ext cx="10327819" cy="1342483"/>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git merge is used to combine changes from one branch into another.</a:t>
            </a:r>
          </a:p>
          <a:p>
            <a:pPr marL="342900" indent="-342900">
              <a:lnSpc>
                <a:spcPct val="150000"/>
              </a:lnSpc>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Typically used to merge feature branches back into the main branch.</a:t>
            </a:r>
          </a:p>
          <a:p>
            <a:pPr>
              <a:lnSpc>
                <a:spcPct val="150000"/>
              </a:lnSpc>
              <a:defRPr sz="1800"/>
            </a:pPr>
            <a:r>
              <a:rPr lang="en-US" sz="2000" b="1" dirty="0">
                <a:latin typeface="Times New Roman" panose="02020603050405020304" pitchFamily="18" charset="0"/>
                <a:cs typeface="Times New Roman" panose="02020603050405020304" pitchFamily="18" charset="0"/>
              </a:rPr>
              <a:t>Example :</a:t>
            </a:r>
            <a:endParaRPr lang="en-IN" sz="2000" b="1" dirty="0">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B44B4761-16D0-8EB4-621E-DC8A5AD1298F}"/>
              </a:ext>
            </a:extLst>
          </p:cNvPr>
          <p:cNvSpPr txBox="1"/>
          <p:nvPr/>
        </p:nvSpPr>
        <p:spPr>
          <a:xfrm>
            <a:off x="692173" y="5177494"/>
            <a:ext cx="10388779" cy="419154"/>
          </a:xfrm>
          <a:prstGeom prst="rect">
            <a:avLst/>
          </a:prstGeom>
        </p:spPr>
        <p:txBody>
          <a:bodyPr vert="horz" wrap="square" lIns="0" tIns="12700" rIns="0" bIns="0" rtlCol="0">
            <a:spAutoFit/>
          </a:bodyPr>
          <a:lstStyle/>
          <a:p>
            <a:pPr>
              <a:lnSpc>
                <a:spcPct val="150000"/>
              </a:lnSpc>
              <a:defRPr sz="1800"/>
            </a:pPr>
            <a:r>
              <a:rPr lang="en-US" sz="2000" b="1" dirty="0">
                <a:solidFill>
                  <a:srgbClr val="0066CC"/>
                </a:solidFill>
                <a:latin typeface="Times New Roman" panose="02020603050405020304" pitchFamily="18" charset="0"/>
                <a:cs typeface="Times New Roman" panose="02020603050405020304" pitchFamily="18" charset="0"/>
              </a:rPr>
              <a:t>Integrates work while preserving history.</a:t>
            </a:r>
            <a:endParaRPr lang="en-IN" sz="2000" b="1" dirty="0">
              <a:solidFill>
                <a:srgbClr val="0066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53B8320-D7C9-D267-3DE5-15C72130D8E3}"/>
              </a:ext>
            </a:extLst>
          </p:cNvPr>
          <p:cNvPicPr>
            <a:picLocks noChangeAspect="1"/>
          </p:cNvPicPr>
          <p:nvPr/>
        </p:nvPicPr>
        <p:blipFill>
          <a:blip r:embed="rId3"/>
          <a:stretch>
            <a:fillRect/>
          </a:stretch>
        </p:blipFill>
        <p:spPr>
          <a:xfrm>
            <a:off x="692173" y="3123711"/>
            <a:ext cx="7061376" cy="1721883"/>
          </a:xfrm>
          <a:prstGeom prst="rect">
            <a:avLst/>
          </a:prstGeom>
        </p:spPr>
      </p:pic>
    </p:spTree>
    <p:extLst>
      <p:ext uri="{BB962C8B-B14F-4D97-AF65-F5344CB8AC3E}">
        <p14:creationId xmlns:p14="http://schemas.microsoft.com/office/powerpoint/2010/main" val="1163538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A2DCD-30C2-E7BB-823F-C7E13AB30E4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B784F0-1853-F7E5-F18B-CE8A0CBAB49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Benefits of Branching &amp; Merging</a:t>
            </a:r>
          </a:p>
        </p:txBody>
      </p:sp>
      <p:sp>
        <p:nvSpPr>
          <p:cNvPr id="3" name="object 5">
            <a:extLst>
              <a:ext uri="{FF2B5EF4-FFF2-40B4-BE49-F238E27FC236}">
                <a16:creationId xmlns:a16="http://schemas.microsoft.com/office/drawing/2014/main" id="{1B53A7FA-5D41-AB13-99D7-8D3B4E0B010F}"/>
              </a:ext>
            </a:extLst>
          </p:cNvPr>
          <p:cNvSpPr txBox="1"/>
          <p:nvPr/>
        </p:nvSpPr>
        <p:spPr>
          <a:xfrm>
            <a:off x="692174" y="1195149"/>
            <a:ext cx="10515688" cy="1714637"/>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1900" dirty="0">
                <a:latin typeface="Times New Roman" panose="02020603050405020304" pitchFamily="18" charset="0"/>
                <a:cs typeface="Times New Roman" panose="02020603050405020304" pitchFamily="18" charset="0"/>
              </a:rPr>
              <a:t>Enables parallel development by different team members.</a:t>
            </a:r>
          </a:p>
          <a:p>
            <a:pPr marL="342900" indent="-342900">
              <a:lnSpc>
                <a:spcPct val="150000"/>
              </a:lnSpc>
              <a:buFont typeface="Arial" panose="020B0604020202020204" pitchFamily="34" charset="0"/>
              <a:buChar char="•"/>
              <a:defRPr sz="1800"/>
            </a:pPr>
            <a:r>
              <a:rPr lang="en-US" sz="1900" dirty="0">
                <a:latin typeface="Times New Roman" panose="02020603050405020304" pitchFamily="18" charset="0"/>
                <a:cs typeface="Times New Roman" panose="02020603050405020304" pitchFamily="18" charset="0"/>
              </a:rPr>
              <a:t>Supports safe experimentation without affecting the stable version.</a:t>
            </a:r>
          </a:p>
          <a:p>
            <a:pPr marL="342900" indent="-342900">
              <a:lnSpc>
                <a:spcPct val="150000"/>
              </a:lnSpc>
              <a:buFont typeface="Arial" panose="020B0604020202020204" pitchFamily="34" charset="0"/>
              <a:buChar char="•"/>
              <a:defRPr sz="1800"/>
            </a:pPr>
            <a:r>
              <a:rPr lang="en-US" sz="1900" dirty="0">
                <a:latin typeface="Times New Roman" panose="02020603050405020304" pitchFamily="18" charset="0"/>
                <a:cs typeface="Times New Roman" panose="02020603050405020304" pitchFamily="18" charset="0"/>
              </a:rPr>
              <a:t>Simplifies feature integration and bug fixes.</a:t>
            </a:r>
          </a:p>
          <a:p>
            <a:pPr marL="342900" indent="-342900">
              <a:lnSpc>
                <a:spcPct val="150000"/>
              </a:lnSpc>
              <a:buFont typeface="Arial" panose="020B0604020202020204" pitchFamily="34" charset="0"/>
              <a:buChar char="•"/>
              <a:defRPr sz="1800"/>
            </a:pPr>
            <a:r>
              <a:rPr lang="en-US" sz="1900" dirty="0">
                <a:latin typeface="Times New Roman" panose="02020603050405020304" pitchFamily="18" charset="0"/>
                <a:cs typeface="Times New Roman" panose="02020603050405020304" pitchFamily="18" charset="0"/>
              </a:rPr>
              <a:t>Encourages clean and organized workflows.</a:t>
            </a:r>
            <a:endParaRPr lang="en-US" sz="1900" dirty="0">
              <a:solidFill>
                <a:srgbClr val="0066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9175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Git Commit Message</a:t>
            </a:r>
          </a:p>
        </p:txBody>
      </p:sp>
    </p:spTree>
    <p:extLst>
      <p:ext uri="{BB962C8B-B14F-4D97-AF65-F5344CB8AC3E}">
        <p14:creationId xmlns:p14="http://schemas.microsoft.com/office/powerpoint/2010/main" val="2160697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228306"/>
            <a:ext cx="10573667" cy="1804148"/>
          </a:xfrm>
          <a:prstGeom prst="rect">
            <a:avLst/>
          </a:prstGeom>
        </p:spPr>
        <p:txBody>
          <a:bodyPr vert="horz" wrap="square" lIns="0" tIns="12700" rIns="0" bIns="0" rtlCol="0">
            <a:spAutoFit/>
          </a:bodyPr>
          <a:lstStyle/>
          <a:p>
            <a:pPr>
              <a:lnSpc>
                <a:spcPct val="150000"/>
              </a:lnSpc>
              <a:defRPr sz="1800"/>
            </a:pPr>
            <a:r>
              <a:rPr lang="en-US" sz="2000" dirty="0">
                <a:latin typeface="Times New Roman" panose="02020603050405020304" pitchFamily="18" charset="0"/>
                <a:cs typeface="Times New Roman" panose="02020603050405020304" pitchFamily="18" charset="0"/>
              </a:rPr>
              <a:t>Commit messages are the written record of every change made in a project’s codebase. They act like a logbook that explains not just what was changed, but often why. Writing meaningful commit messages helps both the individual developer and the entire team by providing context, improving code traceability, and supporting smoother collaboration in the long run.</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are Git Commit Messages?</a:t>
            </a:r>
          </a:p>
        </p:txBody>
      </p:sp>
      <p:sp>
        <p:nvSpPr>
          <p:cNvPr id="5" name="Title 1">
            <a:extLst>
              <a:ext uri="{FF2B5EF4-FFF2-40B4-BE49-F238E27FC236}">
                <a16:creationId xmlns:a16="http://schemas.microsoft.com/office/drawing/2014/main" id="{48F72ED1-4C66-D891-3AD6-EE28BC51A6BB}"/>
              </a:ext>
            </a:extLst>
          </p:cNvPr>
          <p:cNvSpPr txBox="1">
            <a:spLocks/>
          </p:cNvSpPr>
          <p:nvPr/>
        </p:nvSpPr>
        <p:spPr>
          <a:xfrm>
            <a:off x="692174" y="3256888"/>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Why Commit Messages Matter?</a:t>
            </a:r>
          </a:p>
        </p:txBody>
      </p:sp>
      <p:sp>
        <p:nvSpPr>
          <p:cNvPr id="6" name="object 5">
            <a:extLst>
              <a:ext uri="{FF2B5EF4-FFF2-40B4-BE49-F238E27FC236}">
                <a16:creationId xmlns:a16="http://schemas.microsoft.com/office/drawing/2014/main" id="{91AA9BDB-116A-E42A-83F1-7117621B3ED1}"/>
              </a:ext>
            </a:extLst>
          </p:cNvPr>
          <p:cNvSpPr txBox="1"/>
          <p:nvPr/>
        </p:nvSpPr>
        <p:spPr>
          <a:xfrm>
            <a:off x="692174" y="3921810"/>
            <a:ext cx="10573667" cy="1804148"/>
          </a:xfrm>
          <a:prstGeom prst="rect">
            <a:avLst/>
          </a:prstGeom>
        </p:spPr>
        <p:txBody>
          <a:bodyPr vert="horz" wrap="square" lIns="0" tIns="12700" rIns="0" bIns="0"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 developers understand the purpose of changes.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Make it easier to track bugs and fixes later.</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 team communication in large projects.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 context when reviewing past changes.</a:t>
            </a:r>
          </a:p>
        </p:txBody>
      </p:sp>
    </p:spTree>
    <p:extLst>
      <p:ext uri="{BB962C8B-B14F-4D97-AF65-F5344CB8AC3E}">
        <p14:creationId xmlns:p14="http://schemas.microsoft.com/office/powerpoint/2010/main" val="358778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702E-07AE-70E9-EB11-9E721BEE3D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01E1AF-273A-9EB4-BDBA-C7D8A3E432EB}"/>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Best Practices for Writing Commit Messages</a:t>
            </a:r>
          </a:p>
        </p:txBody>
      </p:sp>
      <p:sp>
        <p:nvSpPr>
          <p:cNvPr id="3" name="object 5">
            <a:extLst>
              <a:ext uri="{FF2B5EF4-FFF2-40B4-BE49-F238E27FC236}">
                <a16:creationId xmlns:a16="http://schemas.microsoft.com/office/drawing/2014/main" id="{33FE1551-5048-9F12-2E51-5D6F3236A362}"/>
              </a:ext>
            </a:extLst>
          </p:cNvPr>
          <p:cNvSpPr txBox="1"/>
          <p:nvPr/>
        </p:nvSpPr>
        <p:spPr>
          <a:xfrm>
            <a:off x="692174" y="1322611"/>
            <a:ext cx="10327819" cy="4352474"/>
          </a:xfrm>
          <a:prstGeom prst="rect">
            <a:avLst/>
          </a:prstGeom>
        </p:spPr>
        <p:txBody>
          <a:bodyPr vert="horz" wrap="square" lIns="0" tIns="12700" rIns="0" bIns="0" rtlCol="0">
            <a:spAutoFit/>
          </a:bodyPr>
          <a:lstStyle/>
          <a:p>
            <a:pPr marL="342900" indent="-342900">
              <a:spcBef>
                <a:spcPts val="200"/>
              </a:spcBef>
              <a:spcAft>
                <a:spcPts val="2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Start with a short summary line (50–72 characters max) that explains the change at a glance, making it easy to scan through history.</a:t>
            </a:r>
          </a:p>
          <a:p>
            <a:pPr marL="342900" indent="-342900">
              <a:spcBef>
                <a:spcPts val="200"/>
              </a:spcBef>
              <a:spcAft>
                <a:spcPts val="2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Use imperative mood in the subject line, e.g., “Add login validation” instead of “Added” or “Adding.” This is a convention that aligns commit messages with commands.</a:t>
            </a:r>
          </a:p>
          <a:p>
            <a:pPr marL="342900" indent="-342900">
              <a:spcBef>
                <a:spcPts val="600"/>
              </a:spcBef>
              <a:spcAft>
                <a:spcPts val="6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Capitalize the first letter of the summary for consistency and readability.</a:t>
            </a:r>
          </a:p>
          <a:p>
            <a:pPr marL="342900" indent="-342900">
              <a:spcBef>
                <a:spcPts val="200"/>
              </a:spcBef>
              <a:spcAft>
                <a:spcPts val="2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Avoid vague words like “fix,” “update,” or “changes” without context. Instead, specify what was fixed or updated.</a:t>
            </a:r>
          </a:p>
          <a:p>
            <a:pPr marL="342900" indent="-342900">
              <a:spcBef>
                <a:spcPts val="200"/>
              </a:spcBef>
              <a:spcAft>
                <a:spcPts val="2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Provide a detailed description in the body (if needed) to explain why the change was made, possible impacts, or alternatives considered.</a:t>
            </a:r>
          </a:p>
          <a:p>
            <a:pPr marL="342900" indent="-342900">
              <a:spcBef>
                <a:spcPts val="200"/>
              </a:spcBef>
              <a:spcAft>
                <a:spcPts val="2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Separate subject and body with a blank line for proper formatting in Git.</a:t>
            </a:r>
          </a:p>
          <a:p>
            <a:pPr marL="342900" indent="-342900">
              <a:spcBef>
                <a:spcPts val="200"/>
              </a:spcBef>
              <a:spcAft>
                <a:spcPts val="2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Reference issue/task IDs (e.g., Fix #321 or JIRA-456) when integrating with project management tools so that commits link directly to tasks.</a:t>
            </a:r>
          </a:p>
          <a:p>
            <a:pPr marL="342900" indent="-342900">
              <a:spcBef>
                <a:spcPts val="200"/>
              </a:spcBef>
              <a:spcAft>
                <a:spcPts val="200"/>
              </a:spcAft>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Keep commits atomic: one commit should represent one logical change, making history easier to navigate and revert if necessary.</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594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2E30-5BC5-A06A-AD3C-1DFDD1F5D1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A07E729-D570-CF14-8CE3-ED48E5B1A81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a:t>
            </a:r>
          </a:p>
        </p:txBody>
      </p:sp>
      <p:sp>
        <p:nvSpPr>
          <p:cNvPr id="3" name="object 5">
            <a:extLst>
              <a:ext uri="{FF2B5EF4-FFF2-40B4-BE49-F238E27FC236}">
                <a16:creationId xmlns:a16="http://schemas.microsoft.com/office/drawing/2014/main" id="{AB15A9BF-FEEC-ADBC-344A-3D6B7D5E9152}"/>
              </a:ext>
            </a:extLst>
          </p:cNvPr>
          <p:cNvSpPr txBox="1"/>
          <p:nvPr/>
        </p:nvSpPr>
        <p:spPr>
          <a:xfrm>
            <a:off x="692174" y="1130108"/>
            <a:ext cx="10327819" cy="289823"/>
          </a:xfrm>
          <a:prstGeom prst="rect">
            <a:avLst/>
          </a:prstGeom>
        </p:spPr>
        <p:txBody>
          <a:bodyPr vert="horz" wrap="square" lIns="0" tIns="12700" rIns="0" bIns="0" rtlCol="0">
            <a:spAutoFit/>
          </a:bodyPr>
          <a:lstStyle/>
          <a:p>
            <a:pPr>
              <a:spcBef>
                <a:spcPts val="200"/>
              </a:spcBef>
              <a:spcAft>
                <a:spcPts val="200"/>
              </a:spcAft>
              <a:defRPr sz="1800"/>
            </a:pPr>
            <a:r>
              <a:rPr lang="en-US" b="1" dirty="0">
                <a:solidFill>
                  <a:srgbClr val="0066CC"/>
                </a:solidFill>
                <a:latin typeface="Times New Roman" panose="02020603050405020304" pitchFamily="18" charset="0"/>
                <a:cs typeface="Times New Roman" panose="02020603050405020304" pitchFamily="18" charset="0"/>
              </a:rPr>
              <a:t>Bad Commit Message</a:t>
            </a:r>
            <a:endParaRPr lang="en-IN" b="1" dirty="0">
              <a:solidFill>
                <a:srgbClr val="0066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6D913E-813F-6197-0D37-91C9DB83A0C2}"/>
              </a:ext>
            </a:extLst>
          </p:cNvPr>
          <p:cNvPicPr>
            <a:picLocks noChangeAspect="1"/>
          </p:cNvPicPr>
          <p:nvPr/>
        </p:nvPicPr>
        <p:blipFill>
          <a:blip r:embed="rId3"/>
          <a:srcRect b="64202"/>
          <a:stretch>
            <a:fillRect/>
          </a:stretch>
        </p:blipFill>
        <p:spPr>
          <a:xfrm>
            <a:off x="692174" y="1546168"/>
            <a:ext cx="7568323" cy="2013911"/>
          </a:xfrm>
          <a:prstGeom prst="rect">
            <a:avLst/>
          </a:prstGeom>
        </p:spPr>
      </p:pic>
      <p:pic>
        <p:nvPicPr>
          <p:cNvPr id="7" name="Picture 6">
            <a:extLst>
              <a:ext uri="{FF2B5EF4-FFF2-40B4-BE49-F238E27FC236}">
                <a16:creationId xmlns:a16="http://schemas.microsoft.com/office/drawing/2014/main" id="{5EA56678-E023-6932-8CDC-F67361ECD400}"/>
              </a:ext>
            </a:extLst>
          </p:cNvPr>
          <p:cNvPicPr>
            <a:picLocks noChangeAspect="1"/>
          </p:cNvPicPr>
          <p:nvPr/>
        </p:nvPicPr>
        <p:blipFill>
          <a:blip r:embed="rId3"/>
          <a:srcRect t="64202"/>
          <a:stretch>
            <a:fillRect/>
          </a:stretch>
        </p:blipFill>
        <p:spPr>
          <a:xfrm>
            <a:off x="692174" y="4095943"/>
            <a:ext cx="7568323" cy="2013911"/>
          </a:xfrm>
          <a:prstGeom prst="rect">
            <a:avLst/>
          </a:prstGeom>
        </p:spPr>
      </p:pic>
      <p:sp>
        <p:nvSpPr>
          <p:cNvPr id="8" name="object 5">
            <a:extLst>
              <a:ext uri="{FF2B5EF4-FFF2-40B4-BE49-F238E27FC236}">
                <a16:creationId xmlns:a16="http://schemas.microsoft.com/office/drawing/2014/main" id="{69E3393D-D3FB-446F-F9F9-A7FC32FE26EC}"/>
              </a:ext>
            </a:extLst>
          </p:cNvPr>
          <p:cNvSpPr txBox="1"/>
          <p:nvPr/>
        </p:nvSpPr>
        <p:spPr>
          <a:xfrm>
            <a:off x="692174" y="3683099"/>
            <a:ext cx="10327819" cy="289823"/>
          </a:xfrm>
          <a:prstGeom prst="rect">
            <a:avLst/>
          </a:prstGeom>
        </p:spPr>
        <p:txBody>
          <a:bodyPr vert="horz" wrap="square" lIns="0" tIns="12700" rIns="0" bIns="0" rtlCol="0">
            <a:spAutoFit/>
          </a:bodyPr>
          <a:lstStyle/>
          <a:p>
            <a:pPr>
              <a:spcBef>
                <a:spcPts val="200"/>
              </a:spcBef>
              <a:spcAft>
                <a:spcPts val="200"/>
              </a:spcAft>
              <a:defRPr sz="1800"/>
            </a:pPr>
            <a:r>
              <a:rPr lang="en-US" b="1" dirty="0">
                <a:solidFill>
                  <a:srgbClr val="0066CC"/>
                </a:solidFill>
                <a:latin typeface="Times New Roman" panose="02020603050405020304" pitchFamily="18" charset="0"/>
                <a:cs typeface="Times New Roman" panose="02020603050405020304" pitchFamily="18" charset="0"/>
              </a:rPr>
              <a:t>Good Commit Message</a:t>
            </a:r>
            <a:endParaRPr lang="en-IN" b="1" dirty="0">
              <a:solidFill>
                <a:srgbClr val="0066CC"/>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E4808F9-BEC9-0A64-52C1-08DA8987ACEE}"/>
              </a:ext>
            </a:extLst>
          </p:cNvPr>
          <p:cNvSpPr txBox="1"/>
          <p:nvPr/>
        </p:nvSpPr>
        <p:spPr>
          <a:xfrm>
            <a:off x="8766916" y="1419931"/>
            <a:ext cx="2771703" cy="3785652"/>
          </a:xfrm>
          <a:prstGeom prst="rect">
            <a:avLst/>
          </a:prstGeom>
          <a:noFill/>
        </p:spPr>
        <p:txBody>
          <a:bodyPr wrap="square" rtlCol="0">
            <a:spAutoFit/>
          </a:bodyPr>
          <a:lstStyle/>
          <a:p>
            <a:pPr fontAlgn="base"/>
            <a:r>
              <a:rPr lang="en-US" sz="2000" b="1" dirty="0">
                <a:solidFill>
                  <a:srgbClr val="0066CC"/>
                </a:solidFill>
                <a:latin typeface="Times New Roman" panose="02020603050405020304" pitchFamily="18" charset="0"/>
                <a:cs typeface="Times New Roman" panose="02020603050405020304" pitchFamily="18" charset="0"/>
              </a:rPr>
              <a:t>Which would you rather read?</a:t>
            </a:r>
          </a:p>
          <a:p>
            <a:pPr fontAlgn="base"/>
            <a:endParaRPr lang="en-US" sz="2000" b="1"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The 1</a:t>
            </a:r>
            <a:r>
              <a:rPr lang="en-US" sz="2000" baseline="30000" dirty="0">
                <a:latin typeface="Times New Roman" panose="02020603050405020304" pitchFamily="18" charset="0"/>
                <a:cs typeface="Times New Roman" panose="02020603050405020304" pitchFamily="18" charset="0"/>
              </a:rPr>
              <a:t>st</a:t>
            </a:r>
            <a:r>
              <a:rPr lang="en-US" sz="2000" dirty="0">
                <a:latin typeface="Times New Roman" panose="02020603050405020304" pitchFamily="18" charset="0"/>
                <a:cs typeface="Times New Roman" panose="02020603050405020304" pitchFamily="18" charset="0"/>
              </a:rPr>
              <a:t> one varies in length and form</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The 2</a:t>
            </a:r>
            <a:r>
              <a:rPr lang="en-US" sz="2000" baseline="30000" dirty="0">
                <a:latin typeface="Times New Roman" panose="02020603050405020304" pitchFamily="18" charset="0"/>
                <a:cs typeface="Times New Roman" panose="02020603050405020304" pitchFamily="18" charset="0"/>
              </a:rPr>
              <a:t>nd</a:t>
            </a:r>
            <a:r>
              <a:rPr lang="en-US" sz="2000" dirty="0">
                <a:latin typeface="Times New Roman" panose="02020603050405020304" pitchFamily="18" charset="0"/>
                <a:cs typeface="Times New Roman" panose="02020603050405020304" pitchFamily="18" charset="0"/>
              </a:rPr>
              <a:t> one is concise and consistent.</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Obviously, 2</a:t>
            </a:r>
            <a:r>
              <a:rPr lang="en-US" sz="2000" baseline="30000" dirty="0">
                <a:latin typeface="Times New Roman" panose="02020603050405020304" pitchFamily="18" charset="0"/>
                <a:cs typeface="Times New Roman" panose="02020603050405020304" pitchFamily="18" charset="0"/>
              </a:rPr>
              <a:t>nd</a:t>
            </a:r>
            <a:r>
              <a:rPr lang="en-US" sz="2000" dirty="0">
                <a:latin typeface="Times New Roman" panose="02020603050405020304" pitchFamily="18" charset="0"/>
                <a:cs typeface="Times New Roman" panose="02020603050405020304" pitchFamily="18" charset="0"/>
              </a:rPr>
              <a:t> one because its clean and understandable</a:t>
            </a:r>
          </a:p>
        </p:txBody>
      </p:sp>
    </p:spTree>
    <p:extLst>
      <p:ext uri="{BB962C8B-B14F-4D97-AF65-F5344CB8AC3E}">
        <p14:creationId xmlns:p14="http://schemas.microsoft.com/office/powerpoint/2010/main" val="3789261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Commit often, push regularly</a:t>
            </a:r>
          </a:p>
        </p:txBody>
      </p:sp>
    </p:spTree>
    <p:extLst>
      <p:ext uri="{BB962C8B-B14F-4D97-AF65-F5344CB8AC3E}">
        <p14:creationId xmlns:p14="http://schemas.microsoft.com/office/powerpoint/2010/main" val="1746579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228306"/>
            <a:ext cx="10573667" cy="1342483"/>
          </a:xfrm>
          <a:prstGeom prst="rect">
            <a:avLst/>
          </a:prstGeom>
        </p:spPr>
        <p:txBody>
          <a:bodyPr vert="horz" wrap="square" lIns="0" tIns="12700" rIns="0" bIns="0" rtlCol="0">
            <a:spAutoFit/>
          </a:bodyPr>
          <a:lstStyle/>
          <a:p>
            <a:pPr>
              <a:lnSpc>
                <a:spcPct val="150000"/>
              </a:lnSpc>
              <a:defRPr sz="1800"/>
            </a:pPr>
            <a:r>
              <a:rPr lang="en-US" sz="2000" dirty="0">
                <a:latin typeface="Times New Roman" panose="02020603050405020304" pitchFamily="18" charset="0"/>
                <a:cs typeface="Times New Roman" panose="02020603050405020304" pitchFamily="18" charset="0"/>
              </a:rPr>
              <a:t>In Git, commits and pushes are the foundation of tracking and sharing progress. Following the practice of committing often and pushing regularly ensures that development work is well-documented, safe, and collaborative.</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Commit often, push regularly mean?</a:t>
            </a:r>
          </a:p>
        </p:txBody>
      </p:sp>
    </p:spTree>
    <p:extLst>
      <p:ext uri="{BB962C8B-B14F-4D97-AF65-F5344CB8AC3E}">
        <p14:creationId xmlns:p14="http://schemas.microsoft.com/office/powerpoint/2010/main" val="976045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702E-07AE-70E9-EB11-9E721BEE3D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01E1AF-273A-9EB4-BDBA-C7D8A3E432EB}"/>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Commit Often</a:t>
            </a:r>
          </a:p>
        </p:txBody>
      </p:sp>
      <p:sp>
        <p:nvSpPr>
          <p:cNvPr id="3" name="object 5">
            <a:extLst>
              <a:ext uri="{FF2B5EF4-FFF2-40B4-BE49-F238E27FC236}">
                <a16:creationId xmlns:a16="http://schemas.microsoft.com/office/drawing/2014/main" id="{33FE1551-5048-9F12-2E51-5D6F3236A362}"/>
              </a:ext>
            </a:extLst>
          </p:cNvPr>
          <p:cNvSpPr txBox="1"/>
          <p:nvPr/>
        </p:nvSpPr>
        <p:spPr>
          <a:xfrm>
            <a:off x="692174" y="1322611"/>
            <a:ext cx="10327819" cy="2881366"/>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Committing often means breaking work into small, logical chunks and recording them frequently.</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Each commit should represent a clear and meaningful change (e.g., fixing a bug, adding a feature, or updating documentation).</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Frequent commits make it easier to understand project history, isolate issues, and roll back if something goes wrong.</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This approach encourages incremental progress instead of large, risky changes.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770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124A3-DAE9-5D2A-A4A0-2B9795CFDF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B72BDE3-4CBD-4D3C-23EE-EBE9D974C79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Push Regularly</a:t>
            </a:r>
          </a:p>
        </p:txBody>
      </p:sp>
      <p:sp>
        <p:nvSpPr>
          <p:cNvPr id="3" name="object 5">
            <a:extLst>
              <a:ext uri="{FF2B5EF4-FFF2-40B4-BE49-F238E27FC236}">
                <a16:creationId xmlns:a16="http://schemas.microsoft.com/office/drawing/2014/main" id="{FFE307B9-AEF0-EF55-1B0E-042E36FBD8A8}"/>
              </a:ext>
            </a:extLst>
          </p:cNvPr>
          <p:cNvSpPr txBox="1"/>
          <p:nvPr/>
        </p:nvSpPr>
        <p:spPr>
          <a:xfrm>
            <a:off x="692174" y="1322611"/>
            <a:ext cx="10327819" cy="2419701"/>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Pushing regularly ensures your commits are shared with the remote repository so teammates can access your latest work.</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Regular pushes reduce the chance of merge conflicts, since everyone’s changes stay in sync.</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Frequent synchronization acts as a backup, protecting against data loss if your local system fails.</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Teams benefit from faster collaboration, as work is visible and reviewable in real time.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3738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DDE68-2A18-1120-E618-41DA305224D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0493009-9C9C-158E-12E4-C7D729B32CC2}"/>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Benefits of This Practice</a:t>
            </a:r>
          </a:p>
        </p:txBody>
      </p:sp>
      <p:sp>
        <p:nvSpPr>
          <p:cNvPr id="3" name="object 5">
            <a:extLst>
              <a:ext uri="{FF2B5EF4-FFF2-40B4-BE49-F238E27FC236}">
                <a16:creationId xmlns:a16="http://schemas.microsoft.com/office/drawing/2014/main" id="{9DAA51DB-B033-240A-B48D-107AF0FD6756}"/>
              </a:ext>
            </a:extLst>
          </p:cNvPr>
          <p:cNvSpPr txBox="1"/>
          <p:nvPr/>
        </p:nvSpPr>
        <p:spPr>
          <a:xfrm>
            <a:off x="692174" y="1322611"/>
            <a:ext cx="10327819" cy="2470997"/>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Improves Collaboration: </a:t>
            </a:r>
            <a:r>
              <a:rPr lang="en-US" sz="2000" dirty="0">
                <a:latin typeface="Times New Roman" panose="02020603050405020304" pitchFamily="18" charset="0"/>
                <a:cs typeface="Times New Roman" panose="02020603050405020304" pitchFamily="18" charset="0"/>
              </a:rPr>
              <a:t>Keeps all team members aligned and updated.</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Ensures Safety: </a:t>
            </a:r>
            <a:r>
              <a:rPr lang="en-US" sz="2000" dirty="0">
                <a:latin typeface="Times New Roman" panose="02020603050405020304" pitchFamily="18" charset="0"/>
                <a:cs typeface="Times New Roman" panose="02020603050405020304" pitchFamily="18" charset="0"/>
              </a:rPr>
              <a:t>Local changes are backed up on the remote server.</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Speeds Up Reviews: </a:t>
            </a:r>
            <a:r>
              <a:rPr lang="en-US" sz="2000" dirty="0">
                <a:latin typeface="Times New Roman" panose="02020603050405020304" pitchFamily="18" charset="0"/>
                <a:cs typeface="Times New Roman" panose="02020603050405020304" pitchFamily="18" charset="0"/>
              </a:rPr>
              <a:t>Smaller, frequent commits are easier to review.</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Reduces Errors: </a:t>
            </a:r>
            <a:r>
              <a:rPr lang="en-US" sz="2000" dirty="0">
                <a:latin typeface="Times New Roman" panose="02020603050405020304" pitchFamily="18" charset="0"/>
                <a:cs typeface="Times New Roman" panose="02020603050405020304" pitchFamily="18" charset="0"/>
              </a:rPr>
              <a:t>Minimizes large conflicts by integrating changes early.</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Supports Agility: </a:t>
            </a:r>
            <a:r>
              <a:rPr lang="en-US" sz="2000" dirty="0">
                <a:latin typeface="Times New Roman" panose="02020603050405020304" pitchFamily="18" charset="0"/>
                <a:cs typeface="Times New Roman" panose="02020603050405020304" pitchFamily="18" charset="0"/>
              </a:rPr>
              <a:t>Encourages small, iterative progress consistent with Agile principles.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7338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2E30-5BC5-A06A-AD3C-1DFDD1F5D1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A07E729-D570-CF14-8CE3-ED48E5B1A81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 Workflow</a:t>
            </a:r>
          </a:p>
        </p:txBody>
      </p:sp>
      <p:sp>
        <p:nvSpPr>
          <p:cNvPr id="3" name="object 5">
            <a:extLst>
              <a:ext uri="{FF2B5EF4-FFF2-40B4-BE49-F238E27FC236}">
                <a16:creationId xmlns:a16="http://schemas.microsoft.com/office/drawing/2014/main" id="{AB15A9BF-FEEC-ADBC-344A-3D6B7D5E9152}"/>
              </a:ext>
            </a:extLst>
          </p:cNvPr>
          <p:cNvSpPr txBox="1"/>
          <p:nvPr/>
        </p:nvSpPr>
        <p:spPr>
          <a:xfrm>
            <a:off x="692174" y="1130108"/>
            <a:ext cx="10327819" cy="289823"/>
          </a:xfrm>
          <a:prstGeom prst="rect">
            <a:avLst/>
          </a:prstGeom>
        </p:spPr>
        <p:txBody>
          <a:bodyPr vert="horz" wrap="square" lIns="0" tIns="12700" rIns="0" bIns="0" rtlCol="0">
            <a:spAutoFit/>
          </a:bodyPr>
          <a:lstStyle/>
          <a:p>
            <a:pPr>
              <a:spcBef>
                <a:spcPts val="200"/>
              </a:spcBef>
              <a:spcAft>
                <a:spcPts val="200"/>
              </a:spcAft>
              <a:defRPr sz="1800"/>
            </a:pPr>
            <a:r>
              <a:rPr lang="en-US" b="1" dirty="0">
                <a:solidFill>
                  <a:srgbClr val="0066CC"/>
                </a:solidFill>
                <a:latin typeface="Times New Roman" panose="02020603050405020304" pitchFamily="18" charset="0"/>
                <a:cs typeface="Times New Roman" panose="02020603050405020304" pitchFamily="18" charset="0"/>
              </a:rPr>
              <a:t>Step 1 - Make changes in your code (fix a bug, add a feature, update docs).</a:t>
            </a:r>
            <a:endParaRPr lang="en-IN" b="1" dirty="0">
              <a:solidFill>
                <a:srgbClr val="0066CC"/>
              </a:solidFill>
              <a:latin typeface="Times New Roman" panose="02020603050405020304" pitchFamily="18" charset="0"/>
              <a:cs typeface="Times New Roman" panose="02020603050405020304" pitchFamily="18" charset="0"/>
            </a:endParaRPr>
          </a:p>
        </p:txBody>
      </p:sp>
      <p:sp>
        <p:nvSpPr>
          <p:cNvPr id="8" name="object 5">
            <a:extLst>
              <a:ext uri="{FF2B5EF4-FFF2-40B4-BE49-F238E27FC236}">
                <a16:creationId xmlns:a16="http://schemas.microsoft.com/office/drawing/2014/main" id="{69E3393D-D3FB-446F-F9F9-A7FC32FE26EC}"/>
              </a:ext>
            </a:extLst>
          </p:cNvPr>
          <p:cNvSpPr txBox="1"/>
          <p:nvPr/>
        </p:nvSpPr>
        <p:spPr>
          <a:xfrm>
            <a:off x="692174" y="1507505"/>
            <a:ext cx="10327819" cy="289823"/>
          </a:xfrm>
          <a:prstGeom prst="rect">
            <a:avLst/>
          </a:prstGeom>
        </p:spPr>
        <p:txBody>
          <a:bodyPr vert="horz" wrap="square" lIns="0" tIns="12700" rIns="0" bIns="0" rtlCol="0">
            <a:spAutoFit/>
          </a:bodyPr>
          <a:lstStyle/>
          <a:p>
            <a:pPr>
              <a:spcBef>
                <a:spcPts val="200"/>
              </a:spcBef>
              <a:spcAft>
                <a:spcPts val="200"/>
              </a:spcAft>
              <a:defRPr sz="1800"/>
            </a:pPr>
            <a:r>
              <a:rPr lang="en-US" b="1" dirty="0">
                <a:solidFill>
                  <a:srgbClr val="0066CC"/>
                </a:solidFill>
                <a:latin typeface="Times New Roman" panose="02020603050405020304" pitchFamily="18" charset="0"/>
                <a:cs typeface="Times New Roman" panose="02020603050405020304" pitchFamily="18" charset="0"/>
              </a:rPr>
              <a:t>Step 2 - Stage changes: </a:t>
            </a:r>
            <a:endParaRPr lang="en-IN" b="1" dirty="0">
              <a:solidFill>
                <a:srgbClr val="0066CC"/>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E4808F9-BEC9-0A64-52C1-08DA8987ACEE}"/>
              </a:ext>
            </a:extLst>
          </p:cNvPr>
          <p:cNvSpPr txBox="1"/>
          <p:nvPr/>
        </p:nvSpPr>
        <p:spPr>
          <a:xfrm>
            <a:off x="8429104" y="2488099"/>
            <a:ext cx="3264132" cy="1631216"/>
          </a:xfrm>
          <a:prstGeom prst="rect">
            <a:avLst/>
          </a:prstGeom>
          <a:noFill/>
        </p:spPr>
        <p:txBody>
          <a:bodyPr wrap="square" rtlCol="0">
            <a:spAutoFit/>
          </a:bodyPr>
          <a:lstStyle/>
          <a:p>
            <a:pPr fontAlgn="base"/>
            <a:r>
              <a:rPr lang="en-US" sz="2000" b="1" dirty="0">
                <a:solidFill>
                  <a:srgbClr val="0066CC"/>
                </a:solidFill>
                <a:latin typeface="Times New Roman" panose="02020603050405020304" pitchFamily="18" charset="0"/>
                <a:cs typeface="Times New Roman" panose="02020603050405020304" pitchFamily="18" charset="0"/>
              </a:rPr>
              <a:t>Tip: </a:t>
            </a:r>
            <a:r>
              <a:rPr lang="en-US" sz="2000" dirty="0">
                <a:latin typeface="Times New Roman" panose="02020603050405020304" pitchFamily="18" charset="0"/>
                <a:cs typeface="Times New Roman" panose="02020603050405020304" pitchFamily="18" charset="0"/>
              </a:rPr>
              <a:t>Repeat this cycle frequently—small commits and regular pushes keep your project history clean, organized, and collaborative.</a:t>
            </a:r>
          </a:p>
        </p:txBody>
      </p:sp>
      <p:sp>
        <p:nvSpPr>
          <p:cNvPr id="2" name="object 5">
            <a:extLst>
              <a:ext uri="{FF2B5EF4-FFF2-40B4-BE49-F238E27FC236}">
                <a16:creationId xmlns:a16="http://schemas.microsoft.com/office/drawing/2014/main" id="{BB7BF909-6901-19F7-4BD3-25B826E09A7E}"/>
              </a:ext>
            </a:extLst>
          </p:cNvPr>
          <p:cNvSpPr txBox="1"/>
          <p:nvPr/>
        </p:nvSpPr>
        <p:spPr>
          <a:xfrm>
            <a:off x="692172" y="2939402"/>
            <a:ext cx="10327819" cy="289823"/>
          </a:xfrm>
          <a:prstGeom prst="rect">
            <a:avLst/>
          </a:prstGeom>
        </p:spPr>
        <p:txBody>
          <a:bodyPr vert="horz" wrap="square" lIns="0" tIns="12700" rIns="0" bIns="0" rtlCol="0">
            <a:spAutoFit/>
          </a:bodyPr>
          <a:lstStyle/>
          <a:p>
            <a:pPr>
              <a:spcBef>
                <a:spcPts val="200"/>
              </a:spcBef>
              <a:spcAft>
                <a:spcPts val="200"/>
              </a:spcAft>
              <a:defRPr sz="1800"/>
            </a:pPr>
            <a:r>
              <a:rPr lang="en-US" b="1" dirty="0">
                <a:solidFill>
                  <a:srgbClr val="0066CC"/>
                </a:solidFill>
                <a:latin typeface="Times New Roman" panose="02020603050405020304" pitchFamily="18" charset="0"/>
                <a:cs typeface="Times New Roman" panose="02020603050405020304" pitchFamily="18" charset="0"/>
              </a:rPr>
              <a:t>Step 3 - Commit changes:</a:t>
            </a:r>
            <a:endParaRPr lang="en-IN" b="1" dirty="0">
              <a:solidFill>
                <a:srgbClr val="0066CC"/>
              </a:solidFill>
              <a:latin typeface="Times New Roman" panose="02020603050405020304" pitchFamily="18" charset="0"/>
              <a:cs typeface="Times New Roman" panose="02020603050405020304" pitchFamily="18" charset="0"/>
            </a:endParaRPr>
          </a:p>
        </p:txBody>
      </p:sp>
      <p:sp>
        <p:nvSpPr>
          <p:cNvPr id="6" name="object 5">
            <a:extLst>
              <a:ext uri="{FF2B5EF4-FFF2-40B4-BE49-F238E27FC236}">
                <a16:creationId xmlns:a16="http://schemas.microsoft.com/office/drawing/2014/main" id="{C952F756-159B-EBAD-51C7-45581C7D3C8F}"/>
              </a:ext>
            </a:extLst>
          </p:cNvPr>
          <p:cNvSpPr txBox="1"/>
          <p:nvPr/>
        </p:nvSpPr>
        <p:spPr>
          <a:xfrm>
            <a:off x="692171" y="4419448"/>
            <a:ext cx="10327819" cy="289823"/>
          </a:xfrm>
          <a:prstGeom prst="rect">
            <a:avLst/>
          </a:prstGeom>
        </p:spPr>
        <p:txBody>
          <a:bodyPr vert="horz" wrap="square" lIns="0" tIns="12700" rIns="0" bIns="0" rtlCol="0">
            <a:spAutoFit/>
          </a:bodyPr>
          <a:lstStyle/>
          <a:p>
            <a:pPr>
              <a:spcBef>
                <a:spcPts val="200"/>
              </a:spcBef>
              <a:spcAft>
                <a:spcPts val="200"/>
              </a:spcAft>
              <a:defRPr sz="1800"/>
            </a:pPr>
            <a:r>
              <a:rPr lang="en-US" b="1" dirty="0">
                <a:solidFill>
                  <a:srgbClr val="0066CC"/>
                </a:solidFill>
                <a:latin typeface="Times New Roman" panose="02020603050405020304" pitchFamily="18" charset="0"/>
                <a:cs typeface="Times New Roman" panose="02020603050405020304" pitchFamily="18" charset="0"/>
              </a:rPr>
              <a:t>Step 4 - Push to remote repository:</a:t>
            </a:r>
            <a:endParaRPr lang="en-IN" b="1" dirty="0">
              <a:solidFill>
                <a:srgbClr val="0066CC"/>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8F668F5-DC66-E439-D2D4-5B3489F9D730}"/>
              </a:ext>
            </a:extLst>
          </p:cNvPr>
          <p:cNvPicPr>
            <a:picLocks noChangeAspect="1"/>
          </p:cNvPicPr>
          <p:nvPr/>
        </p:nvPicPr>
        <p:blipFill>
          <a:blip r:embed="rId3"/>
          <a:srcRect b="79295"/>
          <a:stretch>
            <a:fillRect/>
          </a:stretch>
        </p:blipFill>
        <p:spPr>
          <a:xfrm>
            <a:off x="692174" y="1879530"/>
            <a:ext cx="7480173" cy="970958"/>
          </a:xfrm>
          <a:prstGeom prst="rect">
            <a:avLst/>
          </a:prstGeom>
        </p:spPr>
      </p:pic>
      <p:pic>
        <p:nvPicPr>
          <p:cNvPr id="13" name="Picture 12">
            <a:extLst>
              <a:ext uri="{FF2B5EF4-FFF2-40B4-BE49-F238E27FC236}">
                <a16:creationId xmlns:a16="http://schemas.microsoft.com/office/drawing/2014/main" id="{FFB7C78F-3FEF-9775-E3AF-8E849E2CF5AD}"/>
              </a:ext>
            </a:extLst>
          </p:cNvPr>
          <p:cNvPicPr>
            <a:picLocks noChangeAspect="1"/>
          </p:cNvPicPr>
          <p:nvPr/>
        </p:nvPicPr>
        <p:blipFill>
          <a:blip r:embed="rId3"/>
          <a:srcRect t="44444" b="34851"/>
          <a:stretch>
            <a:fillRect/>
          </a:stretch>
        </p:blipFill>
        <p:spPr>
          <a:xfrm>
            <a:off x="692174" y="3356264"/>
            <a:ext cx="7480173" cy="970958"/>
          </a:xfrm>
          <a:prstGeom prst="rect">
            <a:avLst/>
          </a:prstGeom>
        </p:spPr>
      </p:pic>
      <p:pic>
        <p:nvPicPr>
          <p:cNvPr id="15" name="Picture 14">
            <a:extLst>
              <a:ext uri="{FF2B5EF4-FFF2-40B4-BE49-F238E27FC236}">
                <a16:creationId xmlns:a16="http://schemas.microsoft.com/office/drawing/2014/main" id="{6E7B6A80-ABC9-2E72-5A63-18A10FCA109D}"/>
              </a:ext>
            </a:extLst>
          </p:cNvPr>
          <p:cNvPicPr>
            <a:picLocks noChangeAspect="1"/>
          </p:cNvPicPr>
          <p:nvPr/>
        </p:nvPicPr>
        <p:blipFill>
          <a:blip r:embed="rId3"/>
          <a:srcRect t="79295"/>
          <a:stretch>
            <a:fillRect/>
          </a:stretch>
        </p:blipFill>
        <p:spPr>
          <a:xfrm>
            <a:off x="692171" y="4796845"/>
            <a:ext cx="7480173" cy="970958"/>
          </a:xfrm>
          <a:prstGeom prst="rect">
            <a:avLst/>
          </a:prstGeom>
        </p:spPr>
      </p:pic>
    </p:spTree>
    <p:extLst>
      <p:ext uri="{BB962C8B-B14F-4D97-AF65-F5344CB8AC3E}">
        <p14:creationId xmlns:p14="http://schemas.microsoft.com/office/powerpoint/2010/main" val="38495682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Keep main branch stable</a:t>
            </a:r>
          </a:p>
        </p:txBody>
      </p:sp>
    </p:spTree>
    <p:extLst>
      <p:ext uri="{BB962C8B-B14F-4D97-AF65-F5344CB8AC3E}">
        <p14:creationId xmlns:p14="http://schemas.microsoft.com/office/powerpoint/2010/main" val="2806986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228306"/>
            <a:ext cx="10573667" cy="1342483"/>
          </a:xfrm>
          <a:prstGeom prst="rect">
            <a:avLst/>
          </a:prstGeom>
        </p:spPr>
        <p:txBody>
          <a:bodyPr vert="horz" wrap="square" lIns="0" tIns="12700" rIns="0" bIns="0" rtlCol="0">
            <a:spAutoFit/>
          </a:bodyPr>
          <a:lstStyle/>
          <a:p>
            <a:pPr>
              <a:lnSpc>
                <a:spcPct val="150000"/>
              </a:lnSpc>
              <a:defRPr sz="1800"/>
            </a:pPr>
            <a:r>
              <a:rPr lang="en-US" sz="2000" dirty="0">
                <a:latin typeface="Times New Roman" panose="02020603050405020304" pitchFamily="18" charset="0"/>
                <a:cs typeface="Times New Roman" panose="02020603050405020304" pitchFamily="18" charset="0"/>
              </a:rPr>
              <a:t>The main branch (also called master in some projects) is the backbone of a Git repository. It represents the most stable and production-ready version of the software. Keeping this branch stable ensures that users and developers can always rely on it as the source of truth.</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Keep main branch stable mean?</a:t>
            </a:r>
          </a:p>
        </p:txBody>
      </p:sp>
    </p:spTree>
    <p:extLst>
      <p:ext uri="{BB962C8B-B14F-4D97-AF65-F5344CB8AC3E}">
        <p14:creationId xmlns:p14="http://schemas.microsoft.com/office/powerpoint/2010/main" val="2001246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702E-07AE-70E9-EB11-9E721BEE3D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01E1AF-273A-9EB4-BDBA-C7D8A3E432EB}"/>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Why Stability Matters?</a:t>
            </a:r>
          </a:p>
        </p:txBody>
      </p:sp>
      <p:sp>
        <p:nvSpPr>
          <p:cNvPr id="3" name="object 5">
            <a:extLst>
              <a:ext uri="{FF2B5EF4-FFF2-40B4-BE49-F238E27FC236}">
                <a16:creationId xmlns:a16="http://schemas.microsoft.com/office/drawing/2014/main" id="{33FE1551-5048-9F12-2E51-5D6F3236A362}"/>
              </a:ext>
            </a:extLst>
          </p:cNvPr>
          <p:cNvSpPr txBox="1"/>
          <p:nvPr/>
        </p:nvSpPr>
        <p:spPr>
          <a:xfrm>
            <a:off x="692174" y="1322611"/>
            <a:ext cx="10327819" cy="1958037"/>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The main branch is often deployed to production, so any instability can affect real users.</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 stable branch gives teams a safe baseline to work from.</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It reduces the risk of introducing critical bugs into production.</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Ensures continuous delivery pipelines can run smoothly without failures.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7922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124A3-DAE9-5D2A-A4A0-2B9795CFDF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B72BDE3-4CBD-4D3C-23EE-EBE9D974C79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How to Keep Main Branch Stable?</a:t>
            </a:r>
          </a:p>
        </p:txBody>
      </p:sp>
      <p:sp>
        <p:nvSpPr>
          <p:cNvPr id="3" name="object 5">
            <a:extLst>
              <a:ext uri="{FF2B5EF4-FFF2-40B4-BE49-F238E27FC236}">
                <a16:creationId xmlns:a16="http://schemas.microsoft.com/office/drawing/2014/main" id="{FFE307B9-AEF0-EF55-1B0E-042E36FBD8A8}"/>
              </a:ext>
            </a:extLst>
          </p:cNvPr>
          <p:cNvSpPr txBox="1"/>
          <p:nvPr/>
        </p:nvSpPr>
        <p:spPr>
          <a:xfrm>
            <a:off x="692174" y="1322611"/>
            <a:ext cx="10327819" cy="2996782"/>
          </a:xfrm>
          <a:prstGeom prst="rect">
            <a:avLst/>
          </a:prstGeom>
        </p:spPr>
        <p:txBody>
          <a:bodyPr vert="horz" wrap="square" lIns="0" tIns="12700" rIns="0" bIns="0" rtlCol="0">
            <a:spAutoFit/>
          </a:bodyPr>
          <a:lstStyle/>
          <a:p>
            <a:pPr>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a:t>
            </a:r>
            <a:r>
              <a:rPr lang="en-US" sz="2000" b="1" dirty="0">
                <a:latin typeface="Times New Roman" panose="02020603050405020304" pitchFamily="18" charset="0"/>
                <a:cs typeface="Times New Roman" panose="02020603050405020304" pitchFamily="18" charset="0"/>
              </a:rPr>
              <a:t>feature branches</a:t>
            </a:r>
            <a:r>
              <a:rPr lang="en-US" sz="2000" dirty="0">
                <a:latin typeface="Times New Roman" panose="02020603050405020304" pitchFamily="18" charset="0"/>
                <a:cs typeface="Times New Roman" panose="02020603050405020304" pitchFamily="18" charset="0"/>
              </a:rPr>
              <a:t> for new work instead of committing directly to main.</a:t>
            </a:r>
          </a:p>
          <a:p>
            <a:pPr>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Merge changes into main only after </a:t>
            </a:r>
            <a:r>
              <a:rPr lang="en-US" sz="2000" b="1" dirty="0">
                <a:latin typeface="Times New Roman" panose="02020603050405020304" pitchFamily="18" charset="0"/>
                <a:cs typeface="Times New Roman" panose="02020603050405020304" pitchFamily="18" charset="0"/>
              </a:rPr>
              <a:t>code review and testing</a:t>
            </a:r>
            <a:r>
              <a:rPr lang="en-US" sz="2000" dirty="0">
                <a:latin typeface="Times New Roman" panose="02020603050405020304" pitchFamily="18" charset="0"/>
                <a:cs typeface="Times New Roman" panose="02020603050405020304" pitchFamily="18" charset="0"/>
              </a:rPr>
              <a:t>.</a:t>
            </a:r>
          </a:p>
          <a:p>
            <a:pPr>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Apply </a:t>
            </a:r>
            <a:r>
              <a:rPr lang="en-US" sz="2000" b="1" dirty="0">
                <a:latin typeface="Times New Roman" panose="02020603050405020304" pitchFamily="18" charset="0"/>
                <a:cs typeface="Times New Roman" panose="02020603050405020304" pitchFamily="18" charset="0"/>
              </a:rPr>
              <a:t>pull requests (PRs)</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merge requests (MRs)</a:t>
            </a:r>
            <a:r>
              <a:rPr lang="en-US" sz="2000" dirty="0">
                <a:latin typeface="Times New Roman" panose="02020603050405020304" pitchFamily="18" charset="0"/>
                <a:cs typeface="Times New Roman" panose="02020603050405020304" pitchFamily="18" charset="0"/>
              </a:rPr>
              <a:t> as gates for quality control.</a:t>
            </a:r>
          </a:p>
          <a:p>
            <a:pPr>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a:t>
            </a:r>
            <a:r>
              <a:rPr lang="en-US" sz="2000" b="1" dirty="0">
                <a:latin typeface="Times New Roman" panose="02020603050405020304" pitchFamily="18" charset="0"/>
                <a:cs typeface="Times New Roman" panose="02020603050405020304" pitchFamily="18" charset="0"/>
              </a:rPr>
              <a:t>continuous integration (CI)</a:t>
            </a:r>
            <a:r>
              <a:rPr lang="en-US" sz="2000" dirty="0">
                <a:latin typeface="Times New Roman" panose="02020603050405020304" pitchFamily="18" charset="0"/>
                <a:cs typeface="Times New Roman" panose="02020603050405020304" pitchFamily="18" charset="0"/>
              </a:rPr>
              <a:t> pipelines to automatically run tests before merging.</a:t>
            </a:r>
          </a:p>
          <a:p>
            <a:pPr>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Tag stable versions with </a:t>
            </a:r>
            <a:r>
              <a:rPr lang="en-US" sz="2000" b="1" dirty="0">
                <a:latin typeface="Times New Roman" panose="02020603050405020304" pitchFamily="18" charset="0"/>
                <a:cs typeface="Times New Roman" panose="02020603050405020304" pitchFamily="18" charset="0"/>
              </a:rPr>
              <a:t>releases</a:t>
            </a:r>
            <a:r>
              <a:rPr lang="en-US" sz="2000" dirty="0">
                <a:latin typeface="Times New Roman" panose="02020603050405020304" pitchFamily="18" charset="0"/>
                <a:cs typeface="Times New Roman" panose="02020603050405020304" pitchFamily="18" charset="0"/>
              </a:rPr>
              <a:t> for tracking and rollback.</a:t>
            </a:r>
          </a:p>
        </p:txBody>
      </p:sp>
    </p:spTree>
    <p:extLst>
      <p:ext uri="{BB962C8B-B14F-4D97-AF65-F5344CB8AC3E}">
        <p14:creationId xmlns:p14="http://schemas.microsoft.com/office/powerpoint/2010/main" val="2406868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DDE68-2A18-1120-E618-41DA305224D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0493009-9C9C-158E-12E4-C7D729B32CC2}"/>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Benefits of a Stable Main Branch</a:t>
            </a:r>
          </a:p>
        </p:txBody>
      </p:sp>
      <p:sp>
        <p:nvSpPr>
          <p:cNvPr id="3" name="object 5">
            <a:extLst>
              <a:ext uri="{FF2B5EF4-FFF2-40B4-BE49-F238E27FC236}">
                <a16:creationId xmlns:a16="http://schemas.microsoft.com/office/drawing/2014/main" id="{9DAA51DB-B033-240A-B48D-107AF0FD6756}"/>
              </a:ext>
            </a:extLst>
          </p:cNvPr>
          <p:cNvSpPr txBox="1"/>
          <p:nvPr/>
        </p:nvSpPr>
        <p:spPr>
          <a:xfrm>
            <a:off x="692174" y="1322611"/>
            <a:ext cx="10327819" cy="2470997"/>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Guarantees a working version of the software at all times.</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Simplifies deployment since main is always reliable.</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Builds trust in the development process, especially in team settings.</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Reduces firefighting, as fewer bugs slip into production.</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Supports professional, maintainable workflows aligned with Agile and DevOps practices.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9519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2E30-5BC5-A06A-AD3C-1DFDD1F5D1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A07E729-D570-CF14-8CE3-ED48E5B1A81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 Workflow</a:t>
            </a:r>
          </a:p>
        </p:txBody>
      </p:sp>
      <p:pic>
        <p:nvPicPr>
          <p:cNvPr id="2050" name="Picture 2" descr="Generated image">
            <a:extLst>
              <a:ext uri="{FF2B5EF4-FFF2-40B4-BE49-F238E27FC236}">
                <a16:creationId xmlns:a16="http://schemas.microsoft.com/office/drawing/2014/main" id="{08DBB266-7949-BE8D-FE2E-2BE2A294B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3416" y="783628"/>
            <a:ext cx="3492730" cy="523909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554BEF8D-51E3-DEE3-5C61-1CFEC8699390}"/>
              </a:ext>
            </a:extLst>
          </p:cNvPr>
          <p:cNvSpPr txBox="1">
            <a:spLocks/>
          </p:cNvSpPr>
          <p:nvPr/>
        </p:nvSpPr>
        <p:spPr>
          <a:xfrm>
            <a:off x="692174" y="1847254"/>
            <a:ext cx="7149500" cy="3163489"/>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pPr>
              <a:lnSpc>
                <a:spcPct val="200000"/>
              </a:lnSpc>
            </a:pPr>
            <a:r>
              <a:rPr lang="en-US" altLang="en-US" sz="20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Step 1: Create a feature branch for new work</a:t>
            </a:r>
          </a:p>
          <a:p>
            <a:pPr>
              <a:lnSpc>
                <a:spcPct val="200000"/>
              </a:lnSpc>
            </a:pPr>
            <a:r>
              <a:rPr lang="en-US" altLang="en-US" sz="20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Step 2: Work and commit changes on the feature branch</a:t>
            </a:r>
          </a:p>
          <a:p>
            <a:pPr>
              <a:lnSpc>
                <a:spcPct val="200000"/>
              </a:lnSpc>
            </a:pPr>
            <a:r>
              <a:rPr lang="en-US" altLang="en-US" sz="20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Step 3: Merge feature branch into main after testing &amp; review</a:t>
            </a:r>
          </a:p>
          <a:p>
            <a:pPr>
              <a:lnSpc>
                <a:spcPct val="200000"/>
              </a:lnSpc>
            </a:pPr>
            <a:r>
              <a:rPr lang="en-US" altLang="en-US" sz="2000" dirty="0">
                <a:solidFill>
                  <a:srgbClr val="0066CC"/>
                </a:solidFill>
                <a:latin typeface="Times New Roman" panose="02020603050405020304" pitchFamily="18" charset="0"/>
                <a:ea typeface="ＭＳ Ｐゴシック" panose="020B0600070205080204" pitchFamily="34" charset="-128"/>
                <a:cs typeface="Times New Roman" panose="02020603050405020304" pitchFamily="18" charset="0"/>
              </a:rPr>
              <a:t>Step 4: Push the stable main branch to remote</a:t>
            </a:r>
          </a:p>
        </p:txBody>
      </p:sp>
    </p:spTree>
    <p:extLst>
      <p:ext uri="{BB962C8B-B14F-4D97-AF65-F5344CB8AC3E}">
        <p14:creationId xmlns:p14="http://schemas.microsoft.com/office/powerpoint/2010/main" val="869573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2445</Words>
  <Application>Microsoft Office PowerPoint</Application>
  <PresentationFormat>Widescreen</PresentationFormat>
  <Paragraphs>251</Paragraphs>
  <Slides>40</Slides>
  <Notes>33</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Renu  Jindal</dc:creator>
  <cp:lastModifiedBy>Renu  Jindal</cp:lastModifiedBy>
  <cp:revision>5</cp:revision>
  <dcterms:created xsi:type="dcterms:W3CDTF">2025-10-13T14:26:04Z</dcterms:created>
  <dcterms:modified xsi:type="dcterms:W3CDTF">2025-10-14T04:44:39Z</dcterms:modified>
</cp:coreProperties>
</file>