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4795" r:id="rId2"/>
    <p:sldId id="4810" r:id="rId3"/>
    <p:sldId id="4808" r:id="rId4"/>
    <p:sldId id="4812" r:id="rId5"/>
    <p:sldId id="4813" r:id="rId6"/>
    <p:sldId id="4850" r:id="rId7"/>
    <p:sldId id="4814" r:id="rId8"/>
    <p:sldId id="4815" r:id="rId9"/>
    <p:sldId id="4816" r:id="rId10"/>
    <p:sldId id="4817" r:id="rId11"/>
    <p:sldId id="4819" r:id="rId12"/>
    <p:sldId id="4820" r:id="rId13"/>
    <p:sldId id="4821" r:id="rId14"/>
    <p:sldId id="4822" r:id="rId15"/>
    <p:sldId id="4823" r:id="rId16"/>
    <p:sldId id="4824" r:id="rId17"/>
    <p:sldId id="4825" r:id="rId18"/>
    <p:sldId id="4826" r:id="rId19"/>
    <p:sldId id="4827" r:id="rId20"/>
    <p:sldId id="4828" r:id="rId21"/>
    <p:sldId id="4829" r:id="rId22"/>
    <p:sldId id="4830" r:id="rId23"/>
    <p:sldId id="4832" r:id="rId24"/>
    <p:sldId id="4833" r:id="rId25"/>
    <p:sldId id="4834" r:id="rId26"/>
    <p:sldId id="4835" r:id="rId27"/>
    <p:sldId id="4836" r:id="rId28"/>
    <p:sldId id="4838" r:id="rId29"/>
    <p:sldId id="4839" r:id="rId30"/>
    <p:sldId id="4840" r:id="rId31"/>
    <p:sldId id="4841" r:id="rId32"/>
    <p:sldId id="4842" r:id="rId33"/>
    <p:sldId id="4843" r:id="rId34"/>
    <p:sldId id="4844" r:id="rId35"/>
    <p:sldId id="4845" r:id="rId36"/>
    <p:sldId id="4846" r:id="rId37"/>
    <p:sldId id="4847" r:id="rId38"/>
    <p:sldId id="4848" r:id="rId39"/>
    <p:sldId id="484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84AA6-1BF0-19C1-D78A-120082E83260}" v="1" dt="2026-01-05T06:18:09.528"/>
    <p1510:client id="{C3E1A51F-5948-1107-B6C0-36A3AE11CD53}" v="4" dt="2026-01-04T16:37:12.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7808EF-268F-42ED-9AC4-788BDFE0861F}" type="datetimeFigureOut">
              <a:rPr lang="en-IN" smtClean="0"/>
              <a:t>04-01-2026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DE842-F190-4D01-BA2C-B6F2FAA116DF}" type="slidenum">
              <a:rPr lang="en-IN" smtClean="0"/>
              <a:t>‹#›</a:t>
            </a:fld>
            <a:endParaRPr lang="en-IN"/>
          </a:p>
        </p:txBody>
      </p:sp>
    </p:spTree>
    <p:extLst>
      <p:ext uri="{BB962C8B-B14F-4D97-AF65-F5344CB8AC3E}">
        <p14:creationId xmlns:p14="http://schemas.microsoft.com/office/powerpoint/2010/main" val="4135575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A001-19D2-AB32-1CD6-3577F2FC5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40224-6139-9C21-BF46-04D55F54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DA60-BB40-3EA3-94A8-E4F40E18D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EF2C0-B2B6-000B-34A3-E85D80105756}"/>
              </a:ext>
            </a:extLst>
          </p:cNvPr>
          <p:cNvSpPr>
            <a:spLocks noGrp="1"/>
          </p:cNvSpPr>
          <p:nvPr>
            <p:ph type="sldNum" sz="quarter" idx="5"/>
          </p:nvPr>
        </p:nvSpPr>
        <p:spPr/>
        <p:txBody>
          <a:bodyPr/>
          <a:lstStyle/>
          <a:p>
            <a:fld id="{4169D07A-98AC-4408-9A87-677237176D46}" type="slidenum">
              <a:rPr lang="en-GB" smtClean="0"/>
              <a:t>3</a:t>
            </a:fld>
            <a:endParaRPr lang="en-GB" dirty="0"/>
          </a:p>
        </p:txBody>
      </p:sp>
    </p:spTree>
    <p:extLst>
      <p:ext uri="{BB962C8B-B14F-4D97-AF65-F5344CB8AC3E}">
        <p14:creationId xmlns:p14="http://schemas.microsoft.com/office/powerpoint/2010/main" val="2410507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4</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B4BD-B369-AD49-FFD6-9EA6F928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98FF4-9CDC-84C5-0A78-4DF49F1A2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91D45-560B-5063-1C9E-8769DA14DB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705105-6489-FAF9-8363-26FC4205479A}"/>
              </a:ext>
            </a:extLst>
          </p:cNvPr>
          <p:cNvSpPr>
            <a:spLocks noGrp="1"/>
          </p:cNvSpPr>
          <p:nvPr>
            <p:ph type="sldNum" sz="quarter" idx="5"/>
          </p:nvPr>
        </p:nvSpPr>
        <p:spPr/>
        <p:txBody>
          <a:bodyPr/>
          <a:lstStyle/>
          <a:p>
            <a:fld id="{4169D07A-98AC-4408-9A87-677237176D46}" type="slidenum">
              <a:rPr lang="en-GB" smtClean="0"/>
              <a:t>5</a:t>
            </a:fld>
            <a:endParaRPr lang="en-GB" dirty="0"/>
          </a:p>
        </p:txBody>
      </p:sp>
    </p:spTree>
    <p:extLst>
      <p:ext uri="{BB962C8B-B14F-4D97-AF65-F5344CB8AC3E}">
        <p14:creationId xmlns:p14="http://schemas.microsoft.com/office/powerpoint/2010/main" val="1335071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A001-19D2-AB32-1CD6-3577F2FC5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40224-6139-9C21-BF46-04D55F54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DA60-BB40-3EA3-94A8-E4F40E18D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EF2C0-B2B6-000B-34A3-E85D80105756}"/>
              </a:ext>
            </a:extLst>
          </p:cNvPr>
          <p:cNvSpPr>
            <a:spLocks noGrp="1"/>
          </p:cNvSpPr>
          <p:nvPr>
            <p:ph type="sldNum" sz="quarter" idx="5"/>
          </p:nvPr>
        </p:nvSpPr>
        <p:spPr/>
        <p:txBody>
          <a:bodyPr/>
          <a:lstStyle/>
          <a:p>
            <a:fld id="{4169D07A-98AC-4408-9A87-677237176D46}" type="slidenum">
              <a:rPr lang="en-GB" smtClean="0"/>
              <a:t>8</a:t>
            </a:fld>
            <a:endParaRPr lang="en-GB" dirty="0"/>
          </a:p>
        </p:txBody>
      </p:sp>
    </p:spTree>
    <p:extLst>
      <p:ext uri="{BB962C8B-B14F-4D97-AF65-F5344CB8AC3E}">
        <p14:creationId xmlns:p14="http://schemas.microsoft.com/office/powerpoint/2010/main" val="2410507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9CA0A-3710-5979-EDAF-3E4467CBE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A29D0-D344-8688-9DAC-87FAB43FB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2275D-3CAC-6325-932C-7E71850670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4014E1-3674-47A0-0565-9301B28C5869}"/>
              </a:ext>
            </a:extLst>
          </p:cNvPr>
          <p:cNvSpPr>
            <a:spLocks noGrp="1"/>
          </p:cNvSpPr>
          <p:nvPr>
            <p:ph type="sldNum" sz="quarter" idx="5"/>
          </p:nvPr>
        </p:nvSpPr>
        <p:spPr/>
        <p:txBody>
          <a:bodyPr/>
          <a:lstStyle/>
          <a:p>
            <a:fld id="{4169D07A-98AC-4408-9A87-677237176D46}" type="slidenum">
              <a:rPr lang="en-GB" smtClean="0"/>
              <a:t>9</a:t>
            </a:fld>
            <a:endParaRPr lang="en-GB" dirty="0"/>
          </a:p>
        </p:txBody>
      </p:sp>
    </p:spTree>
    <p:extLst>
      <p:ext uri="{BB962C8B-B14F-4D97-AF65-F5344CB8AC3E}">
        <p14:creationId xmlns:p14="http://schemas.microsoft.com/office/powerpoint/2010/main" val="895721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0227A-0D88-B39E-6122-B28F5DAA9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63702-7F9A-6400-627B-2C41AD108F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0B1F7-07A6-5046-E1D4-C6EF2167DE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5E6767-558A-7BB3-8755-FC42E6D0658B}"/>
              </a:ext>
            </a:extLst>
          </p:cNvPr>
          <p:cNvSpPr>
            <a:spLocks noGrp="1"/>
          </p:cNvSpPr>
          <p:nvPr>
            <p:ph type="sldNum" sz="quarter" idx="5"/>
          </p:nvPr>
        </p:nvSpPr>
        <p:spPr/>
        <p:txBody>
          <a:bodyPr/>
          <a:lstStyle/>
          <a:p>
            <a:fld id="{4169D07A-98AC-4408-9A87-677237176D46}" type="slidenum">
              <a:rPr lang="en-GB" smtClean="0"/>
              <a:t>10</a:t>
            </a:fld>
            <a:endParaRPr lang="en-GB" dirty="0"/>
          </a:p>
        </p:txBody>
      </p:sp>
    </p:spTree>
    <p:extLst>
      <p:ext uri="{BB962C8B-B14F-4D97-AF65-F5344CB8AC3E}">
        <p14:creationId xmlns:p14="http://schemas.microsoft.com/office/powerpoint/2010/main" val="2992844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12</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B4BD-B369-AD49-FFD6-9EA6F928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98FF4-9CDC-84C5-0A78-4DF49F1A2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91D45-560B-5063-1C9E-8769DA14DB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705105-6489-FAF9-8363-26FC4205479A}"/>
              </a:ext>
            </a:extLst>
          </p:cNvPr>
          <p:cNvSpPr>
            <a:spLocks noGrp="1"/>
          </p:cNvSpPr>
          <p:nvPr>
            <p:ph type="sldNum" sz="quarter" idx="5"/>
          </p:nvPr>
        </p:nvSpPr>
        <p:spPr/>
        <p:txBody>
          <a:bodyPr/>
          <a:lstStyle/>
          <a:p>
            <a:fld id="{4169D07A-98AC-4408-9A87-677237176D46}" type="slidenum">
              <a:rPr lang="en-GB" smtClean="0"/>
              <a:t>13</a:t>
            </a:fld>
            <a:endParaRPr lang="en-GB" dirty="0"/>
          </a:p>
        </p:txBody>
      </p:sp>
    </p:spTree>
    <p:extLst>
      <p:ext uri="{BB962C8B-B14F-4D97-AF65-F5344CB8AC3E}">
        <p14:creationId xmlns:p14="http://schemas.microsoft.com/office/powerpoint/2010/main" val="1335071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AF9A6-A752-F0A6-E780-63F75484D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0FEDC-AC52-1443-04B8-87677C35C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88EBC-E991-5205-7C76-63C3E875EA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EAD6E7-D658-1F2D-88BE-DD95A3855010}"/>
              </a:ext>
            </a:extLst>
          </p:cNvPr>
          <p:cNvSpPr>
            <a:spLocks noGrp="1"/>
          </p:cNvSpPr>
          <p:nvPr>
            <p:ph type="sldNum" sz="quarter" idx="5"/>
          </p:nvPr>
        </p:nvSpPr>
        <p:spPr/>
        <p:txBody>
          <a:bodyPr/>
          <a:lstStyle/>
          <a:p>
            <a:fld id="{4169D07A-98AC-4408-9A87-677237176D46}" type="slidenum">
              <a:rPr lang="en-GB" smtClean="0"/>
              <a:t>14</a:t>
            </a:fld>
            <a:endParaRPr lang="en-GB" dirty="0"/>
          </a:p>
        </p:txBody>
      </p:sp>
    </p:spTree>
    <p:extLst>
      <p:ext uri="{BB962C8B-B14F-4D97-AF65-F5344CB8AC3E}">
        <p14:creationId xmlns:p14="http://schemas.microsoft.com/office/powerpoint/2010/main" val="3354566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EDE00-7AD2-753C-9E73-ACB45D902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61B77-1C4F-5B1B-1CC9-17EEB8B9C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2708DE-56B9-B357-9F1B-7039E9F6CF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55FB86-3F1C-ECD6-302F-980B66519EB2}"/>
              </a:ext>
            </a:extLst>
          </p:cNvPr>
          <p:cNvSpPr>
            <a:spLocks noGrp="1"/>
          </p:cNvSpPr>
          <p:nvPr>
            <p:ph type="sldNum" sz="quarter" idx="5"/>
          </p:nvPr>
        </p:nvSpPr>
        <p:spPr/>
        <p:txBody>
          <a:bodyPr/>
          <a:lstStyle/>
          <a:p>
            <a:fld id="{4169D07A-98AC-4408-9A87-677237176D46}" type="slidenum">
              <a:rPr lang="en-GB" smtClean="0"/>
              <a:t>15</a:t>
            </a:fld>
            <a:endParaRPr lang="en-GB" dirty="0"/>
          </a:p>
        </p:txBody>
      </p:sp>
    </p:spTree>
    <p:extLst>
      <p:ext uri="{BB962C8B-B14F-4D97-AF65-F5344CB8AC3E}">
        <p14:creationId xmlns:p14="http://schemas.microsoft.com/office/powerpoint/2010/main" val="3461883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856F4-4C55-B683-FAA0-7D23CC14C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C8029-2468-22ED-55F0-3C86E9411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B8F07-D568-5BAC-FF0C-5147B658B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074251-B56C-1CE0-CE2E-B10933C20527}"/>
              </a:ext>
            </a:extLst>
          </p:cNvPr>
          <p:cNvSpPr>
            <a:spLocks noGrp="1"/>
          </p:cNvSpPr>
          <p:nvPr>
            <p:ph type="sldNum" sz="quarter" idx="5"/>
          </p:nvPr>
        </p:nvSpPr>
        <p:spPr/>
        <p:txBody>
          <a:bodyPr/>
          <a:lstStyle/>
          <a:p>
            <a:fld id="{4169D07A-98AC-4408-9A87-677237176D46}" type="slidenum">
              <a:rPr lang="en-GB" smtClean="0"/>
              <a:t>16</a:t>
            </a:fld>
            <a:endParaRPr lang="en-GB" dirty="0"/>
          </a:p>
        </p:txBody>
      </p:sp>
    </p:spTree>
    <p:extLst>
      <p:ext uri="{BB962C8B-B14F-4D97-AF65-F5344CB8AC3E}">
        <p14:creationId xmlns:p14="http://schemas.microsoft.com/office/powerpoint/2010/main" val="1020638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D2271-3733-8F15-C2D5-4B5BABE6B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13B7F-0E6E-68B6-816C-22FF17ED8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F7A85-22F9-0DB4-12FF-BB25BA537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B80B1B-F702-795B-7803-EE780B9F5354}"/>
              </a:ext>
            </a:extLst>
          </p:cNvPr>
          <p:cNvSpPr>
            <a:spLocks noGrp="1"/>
          </p:cNvSpPr>
          <p:nvPr>
            <p:ph type="sldNum" sz="quarter" idx="5"/>
          </p:nvPr>
        </p:nvSpPr>
        <p:spPr/>
        <p:txBody>
          <a:bodyPr/>
          <a:lstStyle/>
          <a:p>
            <a:fld id="{4169D07A-98AC-4408-9A87-677237176D46}" type="slidenum">
              <a:rPr lang="en-GB" smtClean="0"/>
              <a:t>17</a:t>
            </a:fld>
            <a:endParaRPr lang="en-GB" dirty="0"/>
          </a:p>
        </p:txBody>
      </p:sp>
    </p:spTree>
    <p:extLst>
      <p:ext uri="{BB962C8B-B14F-4D97-AF65-F5344CB8AC3E}">
        <p14:creationId xmlns:p14="http://schemas.microsoft.com/office/powerpoint/2010/main" val="1554462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AC2EB-5E1A-952A-E868-55E70A476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99E65-A1E5-62DA-6595-5DF67B43A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1B21F-39A1-2B51-D595-30D9E27AB2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2F77DF-1141-5AA4-366D-093C52FBAC07}"/>
              </a:ext>
            </a:extLst>
          </p:cNvPr>
          <p:cNvSpPr>
            <a:spLocks noGrp="1"/>
          </p:cNvSpPr>
          <p:nvPr>
            <p:ph type="sldNum" sz="quarter" idx="5"/>
          </p:nvPr>
        </p:nvSpPr>
        <p:spPr/>
        <p:txBody>
          <a:bodyPr/>
          <a:lstStyle/>
          <a:p>
            <a:fld id="{4169D07A-98AC-4408-9A87-677237176D46}" type="slidenum">
              <a:rPr lang="en-GB" smtClean="0"/>
              <a:t>18</a:t>
            </a:fld>
            <a:endParaRPr lang="en-GB" dirty="0"/>
          </a:p>
        </p:txBody>
      </p:sp>
    </p:spTree>
    <p:extLst>
      <p:ext uri="{BB962C8B-B14F-4D97-AF65-F5344CB8AC3E}">
        <p14:creationId xmlns:p14="http://schemas.microsoft.com/office/powerpoint/2010/main" val="2620366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20</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B4BD-B369-AD49-FFD6-9EA6F928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98FF4-9CDC-84C5-0A78-4DF49F1A2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91D45-560B-5063-1C9E-8769DA14DB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705105-6489-FAF9-8363-26FC4205479A}"/>
              </a:ext>
            </a:extLst>
          </p:cNvPr>
          <p:cNvSpPr>
            <a:spLocks noGrp="1"/>
          </p:cNvSpPr>
          <p:nvPr>
            <p:ph type="sldNum" sz="quarter" idx="5"/>
          </p:nvPr>
        </p:nvSpPr>
        <p:spPr/>
        <p:txBody>
          <a:bodyPr/>
          <a:lstStyle/>
          <a:p>
            <a:fld id="{4169D07A-98AC-4408-9A87-677237176D46}" type="slidenum">
              <a:rPr lang="en-GB" smtClean="0"/>
              <a:t>21</a:t>
            </a:fld>
            <a:endParaRPr lang="en-GB" dirty="0"/>
          </a:p>
        </p:txBody>
      </p:sp>
    </p:spTree>
    <p:extLst>
      <p:ext uri="{BB962C8B-B14F-4D97-AF65-F5344CB8AC3E}">
        <p14:creationId xmlns:p14="http://schemas.microsoft.com/office/powerpoint/2010/main" val="1335071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24</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4EF4D-FF55-5AB0-13B7-7F199CDF2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0BBE8-4395-7503-238C-534AD7FD2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79E821-544B-6B27-ADD3-68DE6708ED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51D5F2-38E7-B8C8-70A1-B1C54AA35B9A}"/>
              </a:ext>
            </a:extLst>
          </p:cNvPr>
          <p:cNvSpPr>
            <a:spLocks noGrp="1"/>
          </p:cNvSpPr>
          <p:nvPr>
            <p:ph type="sldNum" sz="quarter" idx="5"/>
          </p:nvPr>
        </p:nvSpPr>
        <p:spPr/>
        <p:txBody>
          <a:bodyPr/>
          <a:lstStyle/>
          <a:p>
            <a:fld id="{4169D07A-98AC-4408-9A87-677237176D46}" type="slidenum">
              <a:rPr lang="en-GB" smtClean="0"/>
              <a:t>25</a:t>
            </a:fld>
            <a:endParaRPr lang="en-GB" dirty="0"/>
          </a:p>
        </p:txBody>
      </p:sp>
    </p:spTree>
    <p:extLst>
      <p:ext uri="{BB962C8B-B14F-4D97-AF65-F5344CB8AC3E}">
        <p14:creationId xmlns:p14="http://schemas.microsoft.com/office/powerpoint/2010/main" val="1614547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B4BD-B369-AD49-FFD6-9EA6F928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98FF4-9CDC-84C5-0A78-4DF49F1A2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91D45-560B-5063-1C9E-8769DA14DB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705105-6489-FAF9-8363-26FC4205479A}"/>
              </a:ext>
            </a:extLst>
          </p:cNvPr>
          <p:cNvSpPr>
            <a:spLocks noGrp="1"/>
          </p:cNvSpPr>
          <p:nvPr>
            <p:ph type="sldNum" sz="quarter" idx="5"/>
          </p:nvPr>
        </p:nvSpPr>
        <p:spPr/>
        <p:txBody>
          <a:bodyPr/>
          <a:lstStyle/>
          <a:p>
            <a:fld id="{4169D07A-98AC-4408-9A87-677237176D46}" type="slidenum">
              <a:rPr lang="en-GB" smtClean="0"/>
              <a:t>26</a:t>
            </a:fld>
            <a:endParaRPr lang="en-GB" dirty="0"/>
          </a:p>
        </p:txBody>
      </p:sp>
    </p:spTree>
    <p:extLst>
      <p:ext uri="{BB962C8B-B14F-4D97-AF65-F5344CB8AC3E}">
        <p14:creationId xmlns:p14="http://schemas.microsoft.com/office/powerpoint/2010/main" val="1335071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FA2A9-7AE6-A508-4D58-9201D35E3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5DFA6-C1FC-1DC3-7C0C-87B956677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ACEEC-1545-F00A-ECF0-8B3C912E4A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6E7583-4716-5BE5-C682-0754A7874A2D}"/>
              </a:ext>
            </a:extLst>
          </p:cNvPr>
          <p:cNvSpPr>
            <a:spLocks noGrp="1"/>
          </p:cNvSpPr>
          <p:nvPr>
            <p:ph type="sldNum" sz="quarter" idx="5"/>
          </p:nvPr>
        </p:nvSpPr>
        <p:spPr/>
        <p:txBody>
          <a:bodyPr/>
          <a:lstStyle/>
          <a:p>
            <a:fld id="{4169D07A-98AC-4408-9A87-677237176D46}" type="slidenum">
              <a:rPr lang="en-GB" smtClean="0"/>
              <a:t>27</a:t>
            </a:fld>
            <a:endParaRPr lang="en-GB" dirty="0"/>
          </a:p>
        </p:txBody>
      </p:sp>
    </p:spTree>
    <p:extLst>
      <p:ext uri="{BB962C8B-B14F-4D97-AF65-F5344CB8AC3E}">
        <p14:creationId xmlns:p14="http://schemas.microsoft.com/office/powerpoint/2010/main" val="13206694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28</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4EF4D-FF55-5AB0-13B7-7F199CDF2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0BBE8-4395-7503-238C-534AD7FD2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79E821-544B-6B27-ADD3-68DE6708ED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51D5F2-38E7-B8C8-70A1-B1C54AA35B9A}"/>
              </a:ext>
            </a:extLst>
          </p:cNvPr>
          <p:cNvSpPr>
            <a:spLocks noGrp="1"/>
          </p:cNvSpPr>
          <p:nvPr>
            <p:ph type="sldNum" sz="quarter" idx="5"/>
          </p:nvPr>
        </p:nvSpPr>
        <p:spPr/>
        <p:txBody>
          <a:bodyPr/>
          <a:lstStyle/>
          <a:p>
            <a:fld id="{4169D07A-98AC-4408-9A87-677237176D46}" type="slidenum">
              <a:rPr lang="en-GB" smtClean="0"/>
              <a:t>29</a:t>
            </a:fld>
            <a:endParaRPr lang="en-GB" dirty="0"/>
          </a:p>
        </p:txBody>
      </p:sp>
    </p:spTree>
    <p:extLst>
      <p:ext uri="{BB962C8B-B14F-4D97-AF65-F5344CB8AC3E}">
        <p14:creationId xmlns:p14="http://schemas.microsoft.com/office/powerpoint/2010/main" val="16145470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9BBCA-B68E-1B9B-9EA3-81CB7F1D8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DF18E-DF18-32EC-3329-851D268BA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E8F78-0223-6471-CACF-F8F8CF97B6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E2A6D-4060-C83F-968B-5FDFE6D5AE3F}"/>
              </a:ext>
            </a:extLst>
          </p:cNvPr>
          <p:cNvSpPr>
            <a:spLocks noGrp="1"/>
          </p:cNvSpPr>
          <p:nvPr>
            <p:ph type="sldNum" sz="quarter" idx="5"/>
          </p:nvPr>
        </p:nvSpPr>
        <p:spPr/>
        <p:txBody>
          <a:bodyPr/>
          <a:lstStyle/>
          <a:p>
            <a:fld id="{4169D07A-98AC-4408-9A87-677237176D46}" type="slidenum">
              <a:rPr lang="en-GB" smtClean="0"/>
              <a:t>30</a:t>
            </a:fld>
            <a:endParaRPr lang="en-GB" dirty="0"/>
          </a:p>
        </p:txBody>
      </p:sp>
    </p:spTree>
    <p:extLst>
      <p:ext uri="{BB962C8B-B14F-4D97-AF65-F5344CB8AC3E}">
        <p14:creationId xmlns:p14="http://schemas.microsoft.com/office/powerpoint/2010/main" val="14497845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79938-FB36-A965-8D73-423AEA3EE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F2DDA-CB41-5DDD-EA48-D564947C98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B7219-E1EE-8EC5-3F42-DFFD4A1D32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277EE6-0A78-BA06-8347-765A5DB9785E}"/>
              </a:ext>
            </a:extLst>
          </p:cNvPr>
          <p:cNvSpPr>
            <a:spLocks noGrp="1"/>
          </p:cNvSpPr>
          <p:nvPr>
            <p:ph type="sldNum" sz="quarter" idx="5"/>
          </p:nvPr>
        </p:nvSpPr>
        <p:spPr/>
        <p:txBody>
          <a:bodyPr/>
          <a:lstStyle/>
          <a:p>
            <a:fld id="{4169D07A-98AC-4408-9A87-677237176D46}" type="slidenum">
              <a:rPr lang="en-GB" smtClean="0"/>
              <a:t>31</a:t>
            </a:fld>
            <a:endParaRPr lang="en-GB" dirty="0"/>
          </a:p>
        </p:txBody>
      </p:sp>
    </p:spTree>
    <p:extLst>
      <p:ext uri="{BB962C8B-B14F-4D97-AF65-F5344CB8AC3E}">
        <p14:creationId xmlns:p14="http://schemas.microsoft.com/office/powerpoint/2010/main" val="2896284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7CF4-EEF3-9D8A-AF76-9FE09DD66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A828F-3BA1-C0C2-F961-1BCC5A1B7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7EC8B-32D3-463E-F537-337B38C925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289AEE-54BB-E5E8-8386-08F23EEDBD5D}"/>
              </a:ext>
            </a:extLst>
          </p:cNvPr>
          <p:cNvSpPr>
            <a:spLocks noGrp="1"/>
          </p:cNvSpPr>
          <p:nvPr>
            <p:ph type="sldNum" sz="quarter" idx="5"/>
          </p:nvPr>
        </p:nvSpPr>
        <p:spPr/>
        <p:txBody>
          <a:bodyPr/>
          <a:lstStyle/>
          <a:p>
            <a:fld id="{4169D07A-98AC-4408-9A87-677237176D46}" type="slidenum">
              <a:rPr lang="en-GB" smtClean="0"/>
              <a:t>32</a:t>
            </a:fld>
            <a:endParaRPr lang="en-GB" dirty="0"/>
          </a:p>
        </p:txBody>
      </p:sp>
    </p:spTree>
    <p:extLst>
      <p:ext uri="{BB962C8B-B14F-4D97-AF65-F5344CB8AC3E}">
        <p14:creationId xmlns:p14="http://schemas.microsoft.com/office/powerpoint/2010/main" val="2531710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732D4-6115-37EB-3BCF-9E3DC810A1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9BC8A-0082-BF12-883F-810FE8CA4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1DBDF-BE74-D549-237E-FA5C87070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F7FBE1-B1E6-8711-2A2B-0C30556FE73E}"/>
              </a:ext>
            </a:extLst>
          </p:cNvPr>
          <p:cNvSpPr>
            <a:spLocks noGrp="1"/>
          </p:cNvSpPr>
          <p:nvPr>
            <p:ph type="sldNum" sz="quarter" idx="5"/>
          </p:nvPr>
        </p:nvSpPr>
        <p:spPr/>
        <p:txBody>
          <a:bodyPr/>
          <a:lstStyle/>
          <a:p>
            <a:fld id="{4169D07A-98AC-4408-9A87-677237176D46}" type="slidenum">
              <a:rPr lang="en-GB" smtClean="0"/>
              <a:t>33</a:t>
            </a:fld>
            <a:endParaRPr lang="en-GB" dirty="0"/>
          </a:p>
        </p:txBody>
      </p:sp>
    </p:spTree>
    <p:extLst>
      <p:ext uri="{BB962C8B-B14F-4D97-AF65-F5344CB8AC3E}">
        <p14:creationId xmlns:p14="http://schemas.microsoft.com/office/powerpoint/2010/main" val="37528656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B4BD-B369-AD49-FFD6-9EA6F928B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98FF4-9CDC-84C5-0A78-4DF49F1A2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91D45-560B-5063-1C9E-8769DA14DB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705105-6489-FAF9-8363-26FC4205479A}"/>
              </a:ext>
            </a:extLst>
          </p:cNvPr>
          <p:cNvSpPr>
            <a:spLocks noGrp="1"/>
          </p:cNvSpPr>
          <p:nvPr>
            <p:ph type="sldNum" sz="quarter" idx="5"/>
          </p:nvPr>
        </p:nvSpPr>
        <p:spPr/>
        <p:txBody>
          <a:bodyPr/>
          <a:lstStyle/>
          <a:p>
            <a:fld id="{4169D07A-98AC-4408-9A87-677237176D46}" type="slidenum">
              <a:rPr lang="en-GB" smtClean="0"/>
              <a:t>34</a:t>
            </a:fld>
            <a:endParaRPr lang="en-GB" dirty="0"/>
          </a:p>
        </p:txBody>
      </p:sp>
    </p:spTree>
    <p:extLst>
      <p:ext uri="{BB962C8B-B14F-4D97-AF65-F5344CB8AC3E}">
        <p14:creationId xmlns:p14="http://schemas.microsoft.com/office/powerpoint/2010/main" val="13350710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36</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0D42-E822-10CC-8040-B948F2D94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4643F-2565-839F-351D-14F15BD80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B5717-892B-D625-5D44-4794C4DDF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B694CF-95FB-3DDF-FAC3-848A9C02F940}"/>
              </a:ext>
            </a:extLst>
          </p:cNvPr>
          <p:cNvSpPr>
            <a:spLocks noGrp="1"/>
          </p:cNvSpPr>
          <p:nvPr>
            <p:ph type="sldNum" sz="quarter" idx="5"/>
          </p:nvPr>
        </p:nvSpPr>
        <p:spPr/>
        <p:txBody>
          <a:bodyPr/>
          <a:lstStyle/>
          <a:p>
            <a:fld id="{4169D07A-98AC-4408-9A87-677237176D46}" type="slidenum">
              <a:rPr lang="en-GB" smtClean="0"/>
              <a:t>37</a:t>
            </a:fld>
            <a:endParaRPr lang="en-GB" dirty="0"/>
          </a:p>
        </p:txBody>
      </p:sp>
    </p:spTree>
    <p:extLst>
      <p:ext uri="{BB962C8B-B14F-4D97-AF65-F5344CB8AC3E}">
        <p14:creationId xmlns:p14="http://schemas.microsoft.com/office/powerpoint/2010/main" val="16489222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79938-FB36-A965-8D73-423AEA3EE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F2DDA-CB41-5DDD-EA48-D564947C98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B7219-E1EE-8EC5-3F42-DFFD4A1D32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277EE6-0A78-BA06-8347-765A5DB9785E}"/>
              </a:ext>
            </a:extLst>
          </p:cNvPr>
          <p:cNvSpPr>
            <a:spLocks noGrp="1"/>
          </p:cNvSpPr>
          <p:nvPr>
            <p:ph type="sldNum" sz="quarter" idx="5"/>
          </p:nvPr>
        </p:nvSpPr>
        <p:spPr/>
        <p:txBody>
          <a:bodyPr/>
          <a:lstStyle/>
          <a:p>
            <a:fld id="{4169D07A-98AC-4408-9A87-677237176D46}" type="slidenum">
              <a:rPr lang="en-GB" smtClean="0"/>
              <a:t>38</a:t>
            </a:fld>
            <a:endParaRPr lang="en-GB" dirty="0"/>
          </a:p>
        </p:txBody>
      </p:sp>
    </p:spTree>
    <p:extLst>
      <p:ext uri="{BB962C8B-B14F-4D97-AF65-F5344CB8AC3E}">
        <p14:creationId xmlns:p14="http://schemas.microsoft.com/office/powerpoint/2010/main" val="2896284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7CF4-EEF3-9D8A-AF76-9FE09DD66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A828F-3BA1-C0C2-F961-1BCC5A1B7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7EC8B-32D3-463E-F537-337B38C925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289AEE-54BB-E5E8-8386-08F23EEDBD5D}"/>
              </a:ext>
            </a:extLst>
          </p:cNvPr>
          <p:cNvSpPr>
            <a:spLocks noGrp="1"/>
          </p:cNvSpPr>
          <p:nvPr>
            <p:ph type="sldNum" sz="quarter" idx="5"/>
          </p:nvPr>
        </p:nvSpPr>
        <p:spPr/>
        <p:txBody>
          <a:bodyPr/>
          <a:lstStyle/>
          <a:p>
            <a:fld id="{4169D07A-98AC-4408-9A87-677237176D46}" type="slidenum">
              <a:rPr lang="en-GB" smtClean="0"/>
              <a:t>39</a:t>
            </a:fld>
            <a:endParaRPr lang="en-GB" dirty="0"/>
          </a:p>
        </p:txBody>
      </p:sp>
    </p:spTree>
    <p:extLst>
      <p:ext uri="{BB962C8B-B14F-4D97-AF65-F5344CB8AC3E}">
        <p14:creationId xmlns:p14="http://schemas.microsoft.com/office/powerpoint/2010/main" val="2531710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6F76-CD6D-E6EF-35CD-B722A844E3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B4A2B2-A948-3163-C448-75D4A2D78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0FCE47-340F-0FB3-87FD-F939EE3F8D63}"/>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5" name="Footer Placeholder 4">
            <a:extLst>
              <a:ext uri="{FF2B5EF4-FFF2-40B4-BE49-F238E27FC236}">
                <a16:creationId xmlns:a16="http://schemas.microsoft.com/office/drawing/2014/main" id="{03CB1C02-71CA-EEF8-F7D3-2561C09A6A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736930-D9FB-9E78-5A1D-696083B51AE6}"/>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389908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9E01A-3158-7527-DFA1-0B5FCDD86F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59BD2E-1C2D-2E75-44D6-A90607B84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BA608E-E796-CDF5-8A28-708ADE69BFFF}"/>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5" name="Footer Placeholder 4">
            <a:extLst>
              <a:ext uri="{FF2B5EF4-FFF2-40B4-BE49-F238E27FC236}">
                <a16:creationId xmlns:a16="http://schemas.microsoft.com/office/drawing/2014/main" id="{641FD0AD-9905-905A-D693-54529B0DDC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9273C6-CF6A-3CFB-69CB-7E3D2F5BF387}"/>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789337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65473-1758-BC42-9A04-E851084FA1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4A2912-6367-AB58-D1B4-A85C3EB79E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926A9-07EE-0DC2-3EF1-DF4B77C85598}"/>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5" name="Footer Placeholder 4">
            <a:extLst>
              <a:ext uri="{FF2B5EF4-FFF2-40B4-BE49-F238E27FC236}">
                <a16:creationId xmlns:a16="http://schemas.microsoft.com/office/drawing/2014/main" id="{A95BBABB-ABE3-E6F5-CA06-14C0CE86A3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0435F5-91E1-4FFB-18BF-EE701A7AD43D}"/>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125409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2ABBC-7B9A-EAA2-E678-F539F864A7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4B115A-E91E-9AC2-244D-370350B44B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552C74-FDA0-7F6B-618E-03AC419D19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2E1321-C623-2914-318B-4D8452F17C72}"/>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6" name="Footer Placeholder 5">
            <a:extLst>
              <a:ext uri="{FF2B5EF4-FFF2-40B4-BE49-F238E27FC236}">
                <a16:creationId xmlns:a16="http://schemas.microsoft.com/office/drawing/2014/main" id="{205FF59E-B0F9-0BE7-C666-6A6DB4921B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EF9A6C-4236-EE6F-8712-A55D06F71609}"/>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2648484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9989D-F55F-0B5A-476F-CB28A7B9346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99B9F0-B48F-CE5F-35D4-6C7A69D432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F4756-49EE-F08C-D0F2-6DA88CC714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49C4AD-49DE-E147-8105-01C48BDBDE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153349-8A03-FD5E-DD0B-C7C4375CB9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8D3458B-E293-C3C6-86FA-CFCF72512133}"/>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8" name="Footer Placeholder 7">
            <a:extLst>
              <a:ext uri="{FF2B5EF4-FFF2-40B4-BE49-F238E27FC236}">
                <a16:creationId xmlns:a16="http://schemas.microsoft.com/office/drawing/2014/main" id="{C4F1B47A-58E2-C91D-E082-FD576C78B7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FD064F-2CBB-7C40-AD81-0ACFD403BF59}"/>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1888250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CC25C-1A6B-3042-A03D-79A58F4FF7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2130FA-A8C4-4580-7A36-E1DC7E8EB2D8}"/>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4" name="Footer Placeholder 3">
            <a:extLst>
              <a:ext uri="{FF2B5EF4-FFF2-40B4-BE49-F238E27FC236}">
                <a16:creationId xmlns:a16="http://schemas.microsoft.com/office/drawing/2014/main" id="{E1E1FC38-A98A-995A-F9FF-E3B5DC6D75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854338-0A3E-301F-54A7-8D859111B1AB}"/>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3235759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7E21FD-77D7-D907-75E5-6355824409C5}"/>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3" name="Footer Placeholder 2">
            <a:extLst>
              <a:ext uri="{FF2B5EF4-FFF2-40B4-BE49-F238E27FC236}">
                <a16:creationId xmlns:a16="http://schemas.microsoft.com/office/drawing/2014/main" id="{2868BCDC-0A0B-5768-CACD-3FD050E603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756AD24-5721-6BF5-85E1-03E3A497D5D8}"/>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1796831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B3F10-9961-2B31-ED60-708B640E0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FBEA6BD-7B65-E239-D247-6E8E331DE4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6B93E2-3E71-FD2B-8B8B-DE1499457B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B311AC-DD34-0BF3-7946-EC11682C16BC}"/>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6" name="Footer Placeholder 5">
            <a:extLst>
              <a:ext uri="{FF2B5EF4-FFF2-40B4-BE49-F238E27FC236}">
                <a16:creationId xmlns:a16="http://schemas.microsoft.com/office/drawing/2014/main" id="{9EF8CF4F-D504-8367-535A-DE3F717338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77E0C1-5C6C-7A7A-0A93-93650253E6A6}"/>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2371404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19F77-12D1-76A7-800A-83F6FFB9A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786543C-302F-8D00-49C3-DCCB160296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F46404-D096-3546-F501-60B47EF6D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A9A5FE-24BA-CC71-4124-6CD517FD6CEF}"/>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6" name="Footer Placeholder 5">
            <a:extLst>
              <a:ext uri="{FF2B5EF4-FFF2-40B4-BE49-F238E27FC236}">
                <a16:creationId xmlns:a16="http://schemas.microsoft.com/office/drawing/2014/main" id="{6E965876-BF21-3CE9-09DC-2E47C0F6D1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7A7A6-6775-1B7A-8B4D-5593CCD6626C}"/>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3740508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049F-19FB-8169-5615-089123ECC4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DE85E0-DE28-0DEA-AFF1-EDA4661D6E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837C5F-D1B1-A2C0-6525-AC32CDB5321E}"/>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5" name="Footer Placeholder 4">
            <a:extLst>
              <a:ext uri="{FF2B5EF4-FFF2-40B4-BE49-F238E27FC236}">
                <a16:creationId xmlns:a16="http://schemas.microsoft.com/office/drawing/2014/main" id="{AF4C64B2-3F91-EF0B-377F-2EB7BCABD5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B41ABB-67DE-8F6C-B12E-10DC2262F742}"/>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2543868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D189D2-4327-0998-CD9B-3BD124F38A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C587F1-A1D4-11EA-6C5F-BC4A864918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CA9D11-DDDD-7343-5A0F-78EDC9DC4B44}"/>
              </a:ext>
            </a:extLst>
          </p:cNvPr>
          <p:cNvSpPr>
            <a:spLocks noGrp="1"/>
          </p:cNvSpPr>
          <p:nvPr>
            <p:ph type="dt" sz="half" idx="10"/>
          </p:nvPr>
        </p:nvSpPr>
        <p:spPr/>
        <p:txBody>
          <a:bodyPr/>
          <a:lstStyle/>
          <a:p>
            <a:fld id="{28AC259E-556D-4235-96F0-6E58B2597D71}" type="datetimeFigureOut">
              <a:rPr lang="en-IN" smtClean="0"/>
              <a:t>04-01-2026</a:t>
            </a:fld>
            <a:endParaRPr lang="en-IN"/>
          </a:p>
        </p:txBody>
      </p:sp>
      <p:sp>
        <p:nvSpPr>
          <p:cNvPr id="5" name="Footer Placeholder 4">
            <a:extLst>
              <a:ext uri="{FF2B5EF4-FFF2-40B4-BE49-F238E27FC236}">
                <a16:creationId xmlns:a16="http://schemas.microsoft.com/office/drawing/2014/main" id="{22C34D45-1946-FDA6-9065-E6807B231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97E786-8B60-E03B-9868-879859728E5E}"/>
              </a:ext>
            </a:extLst>
          </p:cNvPr>
          <p:cNvSpPr>
            <a:spLocks noGrp="1"/>
          </p:cNvSpPr>
          <p:nvPr>
            <p:ph type="sldNum" sz="quarter" idx="12"/>
          </p:nvPr>
        </p:nvSpPr>
        <p:spPr/>
        <p:txBody>
          <a:bodyPr/>
          <a:lstStyle/>
          <a:p>
            <a:fld id="{BE023D60-14EE-4B70-9C4B-D6B619001BF7}" type="slidenum">
              <a:rPr lang="en-IN" smtClean="0"/>
              <a:t>‹#›</a:t>
            </a:fld>
            <a:endParaRPr lang="en-IN"/>
          </a:p>
        </p:txBody>
      </p:sp>
    </p:spTree>
    <p:extLst>
      <p:ext uri="{BB962C8B-B14F-4D97-AF65-F5344CB8AC3E}">
        <p14:creationId xmlns:p14="http://schemas.microsoft.com/office/powerpoint/2010/main" val="2136144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age - Yellow - Client Logo">
    <p:bg>
      <p:bgPr>
        <a:solidFill>
          <a:schemeClr val="bg1"/>
        </a:solidFill>
        <a:effectLst/>
      </p:bgPr>
    </p:bg>
    <p:spTree>
      <p:nvGrpSpPr>
        <p:cNvPr id="1" name=""/>
        <p:cNvGrpSpPr/>
        <p:nvPr/>
      </p:nvGrpSpPr>
      <p:grpSpPr>
        <a:xfrm>
          <a:off x="0" y="0"/>
          <a:ext cx="0" cy="0"/>
          <a:chOff x="0" y="0"/>
          <a:chExt cx="0" cy="0"/>
        </a:xfrm>
      </p:grpSpPr>
      <p:pic>
        <p:nvPicPr>
          <p:cNvPr id="4" name="Picture 3" descr="A blue background with curved lines&#10;&#10;AI-generated content may be incorrect.">
            <a:extLst>
              <a:ext uri="{FF2B5EF4-FFF2-40B4-BE49-F238E27FC236}">
                <a16:creationId xmlns:a16="http://schemas.microsoft.com/office/drawing/2014/main" id="{B73DC436-C430-1491-E846-E1D25FC0680F}"/>
              </a:ext>
            </a:extLst>
          </p:cNvPr>
          <p:cNvPicPr>
            <a:picLocks noChangeAspect="1"/>
          </p:cNvPicPr>
          <p:nvPr userDrawn="1"/>
        </p:nvPicPr>
        <p:blipFill>
          <a:blip r:embed="rId2"/>
          <a:stretch>
            <a:fillRect/>
          </a:stretch>
        </p:blipFill>
        <p:spPr>
          <a:xfrm>
            <a:off x="1" y="0"/>
            <a:ext cx="12226183" cy="6858000"/>
          </a:xfrm>
          <a:prstGeom prst="rect">
            <a:avLst/>
          </a:prstGeom>
        </p:spPr>
      </p:pic>
      <p:sp>
        <p:nvSpPr>
          <p:cNvPr id="18" name="Text Placeholder 17"/>
          <p:cNvSpPr>
            <a:spLocks noGrp="1"/>
          </p:cNvSpPr>
          <p:nvPr>
            <p:ph type="body" sz="quarter" idx="11" hasCustomPrompt="1"/>
          </p:nvPr>
        </p:nvSpPr>
        <p:spPr>
          <a:xfrm>
            <a:off x="3630086" y="3705443"/>
            <a:ext cx="4931833" cy="270988"/>
          </a:xfrm>
          <a:prstGeom prst="rect">
            <a:avLst/>
          </a:prstGeom>
        </p:spPr>
        <p:txBody>
          <a:bodyPr lIns="0" tIns="0" rIns="0" bIns="0"/>
          <a:lstStyle>
            <a:lvl1pPr marL="0" indent="0" algn="ctr">
              <a:lnSpc>
                <a:spcPct val="100000"/>
              </a:lnSpc>
              <a:buNone/>
              <a:defRPr sz="1333" b="0" i="0" spc="267" baseline="0">
                <a:solidFill>
                  <a:schemeClr val="tx1"/>
                </a:solidFill>
                <a:latin typeface="Arial" charset="0"/>
                <a:ea typeface="Arial" charset="0"/>
                <a:cs typeface="Arial" charset="0"/>
              </a:defRPr>
            </a:lvl1pPr>
            <a:lvl2pPr marL="37251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2pPr>
            <a:lvl3pPr marL="755612"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3pPr>
            <a:lvl4pPr marL="1130244"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4pPr>
            <a:lvl5pPr marL="144349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5pPr>
          </a:lstStyle>
          <a:p>
            <a:pPr lvl="0"/>
            <a:r>
              <a:rPr lang="en-US" dirty="0"/>
              <a:t>PRESENTATION DATE</a:t>
            </a:r>
          </a:p>
        </p:txBody>
      </p:sp>
      <p:cxnSp>
        <p:nvCxnSpPr>
          <p:cNvPr id="10" name="Straight Connector 9"/>
          <p:cNvCxnSpPr/>
          <p:nvPr userDrawn="1"/>
        </p:nvCxnSpPr>
        <p:spPr>
          <a:xfrm>
            <a:off x="-34183" y="8110409"/>
            <a:ext cx="12260365" cy="0"/>
          </a:xfrm>
          <a:prstGeom prst="line">
            <a:avLst/>
          </a:prstGeom>
          <a:ln w="6350" cap="flat" cmpd="sng" algn="ctr">
            <a:solidFill>
              <a:schemeClr val="accent5">
                <a:alpha val="1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itle 2"/>
          <p:cNvSpPr>
            <a:spLocks noGrp="1"/>
          </p:cNvSpPr>
          <p:nvPr>
            <p:ph type="title" hasCustomPrompt="1"/>
          </p:nvPr>
        </p:nvSpPr>
        <p:spPr>
          <a:xfrm>
            <a:off x="765173" y="2215092"/>
            <a:ext cx="10611576" cy="732869"/>
          </a:xfrm>
          <a:prstGeom prst="rect">
            <a:avLst/>
          </a:prstGeom>
        </p:spPr>
        <p:txBody>
          <a:bodyPr lIns="0" tIns="0" rIns="0" bIns="0" anchor="ctr" anchorCtr="0"/>
          <a:lstStyle>
            <a:lvl1pPr algn="ctr">
              <a:defRPr sz="4800" b="1" i="0">
                <a:solidFill>
                  <a:schemeClr val="bg1"/>
                </a:solidFill>
                <a:latin typeface="Arial" charset="0"/>
                <a:ea typeface="Arial" charset="0"/>
                <a:cs typeface="Arial" charset="0"/>
              </a:defRPr>
            </a:lvl1pPr>
          </a:lstStyle>
          <a:p>
            <a:r>
              <a:rPr lang="en-US" dirty="0"/>
              <a:t>Presentation Title</a:t>
            </a:r>
            <a:endParaRPr lang="en-GB" dirty="0"/>
          </a:p>
        </p:txBody>
      </p:sp>
      <p:sp>
        <p:nvSpPr>
          <p:cNvPr id="6" name="Text Placeholder 5"/>
          <p:cNvSpPr>
            <a:spLocks noGrp="1"/>
          </p:cNvSpPr>
          <p:nvPr>
            <p:ph type="body" sz="quarter" idx="10" hasCustomPrompt="1"/>
          </p:nvPr>
        </p:nvSpPr>
        <p:spPr>
          <a:xfrm>
            <a:off x="765173" y="3093068"/>
            <a:ext cx="10611576" cy="467273"/>
          </a:xfrm>
          <a:prstGeom prst="rect">
            <a:avLst/>
          </a:prstGeom>
        </p:spPr>
        <p:txBody>
          <a:bodyPr lIns="0" tIns="0" rIns="0" bIns="0"/>
          <a:lstStyle>
            <a:lvl1pPr marL="0" indent="0" algn="ctr">
              <a:buNone/>
              <a:defRPr sz="2133" b="1" i="0">
                <a:solidFill>
                  <a:schemeClr val="bg1"/>
                </a:solidFill>
                <a:latin typeface="Arial" charset="0"/>
                <a:ea typeface="Arial" charset="0"/>
                <a:cs typeface="Arial" charset="0"/>
              </a:defRPr>
            </a:lvl1pPr>
            <a:lvl2pPr marL="37251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2pPr>
            <a:lvl3pPr marL="755612"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3pPr>
            <a:lvl4pPr marL="1130244"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4pPr>
            <a:lvl5pPr marL="144349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5pPr>
          </a:lstStyle>
          <a:p>
            <a:pPr lvl="0"/>
            <a:r>
              <a:rPr lang="en-US" dirty="0"/>
              <a:t>Presentation Subtitle</a:t>
            </a:r>
          </a:p>
        </p:txBody>
      </p:sp>
      <p:sp>
        <p:nvSpPr>
          <p:cNvPr id="7" name="Content Placeholder 6">
            <a:extLst>
              <a:ext uri="{FF2B5EF4-FFF2-40B4-BE49-F238E27FC236}">
                <a16:creationId xmlns:a16="http://schemas.microsoft.com/office/drawing/2014/main" id="{5C64F9DD-DE30-C34A-A485-A07A839C3CA1}"/>
              </a:ext>
            </a:extLst>
          </p:cNvPr>
          <p:cNvSpPr>
            <a:spLocks noGrp="1"/>
          </p:cNvSpPr>
          <p:nvPr>
            <p:ph sz="quarter" idx="13" hasCustomPrompt="1"/>
          </p:nvPr>
        </p:nvSpPr>
        <p:spPr>
          <a:xfrm>
            <a:off x="7063317" y="5454985"/>
            <a:ext cx="3510899" cy="683351"/>
          </a:xfrm>
          <a:prstGeom prst="rect">
            <a:avLst/>
          </a:prstGeom>
        </p:spPr>
        <p:txBody>
          <a:bodyPr anchor="ctr"/>
          <a:lstStyle>
            <a:lvl1pPr marL="0" indent="0" algn="ctr">
              <a:buNone/>
              <a:defRPr sz="1867">
                <a:solidFill>
                  <a:schemeClr val="bg1"/>
                </a:solidFill>
                <a:latin typeface="Arial" panose="020B0604020202020204" pitchFamily="34" charset="0"/>
                <a:cs typeface="Arial" panose="020B0604020202020204" pitchFamily="34" charset="0"/>
              </a:defRPr>
            </a:lvl1pPr>
          </a:lstStyle>
          <a:p>
            <a:pPr lvl="0"/>
            <a:r>
              <a:rPr lang="en-US" dirty="0"/>
              <a:t>Insert client logo</a:t>
            </a:r>
          </a:p>
        </p:txBody>
      </p:sp>
      <p:pic>
        <p:nvPicPr>
          <p:cNvPr id="5" name="Picture 4" descr="A black background with white text&#10;&#10;AI-generated content may be incorrect.">
            <a:extLst>
              <a:ext uri="{FF2B5EF4-FFF2-40B4-BE49-F238E27FC236}">
                <a16:creationId xmlns:a16="http://schemas.microsoft.com/office/drawing/2014/main" id="{932B273F-83BA-A2C5-1897-4D85557BA0D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82256" y="3560340"/>
            <a:ext cx="3759200" cy="3759200"/>
          </a:xfrm>
          <a:prstGeom prst="rect">
            <a:avLst/>
          </a:prstGeom>
        </p:spPr>
      </p:pic>
    </p:spTree>
    <p:extLst>
      <p:ext uri="{BB962C8B-B14F-4D97-AF65-F5344CB8AC3E}">
        <p14:creationId xmlns:p14="http://schemas.microsoft.com/office/powerpoint/2010/main" val="874474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 White">
    <p:bg>
      <p:bgPr>
        <a:solidFill>
          <a:srgbClr val="FEFDFF"/>
        </a:solidFill>
        <a:effectLst/>
      </p:bgPr>
    </p:bg>
    <p:spTree>
      <p:nvGrpSpPr>
        <p:cNvPr id="1" name=""/>
        <p:cNvGrpSpPr/>
        <p:nvPr/>
      </p:nvGrpSpPr>
      <p:grpSpPr>
        <a:xfrm>
          <a:off x="0" y="0"/>
          <a:ext cx="0" cy="0"/>
          <a:chOff x="0" y="0"/>
          <a:chExt cx="0" cy="0"/>
        </a:xfrm>
      </p:grpSpPr>
      <p:sp>
        <p:nvSpPr>
          <p:cNvPr id="20" name="Title 1"/>
          <p:cNvSpPr>
            <a:spLocks noGrp="1"/>
          </p:cNvSpPr>
          <p:nvPr>
            <p:ph type="title" hasCustomPrompt="1"/>
          </p:nvPr>
        </p:nvSpPr>
        <p:spPr>
          <a:xfrm>
            <a:off x="685950" y="571697"/>
            <a:ext cx="10807652" cy="440488"/>
          </a:xfrm>
          <a:prstGeom prst="rect">
            <a:avLst/>
          </a:prstGeom>
        </p:spPr>
        <p:txBody>
          <a:bodyPr lIns="0" tIns="0" rIns="0" bIns="0" anchor="ctr" anchorCtr="0"/>
          <a:lstStyle>
            <a:lvl1pPr algn="l">
              <a:lnSpc>
                <a:spcPts val="2667"/>
              </a:lnSpc>
              <a:defRPr sz="2933" b="1" i="0">
                <a:solidFill>
                  <a:schemeClr val="tx1"/>
                </a:solidFill>
                <a:latin typeface="Arial" charset="0"/>
                <a:ea typeface="Arial" charset="0"/>
                <a:cs typeface="Arial" charset="0"/>
              </a:defRPr>
            </a:lvl1pPr>
          </a:lstStyle>
          <a:p>
            <a:r>
              <a:rPr lang="en-US" dirty="0"/>
              <a:t>Slide title</a:t>
            </a:r>
            <a:endParaRPr lang="en-GB" dirty="0"/>
          </a:p>
        </p:txBody>
      </p:sp>
      <p:sp>
        <p:nvSpPr>
          <p:cNvPr id="3" name="Text Placeholder 2">
            <a:extLst>
              <a:ext uri="{FF2B5EF4-FFF2-40B4-BE49-F238E27FC236}">
                <a16:creationId xmlns:a16="http://schemas.microsoft.com/office/drawing/2014/main" id="{36200608-C600-554E-813F-6D4EC02AF493}"/>
              </a:ext>
            </a:extLst>
          </p:cNvPr>
          <p:cNvSpPr>
            <a:spLocks noGrp="1"/>
          </p:cNvSpPr>
          <p:nvPr>
            <p:ph type="body" sz="quarter" idx="10"/>
          </p:nvPr>
        </p:nvSpPr>
        <p:spPr>
          <a:xfrm>
            <a:off x="569070" y="1583269"/>
            <a:ext cx="10807700" cy="2800351"/>
          </a:xfrm>
          <a:prstGeom prst="rect">
            <a:avLst/>
          </a:prstGeom>
        </p:spPr>
        <p:txBody>
          <a:bodyPr/>
          <a:lstStyle>
            <a:lvl1pPr marL="380981" indent="-380981">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1pPr>
            <a:lvl2pPr marL="598988"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2pPr>
            <a:lvl3pPr marL="833926"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3pPr>
            <a:lvl4pPr marL="1077330"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4pPr>
            <a:lvl5pPr marL="1316502"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Box 16">
            <a:extLst>
              <a:ext uri="{FF2B5EF4-FFF2-40B4-BE49-F238E27FC236}">
                <a16:creationId xmlns:a16="http://schemas.microsoft.com/office/drawing/2014/main" id="{C95C8156-3E9F-6D42-BC09-E86831EB4BD7}"/>
              </a:ext>
            </a:extLst>
          </p:cNvPr>
          <p:cNvSpPr txBox="1"/>
          <p:nvPr userDrawn="1"/>
        </p:nvSpPr>
        <p:spPr>
          <a:xfrm>
            <a:off x="11469217" y="6576097"/>
            <a:ext cx="666087" cy="194990"/>
          </a:xfrm>
          <a:prstGeom prst="rect">
            <a:avLst/>
          </a:prstGeom>
          <a:noFill/>
        </p:spPr>
        <p:txBody>
          <a:bodyPr wrap="square" rtlCol="0">
            <a:spAutoFit/>
          </a:bodyPr>
          <a:lstStyle/>
          <a:p>
            <a:pPr algn="r"/>
            <a:fld id="{A99FBE0F-E013-8744-85F1-2202A360EF8A}" type="slidenum">
              <a:rPr lang="en-US" sz="667" b="0" i="0" spc="0" baseline="0" smtClean="0">
                <a:solidFill>
                  <a:schemeClr val="bg1"/>
                </a:solidFill>
                <a:latin typeface="Arial" charset="0"/>
                <a:ea typeface="Arial" charset="0"/>
                <a:cs typeface="Arial" charset="0"/>
              </a:rPr>
              <a:pPr algn="r"/>
              <a:t>‹#›</a:t>
            </a:fld>
            <a:endParaRPr lang="en-US" sz="667" b="0" i="0" spc="0" baseline="0" dirty="0">
              <a:solidFill>
                <a:schemeClr val="bg1"/>
              </a:solidFill>
              <a:latin typeface="Arial" charset="0"/>
              <a:ea typeface="Arial" charset="0"/>
              <a:cs typeface="Arial" charset="0"/>
            </a:endParaRPr>
          </a:p>
        </p:txBody>
      </p:sp>
      <p:pic>
        <p:nvPicPr>
          <p:cNvPr id="6" name="Picture 5">
            <a:extLst>
              <a:ext uri="{FF2B5EF4-FFF2-40B4-BE49-F238E27FC236}">
                <a16:creationId xmlns:a16="http://schemas.microsoft.com/office/drawing/2014/main" id="{EA1BCDDE-4B2D-D9CB-1B80-F64BBF7AB9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58997"/>
            <a:ext cx="419279" cy="358907"/>
          </a:xfrm>
          <a:prstGeom prst="rect">
            <a:avLst/>
          </a:prstGeom>
        </p:spPr>
      </p:pic>
      <p:grpSp>
        <p:nvGrpSpPr>
          <p:cNvPr id="9" name="Group 8">
            <a:extLst>
              <a:ext uri="{FF2B5EF4-FFF2-40B4-BE49-F238E27FC236}">
                <a16:creationId xmlns:a16="http://schemas.microsoft.com/office/drawing/2014/main" id="{B80FCFB7-345B-5532-901F-FB3C2AA30452}"/>
              </a:ext>
            </a:extLst>
          </p:cNvPr>
          <p:cNvGrpSpPr/>
          <p:nvPr userDrawn="1"/>
        </p:nvGrpSpPr>
        <p:grpSpPr>
          <a:xfrm>
            <a:off x="-56699" y="6286303"/>
            <a:ext cx="12248699" cy="582884"/>
            <a:chOff x="-42524" y="4714727"/>
            <a:chExt cx="9186524" cy="437163"/>
          </a:xfrm>
        </p:grpSpPr>
        <p:pic>
          <p:nvPicPr>
            <p:cNvPr id="10" name="Picture 9">
              <a:extLst>
                <a:ext uri="{FF2B5EF4-FFF2-40B4-BE49-F238E27FC236}">
                  <a16:creationId xmlns:a16="http://schemas.microsoft.com/office/drawing/2014/main" id="{FAD3E70E-8207-1DD9-A0BA-C9B76DADC2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524" y="4714727"/>
              <a:ext cx="9186524" cy="437163"/>
            </a:xfrm>
            <a:prstGeom prst="rect">
              <a:avLst/>
            </a:prstGeom>
          </p:spPr>
        </p:pic>
        <p:grpSp>
          <p:nvGrpSpPr>
            <p:cNvPr id="11" name="Group 10">
              <a:extLst>
                <a:ext uri="{FF2B5EF4-FFF2-40B4-BE49-F238E27FC236}">
                  <a16:creationId xmlns:a16="http://schemas.microsoft.com/office/drawing/2014/main" id="{57882186-B640-AD70-6515-3EE323ECF299}"/>
                </a:ext>
              </a:extLst>
            </p:cNvPr>
            <p:cNvGrpSpPr/>
            <p:nvPr userDrawn="1"/>
          </p:nvGrpSpPr>
          <p:grpSpPr>
            <a:xfrm>
              <a:off x="157229" y="4832170"/>
              <a:ext cx="1798358" cy="269180"/>
              <a:chOff x="314460" y="4647384"/>
              <a:chExt cx="2355272" cy="359852"/>
            </a:xfrm>
          </p:grpSpPr>
          <p:pic>
            <p:nvPicPr>
              <p:cNvPr id="12" name="Picture 11" descr="A black background with white text&#10;&#10;AI-generated content may be incorrect.">
                <a:extLst>
                  <a:ext uri="{FF2B5EF4-FFF2-40B4-BE49-F238E27FC236}">
                    <a16:creationId xmlns:a16="http://schemas.microsoft.com/office/drawing/2014/main" id="{14B8BAAB-1A0E-E7F6-9140-98409B12FFEE}"/>
                  </a:ext>
                </a:extLst>
              </p:cNvPr>
              <p:cNvPicPr>
                <a:picLocks noChangeAspect="1"/>
              </p:cNvPicPr>
              <p:nvPr userDrawn="1"/>
            </p:nvPicPr>
            <p:blipFill>
              <a:blip r:embed="rId4">
                <a:extLst>
                  <a:ext uri="{28A0092B-C50C-407E-A947-70E740481C1C}">
                    <a14:useLocalDpi xmlns:a14="http://schemas.microsoft.com/office/drawing/2010/main" val="0"/>
                  </a:ext>
                </a:extLst>
              </a:blip>
              <a:srcRect l="22043" t="31741" r="22676" b="46337"/>
              <a:stretch/>
            </p:blipFill>
            <p:spPr>
              <a:xfrm>
                <a:off x="314460" y="4647384"/>
                <a:ext cx="907472" cy="359852"/>
              </a:xfrm>
              <a:prstGeom prst="rect">
                <a:avLst/>
              </a:prstGeom>
            </p:spPr>
          </p:pic>
          <p:pic>
            <p:nvPicPr>
              <p:cNvPr id="13" name="Picture 12" descr="A black background with white text&#10;&#10;AI-generated content may be incorrect.">
                <a:extLst>
                  <a:ext uri="{FF2B5EF4-FFF2-40B4-BE49-F238E27FC236}">
                    <a16:creationId xmlns:a16="http://schemas.microsoft.com/office/drawing/2014/main" id="{7C5C02F2-245D-A75B-547C-7883F417D6DC}"/>
                  </a:ext>
                </a:extLst>
              </p:cNvPr>
              <p:cNvPicPr>
                <a:picLocks noChangeAspect="1"/>
              </p:cNvPicPr>
              <p:nvPr userDrawn="1"/>
            </p:nvPicPr>
            <p:blipFill>
              <a:blip r:embed="rId5">
                <a:extLst>
                  <a:ext uri="{28A0092B-C50C-407E-A947-70E740481C1C}">
                    <a14:useLocalDpi xmlns:a14="http://schemas.microsoft.com/office/drawing/2010/main" val="0"/>
                  </a:ext>
                </a:extLst>
              </a:blip>
              <a:srcRect l="25307" t="53939" r="23341" b="35665"/>
              <a:stretch/>
            </p:blipFill>
            <p:spPr>
              <a:xfrm>
                <a:off x="1221932" y="4714151"/>
                <a:ext cx="1447800" cy="293085"/>
              </a:xfrm>
              <a:prstGeom prst="rect">
                <a:avLst/>
              </a:prstGeom>
            </p:spPr>
          </p:pic>
        </p:grpSp>
      </p:grpSp>
    </p:spTree>
    <p:extLst>
      <p:ext uri="{BB962C8B-B14F-4D97-AF65-F5344CB8AC3E}">
        <p14:creationId xmlns:p14="http://schemas.microsoft.com/office/powerpoint/2010/main" val="1611990270"/>
      </p:ext>
    </p:extLst>
  </p:cSld>
  <p:clrMapOvr>
    <a:masterClrMapping/>
  </p:clrMapOvr>
  <p:extLst>
    <p:ext uri="{DCECCB84-F9BA-43D5-87BE-67443E8EF086}">
      <p15:sldGuideLst xmlns:p15="http://schemas.microsoft.com/office/powerpoint/2012/main">
        <p15:guide id="1" pos="1474">
          <p15:clr>
            <a:srgbClr val="FBAE40"/>
          </p15:clr>
        </p15:guide>
        <p15:guide id="2" pos="31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2DDA2-C9D7-BEE0-C5C4-5464E718E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CE753A-52F5-324C-7E6B-E7754DD509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D8AF09-16F5-52C4-5557-454AC7EC3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AC259E-556D-4235-96F0-6E58B2597D71}" type="datetimeFigureOut">
              <a:rPr lang="en-IN" smtClean="0"/>
              <a:t>04-01-2026</a:t>
            </a:fld>
            <a:endParaRPr lang="en-IN"/>
          </a:p>
        </p:txBody>
      </p:sp>
      <p:sp>
        <p:nvSpPr>
          <p:cNvPr id="5" name="Footer Placeholder 4">
            <a:extLst>
              <a:ext uri="{FF2B5EF4-FFF2-40B4-BE49-F238E27FC236}">
                <a16:creationId xmlns:a16="http://schemas.microsoft.com/office/drawing/2014/main" id="{C8AC55A3-70FB-800E-74F4-2331A3773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3849299-CBEC-8B41-6759-8BDA4AA714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023D60-14EE-4B70-9C4B-D6B619001BF7}" type="slidenum">
              <a:rPr lang="en-IN" smtClean="0"/>
              <a:t>‹#›</a:t>
            </a:fld>
            <a:endParaRPr lang="en-IN"/>
          </a:p>
        </p:txBody>
      </p:sp>
    </p:spTree>
    <p:extLst>
      <p:ext uri="{BB962C8B-B14F-4D97-AF65-F5344CB8AC3E}">
        <p14:creationId xmlns:p14="http://schemas.microsoft.com/office/powerpoint/2010/main" val="529515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E059C6-85BA-4084-1DF2-45B8E4F56CF2}"/>
              </a:ext>
            </a:extLst>
          </p:cNvPr>
          <p:cNvSpPr>
            <a:spLocks noGrp="1"/>
          </p:cNvSpPr>
          <p:nvPr>
            <p:ph type="title"/>
          </p:nvPr>
        </p:nvSpPr>
        <p:spPr>
          <a:xfrm>
            <a:off x="1019985" y="1784818"/>
            <a:ext cx="10532918" cy="1292678"/>
          </a:xfrm>
        </p:spPr>
        <p:txBody>
          <a:bodyPr>
            <a:normAutofit/>
          </a:bodyPr>
          <a:lstStyle/>
          <a:p>
            <a:pPr algn="l"/>
            <a:r>
              <a:rPr lang="en-US" dirty="0"/>
              <a:t>What is Software Engineering?</a:t>
            </a:r>
          </a:p>
        </p:txBody>
      </p:sp>
    </p:spTree>
    <p:extLst>
      <p:ext uri="{BB962C8B-B14F-4D97-AF65-F5344CB8AC3E}">
        <p14:creationId xmlns:p14="http://schemas.microsoft.com/office/powerpoint/2010/main" val="254516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DC7DC-980A-2D2E-C8C4-7CC5B7D0FBB6}"/>
              </a:ext>
            </a:extLst>
          </p:cNvPr>
          <p:cNvSpPr>
            <a:spLocks noGrp="1"/>
          </p:cNvSpPr>
          <p:nvPr>
            <p:ph type="title"/>
          </p:nvPr>
        </p:nvSpPr>
        <p:spPr/>
        <p:txBody>
          <a:body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is Software Engineering?</a:t>
            </a:r>
          </a:p>
        </p:txBody>
      </p:sp>
      <p:sp>
        <p:nvSpPr>
          <p:cNvPr id="5" name="Rectangle 3">
            <a:extLst>
              <a:ext uri="{FF2B5EF4-FFF2-40B4-BE49-F238E27FC236}">
                <a16:creationId xmlns:a16="http://schemas.microsoft.com/office/drawing/2014/main" id="{69365792-823A-5D0A-7DFD-70C1B4B7B4AC}"/>
              </a:ext>
            </a:extLst>
          </p:cNvPr>
          <p:cNvSpPr>
            <a:spLocks noChangeArrowheads="1"/>
          </p:cNvSpPr>
          <p:nvPr/>
        </p:nvSpPr>
        <p:spPr bwMode="auto">
          <a:xfrm>
            <a:off x="685950" y="1885428"/>
            <a:ext cx="10663694"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37931725" indent="-37474525" eaLnBrk="0" hangingPunct="0">
              <a:defRPr sz="2400">
                <a:solidFill>
                  <a:schemeClr val="tx1"/>
                </a:solidFill>
                <a:latin typeface="Times New Roman" panose="02020603050405020304" pitchFamily="18" charset="0"/>
                <a:cs typeface="Arial" panose="020B0604020202020204" pitchFamily="34" charset="0"/>
              </a:defRPr>
            </a:lvl2pPr>
            <a:lvl3pPr eaLnBrk="0" hangingPunct="0">
              <a:defRPr sz="2400">
                <a:solidFill>
                  <a:schemeClr val="tx1"/>
                </a:solidFill>
                <a:latin typeface="Times New Roman" panose="02020603050405020304" pitchFamily="18" charset="0"/>
                <a:cs typeface="Arial" panose="020B0604020202020204" pitchFamily="34" charset="0"/>
              </a:defRPr>
            </a:lvl3pPr>
            <a:lvl4pPr eaLnBrk="0" hangingPunct="0">
              <a:defRPr sz="2400">
                <a:solidFill>
                  <a:schemeClr val="tx1"/>
                </a:solidFill>
                <a:latin typeface="Times New Roman" panose="02020603050405020304" pitchFamily="18" charset="0"/>
                <a:cs typeface="Arial" panose="020B0604020202020204" pitchFamily="34" charset="0"/>
              </a:defRPr>
            </a:lvl4pPr>
            <a:lvl5pPr eaLnBrk="0" hangingPunct="0">
              <a:defRPr sz="2400">
                <a:solidFill>
                  <a:schemeClr val="tx1"/>
                </a:solidFill>
                <a:latin typeface="Times New Roman" panose="02020603050405020304" pitchFamily="18" charset="0"/>
                <a:cs typeface="Arial" panose="020B0604020202020204" pitchFamily="34" charset="0"/>
              </a:defRPr>
            </a:lvl5pPr>
            <a:lvl6pPr marL="4572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9144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2800" dirty="0">
                <a:solidFill>
                  <a:schemeClr val="accent1"/>
                </a:solidFill>
              </a:rPr>
              <a:t>Software Engineering is the process of designing, developing, testing, and maintaining software.</a:t>
            </a:r>
          </a:p>
          <a:p>
            <a:endParaRPr lang="en-US" altLang="en-US" sz="2800" dirty="0">
              <a:solidFill>
                <a:schemeClr val="accent1"/>
              </a:solidFill>
            </a:endParaRPr>
          </a:p>
          <a:p>
            <a:pPr marL="457200" indent="-457200">
              <a:buFont typeface="Arial" panose="020B0604020202020204" pitchFamily="34" charset="0"/>
              <a:buChar char="•"/>
            </a:pPr>
            <a:r>
              <a:rPr lang="en-US" altLang="en-US" sz="2800" dirty="0">
                <a:solidFill>
                  <a:schemeClr val="accent1"/>
                </a:solidFill>
              </a:rPr>
              <a:t>It is a systematic and disciplined approach to software development that aims to create high-quality, reliable, and maintainable software.</a:t>
            </a:r>
          </a:p>
          <a:p>
            <a:pPr marL="457200" indent="-457200">
              <a:buFont typeface="Arial" panose="020B0604020202020204" pitchFamily="34" charset="0"/>
              <a:buChar char="•"/>
            </a:pPr>
            <a:endParaRPr lang="en-US" altLang="en-US" sz="2800" dirty="0">
              <a:solidFill>
                <a:schemeClr val="accent1"/>
              </a:solidFill>
            </a:endParaRPr>
          </a:p>
          <a:p>
            <a:pPr marL="457200" indent="-457200">
              <a:buFont typeface="Arial" panose="020B0604020202020204" pitchFamily="34" charset="0"/>
              <a:buChar char="•"/>
            </a:pPr>
            <a:r>
              <a:rPr lang="en-US" altLang="en-US" sz="2800" dirty="0">
                <a:solidFill>
                  <a:schemeClr val="accent1"/>
                </a:solidFill>
              </a:rPr>
              <a:t>It includes a variety of techniques, tools, and methodologies, including requirements analysis, design, testing, and maintenance.</a:t>
            </a:r>
          </a:p>
        </p:txBody>
      </p:sp>
    </p:spTree>
    <p:extLst>
      <p:ext uri="{BB962C8B-B14F-4D97-AF65-F5344CB8AC3E}">
        <p14:creationId xmlns:p14="http://schemas.microsoft.com/office/powerpoint/2010/main" val="2782316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8B9A-5321-64EE-E38E-94B4DCFAF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DC04-8740-8404-A7C0-372D3B8AA28F}"/>
              </a:ext>
            </a:extLst>
          </p:cNvPr>
          <p:cNvSpPr>
            <a:spLocks noGrp="1"/>
          </p:cNvSpPr>
          <p:nvPr>
            <p:ph type="title"/>
          </p:nvPr>
        </p:nvSpPr>
        <p:spPr/>
        <p:txBody>
          <a:bodyPr/>
          <a:lstStyle/>
          <a:p>
            <a:r>
              <a:rPr lang="en-US" altLang="en-US" sz="3200">
                <a:latin typeface="Times New Roman" panose="02020603050405020304" pitchFamily="18" charset="0"/>
                <a:ea typeface="ＭＳ Ｐゴシック" panose="020B0600070205080204" pitchFamily="34" charset="-128"/>
                <a:cs typeface="Times New Roman" panose="02020603050405020304" pitchFamily="18" charset="0"/>
              </a:rPr>
              <a:t>What is Software Engineering?</a:t>
            </a:r>
            <a:endParaRPr lang="en-US" dirty="0"/>
          </a:p>
        </p:txBody>
      </p:sp>
      <p:pic>
        <p:nvPicPr>
          <p:cNvPr id="3074" name="Picture 2" descr="What is Software Engineering? [Definition]">
            <a:extLst>
              <a:ext uri="{FF2B5EF4-FFF2-40B4-BE49-F238E27FC236}">
                <a16:creationId xmlns:a16="http://schemas.microsoft.com/office/drawing/2014/main" id="{CA668111-40C6-57A9-A0F1-65395AF37B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383"/>
          <a:stretch>
            <a:fillRect/>
          </a:stretch>
        </p:blipFill>
        <p:spPr bwMode="auto">
          <a:xfrm>
            <a:off x="1648691" y="1458548"/>
            <a:ext cx="8894618" cy="421073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251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507287" y="1455174"/>
            <a:ext cx="10573667" cy="4013919"/>
          </a:xfrm>
          <a:prstGeom prst="rect">
            <a:avLst/>
          </a:prstGeom>
        </p:spPr>
        <p:txBody>
          <a:bodyPr vert="horz" wrap="square" lIns="0" tIns="12700" rIns="0" bIns="0" rtlCol="0">
            <a:spAutoFit/>
          </a:bodyPr>
          <a:lstStyle/>
          <a:p>
            <a:pPr>
              <a:defRPr sz="1800"/>
            </a:pPr>
            <a:r>
              <a:rPr lang="en-US" sz="2000" dirty="0">
                <a:latin typeface="Times New Roman" panose="02020603050405020304" pitchFamily="18" charset="0"/>
                <a:cs typeface="Times New Roman" panose="02020603050405020304" pitchFamily="18" charset="0"/>
              </a:rPr>
              <a:t>Software Development Life Cycle (SDLC) is a structured process that is used to design, develop, and test high-quality software. SDLC, or software development life cycle, is a methodology that defines the entire procedure of software development step-by-step. The goal of the SDLC life cycle model is to deliver high-quality, maintainable software that meets the user's requirements.</a:t>
            </a:r>
          </a:p>
          <a:p>
            <a:pPr>
              <a:defRPr sz="1800"/>
            </a:pPr>
            <a:endParaRPr lang="en-US" sz="2000" dirty="0">
              <a:latin typeface="Times New Roman" panose="02020603050405020304" pitchFamily="18" charset="0"/>
              <a:cs typeface="Times New Roman" panose="02020603050405020304" pitchFamily="18" charset="0"/>
            </a:endParaRPr>
          </a:p>
          <a:p>
            <a:pPr>
              <a:defRPr sz="1800"/>
            </a:pPr>
            <a:r>
              <a:rPr lang="en-IN" sz="2000" dirty="0">
                <a:latin typeface="Times New Roman" panose="02020603050405020304" pitchFamily="18" charset="0"/>
                <a:cs typeface="Times New Roman" panose="02020603050405020304" pitchFamily="18" charset="0"/>
              </a:rPr>
              <a:t>Common phases of SDLC :</a:t>
            </a:r>
          </a:p>
          <a:p>
            <a:pPr>
              <a:defRPr sz="1800"/>
            </a:pPr>
            <a:endParaRPr lang="en-IN" sz="2000" dirty="0">
              <a:latin typeface="Times New Roman" panose="02020603050405020304" pitchFamily="18" charset="0"/>
              <a:cs typeface="Times New Roman" panose="02020603050405020304" pitchFamily="18" charset="0"/>
            </a:endParaRP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Requirements</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Design</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Implementation</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Testing</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Deployment</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Maintenance</a:t>
            </a: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is SDLC?</a:t>
            </a:r>
          </a:p>
        </p:txBody>
      </p:sp>
    </p:spTree>
    <p:extLst>
      <p:ext uri="{BB962C8B-B14F-4D97-AF65-F5344CB8AC3E}">
        <p14:creationId xmlns:p14="http://schemas.microsoft.com/office/powerpoint/2010/main" val="3572084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78323-8EC4-CEE4-81DC-5BE30336F9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EB6075-37B4-AE88-2A14-442DB5731019}"/>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6 Phases of SDLC</a:t>
            </a:r>
          </a:p>
        </p:txBody>
      </p:sp>
      <p:pic>
        <p:nvPicPr>
          <p:cNvPr id="1026" name="Picture 2" descr="Lightbox">
            <a:extLst>
              <a:ext uri="{FF2B5EF4-FFF2-40B4-BE49-F238E27FC236}">
                <a16:creationId xmlns:a16="http://schemas.microsoft.com/office/drawing/2014/main" id="{8549A534-5C82-CE26-9A6B-D4B2A1A3FC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778"/>
          <a:stretch>
            <a:fillRect/>
          </a:stretch>
        </p:blipFill>
        <p:spPr bwMode="auto">
          <a:xfrm>
            <a:off x="1333500" y="1413510"/>
            <a:ext cx="9525000" cy="434443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683870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04553-5871-09B4-356B-2AB715AFE4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B85C1A-3A95-A2AB-E4C0-13DE70D3245C}"/>
              </a:ext>
            </a:extLst>
          </p:cNvPr>
          <p:cNvSpPr>
            <a:spLocks noGrp="1"/>
          </p:cNvSpPr>
          <p:nvPr>
            <p:ph type="title"/>
          </p:nvPr>
        </p:nvSpPr>
        <p:spPr>
          <a:xfrm>
            <a:off x="1019985" y="1784818"/>
            <a:ext cx="10532918" cy="1292678"/>
          </a:xfrm>
        </p:spPr>
        <p:txBody>
          <a:bodyPr>
            <a:normAutofit/>
          </a:bodyPr>
          <a:lstStyle/>
          <a:p>
            <a:pPr algn="l"/>
            <a:r>
              <a:rPr lang="en-US" dirty="0"/>
              <a:t>SDLC (Agile, Waterfall, DevOps)</a:t>
            </a:r>
          </a:p>
        </p:txBody>
      </p:sp>
    </p:spTree>
    <p:extLst>
      <p:ext uri="{BB962C8B-B14F-4D97-AF65-F5344CB8AC3E}">
        <p14:creationId xmlns:p14="http://schemas.microsoft.com/office/powerpoint/2010/main" val="3031848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DC7DC-980A-2D2E-C8C4-7CC5B7D0FBB6}"/>
              </a:ext>
            </a:extLst>
          </p:cNvPr>
          <p:cNvSpPr>
            <a:spLocks noGrp="1"/>
          </p:cNvSpPr>
          <p:nvPr>
            <p:ph type="title"/>
          </p:nvPr>
        </p:nvSpPr>
        <p:spPr/>
        <p:txBody>
          <a:body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SDLC Models</a:t>
            </a:r>
          </a:p>
        </p:txBody>
      </p:sp>
      <p:sp>
        <p:nvSpPr>
          <p:cNvPr id="5" name="Rectangle 3">
            <a:extLst>
              <a:ext uri="{FF2B5EF4-FFF2-40B4-BE49-F238E27FC236}">
                <a16:creationId xmlns:a16="http://schemas.microsoft.com/office/drawing/2014/main" id="{69365792-823A-5D0A-7DFD-70C1B4B7B4AC}"/>
              </a:ext>
            </a:extLst>
          </p:cNvPr>
          <p:cNvSpPr>
            <a:spLocks noChangeArrowheads="1"/>
          </p:cNvSpPr>
          <p:nvPr/>
        </p:nvSpPr>
        <p:spPr bwMode="auto">
          <a:xfrm>
            <a:off x="685950" y="1330778"/>
            <a:ext cx="10663694" cy="335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37931725" indent="-37474525" eaLnBrk="0" hangingPunct="0">
              <a:defRPr sz="2400">
                <a:solidFill>
                  <a:schemeClr val="tx1"/>
                </a:solidFill>
                <a:latin typeface="Times New Roman" panose="02020603050405020304" pitchFamily="18" charset="0"/>
                <a:cs typeface="Arial" panose="020B0604020202020204" pitchFamily="34" charset="0"/>
              </a:defRPr>
            </a:lvl2pPr>
            <a:lvl3pPr eaLnBrk="0" hangingPunct="0">
              <a:defRPr sz="2400">
                <a:solidFill>
                  <a:schemeClr val="tx1"/>
                </a:solidFill>
                <a:latin typeface="Times New Roman" panose="02020603050405020304" pitchFamily="18" charset="0"/>
                <a:cs typeface="Arial" panose="020B0604020202020204" pitchFamily="34" charset="0"/>
              </a:defRPr>
            </a:lvl3pPr>
            <a:lvl4pPr eaLnBrk="0" hangingPunct="0">
              <a:defRPr sz="2400">
                <a:solidFill>
                  <a:schemeClr val="tx1"/>
                </a:solidFill>
                <a:latin typeface="Times New Roman" panose="02020603050405020304" pitchFamily="18" charset="0"/>
                <a:cs typeface="Arial" panose="020B0604020202020204" pitchFamily="34" charset="0"/>
              </a:defRPr>
            </a:lvl4pPr>
            <a:lvl5pPr eaLnBrk="0" hangingPunct="0">
              <a:defRPr sz="2400">
                <a:solidFill>
                  <a:schemeClr val="tx1"/>
                </a:solidFill>
                <a:latin typeface="Times New Roman" panose="02020603050405020304" pitchFamily="18" charset="0"/>
                <a:cs typeface="Arial" panose="020B0604020202020204" pitchFamily="34" charset="0"/>
              </a:defRPr>
            </a:lvl5pPr>
            <a:lvl6pPr marL="4572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9144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2800" dirty="0"/>
              <a:t>SDLC models provide different approaches/methodologies for managing development.</a:t>
            </a:r>
          </a:p>
          <a:p>
            <a:endParaRPr lang="en-US" altLang="en-US" sz="2800" dirty="0"/>
          </a:p>
          <a:p>
            <a:r>
              <a:rPr lang="en-US" sz="2800" dirty="0"/>
              <a:t>Some popular models are :</a:t>
            </a:r>
          </a:p>
          <a:p>
            <a:endParaRPr lang="en-US" sz="2800" dirty="0"/>
          </a:p>
          <a:p>
            <a:pPr marL="342900" indent="-342900">
              <a:buFont typeface="Arial" panose="020B0604020202020204" pitchFamily="34" charset="0"/>
              <a:buChar char="•"/>
            </a:pPr>
            <a:r>
              <a:rPr lang="en-US" b="1" dirty="0"/>
              <a:t>Waterfall</a:t>
            </a:r>
            <a:r>
              <a:rPr lang="en-US" dirty="0"/>
              <a:t> – Traditional, linear approach</a:t>
            </a:r>
          </a:p>
          <a:p>
            <a:pPr marL="342900" indent="-342900">
              <a:buFont typeface="Arial" panose="020B0604020202020204" pitchFamily="34" charset="0"/>
              <a:buChar char="•"/>
            </a:pPr>
            <a:r>
              <a:rPr lang="en-US" b="1" dirty="0"/>
              <a:t>Agile</a:t>
            </a:r>
            <a:r>
              <a:rPr lang="en-US" dirty="0"/>
              <a:t> – Iterative, flexible, customer-centric</a:t>
            </a:r>
          </a:p>
          <a:p>
            <a:pPr marL="342900" indent="-342900">
              <a:buFont typeface="Arial" panose="020B0604020202020204" pitchFamily="34" charset="0"/>
              <a:buChar char="•"/>
            </a:pPr>
            <a:r>
              <a:rPr lang="en-US" b="1" dirty="0"/>
              <a:t>DevOps</a:t>
            </a:r>
            <a:r>
              <a:rPr lang="en-US" dirty="0"/>
              <a:t> – Continuous development + deployment + operations</a:t>
            </a:r>
          </a:p>
        </p:txBody>
      </p:sp>
    </p:spTree>
    <p:extLst>
      <p:ext uri="{BB962C8B-B14F-4D97-AF65-F5344CB8AC3E}">
        <p14:creationId xmlns:p14="http://schemas.microsoft.com/office/powerpoint/2010/main" val="4045221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8B9A-5321-64EE-E38E-94B4DCFAF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DC04-8740-8404-A7C0-372D3B8AA28F}"/>
              </a:ext>
            </a:extLst>
          </p:cNvPr>
          <p:cNvSpPr>
            <a:spLocks noGrp="1"/>
          </p:cNvSpPr>
          <p:nvPr>
            <p:ph type="title"/>
          </p:nvPr>
        </p:nvSpPr>
        <p:spPr/>
        <p:txBody>
          <a:bodyPr/>
          <a:lstStyle/>
          <a:p>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Waterfall Model</a:t>
            </a:r>
            <a:endParaRPr lang="en-US" dirty="0"/>
          </a:p>
        </p:txBody>
      </p:sp>
      <p:sp>
        <p:nvSpPr>
          <p:cNvPr id="8" name="TextBox 7">
            <a:extLst>
              <a:ext uri="{FF2B5EF4-FFF2-40B4-BE49-F238E27FC236}">
                <a16:creationId xmlns:a16="http://schemas.microsoft.com/office/drawing/2014/main" id="{2B9D6EFA-3667-EB9D-6A82-9C67850BEE96}"/>
              </a:ext>
            </a:extLst>
          </p:cNvPr>
          <p:cNvSpPr txBox="1"/>
          <p:nvPr/>
        </p:nvSpPr>
        <p:spPr>
          <a:xfrm>
            <a:off x="685950" y="1380797"/>
            <a:ext cx="4991644" cy="4401205"/>
          </a:xfrm>
          <a:prstGeom prst="rect">
            <a:avLst/>
          </a:prstGeom>
          <a:noFill/>
        </p:spPr>
        <p:txBody>
          <a:bodyPr wrap="square" rtlCol="0">
            <a:spAutoFit/>
          </a:bodyPr>
          <a:lstStyle/>
          <a:p>
            <a:pPr>
              <a:defRPr sz="1800"/>
            </a:pPr>
            <a:r>
              <a:rPr lang="en-US" sz="2000" dirty="0">
                <a:latin typeface="Times New Roman" panose="02020603050405020304" pitchFamily="18" charset="0"/>
                <a:cs typeface="Times New Roman" panose="02020603050405020304" pitchFamily="18" charset="0"/>
              </a:rPr>
              <a:t>The</a:t>
            </a:r>
            <a:r>
              <a:rPr lang="en-US" sz="2000" b="1" dirty="0">
                <a:latin typeface="Times New Roman" panose="02020603050405020304" pitchFamily="18" charset="0"/>
                <a:cs typeface="Times New Roman" panose="02020603050405020304" pitchFamily="18" charset="0"/>
              </a:rPr>
              <a:t> Waterfall Model </a:t>
            </a:r>
            <a:r>
              <a:rPr lang="en-US" sz="2000" dirty="0">
                <a:latin typeface="Times New Roman" panose="02020603050405020304" pitchFamily="18" charset="0"/>
                <a:cs typeface="Times New Roman" panose="02020603050405020304" pitchFamily="18" charset="0"/>
              </a:rPr>
              <a:t>is a </a:t>
            </a:r>
            <a:r>
              <a:rPr lang="en-US" sz="2000" b="1" dirty="0">
                <a:latin typeface="Times New Roman" panose="02020603050405020304" pitchFamily="18" charset="0"/>
                <a:cs typeface="Times New Roman" panose="02020603050405020304" pitchFamily="18" charset="0"/>
              </a:rPr>
              <a:t>Traditional Software Development Methodology</a:t>
            </a:r>
            <a:r>
              <a:rPr lang="en-US" sz="2000" dirty="0">
                <a:latin typeface="Times New Roman" panose="02020603050405020304" pitchFamily="18" charset="0"/>
                <a:cs typeface="Times New Roman" panose="02020603050405020304" pitchFamily="18" charset="0"/>
              </a:rPr>
              <a:t>. It was first introduced by </a:t>
            </a:r>
            <a:r>
              <a:rPr lang="en-US" sz="2000" b="1" dirty="0">
                <a:latin typeface="Times New Roman" panose="02020603050405020304" pitchFamily="18" charset="0"/>
                <a:cs typeface="Times New Roman" panose="02020603050405020304" pitchFamily="18" charset="0"/>
              </a:rPr>
              <a:t>Winston W. Royce </a:t>
            </a:r>
            <a:r>
              <a:rPr lang="en-US" sz="2000" dirty="0">
                <a:latin typeface="Times New Roman" panose="02020603050405020304" pitchFamily="18" charset="0"/>
                <a:cs typeface="Times New Roman" panose="02020603050405020304" pitchFamily="18" charset="0"/>
              </a:rPr>
              <a:t>in 1970. It is a linear and sequential approach to software development that consists of several phases.</a:t>
            </a:r>
          </a:p>
          <a:p>
            <a:pPr>
              <a:defRPr sz="1800"/>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Oldest and simplest model</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Sequential phases, one after another</a:t>
            </a:r>
          </a:p>
          <a:p>
            <a:pPr marL="285750" indent="-28575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a:defRPr sz="1800"/>
            </a:pPr>
            <a:r>
              <a:rPr lang="en-US" sz="2000" dirty="0">
                <a:latin typeface="Times New Roman" panose="02020603050405020304" pitchFamily="18" charset="0"/>
                <a:cs typeface="Times New Roman" panose="02020603050405020304" pitchFamily="18" charset="0"/>
              </a:rPr>
              <a:t>Works when:</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Requirements are clear &amp; stable</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Minimal changes expected</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Small projects with fixed scope</a:t>
            </a:r>
          </a:p>
        </p:txBody>
      </p:sp>
      <p:sp>
        <p:nvSpPr>
          <p:cNvPr id="12" name="TextBox 11">
            <a:extLst>
              <a:ext uri="{FF2B5EF4-FFF2-40B4-BE49-F238E27FC236}">
                <a16:creationId xmlns:a16="http://schemas.microsoft.com/office/drawing/2014/main" id="{23C254A6-C87D-D13D-98FB-0EE965B38989}"/>
              </a:ext>
            </a:extLst>
          </p:cNvPr>
          <p:cNvSpPr txBox="1"/>
          <p:nvPr/>
        </p:nvSpPr>
        <p:spPr>
          <a:xfrm>
            <a:off x="6089776" y="566678"/>
            <a:ext cx="5705302" cy="2862322"/>
          </a:xfrm>
          <a:prstGeom prst="rect">
            <a:avLst/>
          </a:prstGeom>
          <a:noFill/>
        </p:spPr>
        <p:txBody>
          <a:bodyPr wrap="square">
            <a:spAutoFit/>
          </a:bodyPr>
          <a:lstStyle/>
          <a:p>
            <a:pPr>
              <a:defRPr sz="1800"/>
            </a:pPr>
            <a:r>
              <a:rPr lang="en-US" sz="2000" b="1" dirty="0">
                <a:solidFill>
                  <a:schemeClr val="accent1">
                    <a:lumMod val="75000"/>
                  </a:schemeClr>
                </a:solidFill>
                <a:latin typeface="Times New Roman" panose="02020603050405020304" pitchFamily="18" charset="0"/>
                <a:cs typeface="Times New Roman" panose="02020603050405020304" pitchFamily="18" charset="0"/>
              </a:rPr>
              <a:t>Advantages:</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Easy to manage</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Clear milestones &amp; documentation</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Works for small, predictable projects</a:t>
            </a:r>
          </a:p>
          <a:p>
            <a:pPr marL="285750" indent="-28575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a:defRPr sz="1800"/>
            </a:pPr>
            <a:r>
              <a:rPr lang="en-US" sz="2000" b="1" dirty="0">
                <a:solidFill>
                  <a:schemeClr val="accent1">
                    <a:lumMod val="75000"/>
                  </a:schemeClr>
                </a:solidFill>
                <a:latin typeface="Times New Roman" panose="02020603050405020304" pitchFamily="18" charset="0"/>
                <a:cs typeface="Times New Roman" panose="02020603050405020304" pitchFamily="18" charset="0"/>
              </a:rPr>
              <a:t>Disadvantages:</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Inflexible, poor at handling change</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Testing late, higher risk</a:t>
            </a:r>
          </a:p>
          <a:p>
            <a:pPr marL="285750" indent="-28575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User feedback at the end</a:t>
            </a:r>
          </a:p>
        </p:txBody>
      </p:sp>
      <p:sp>
        <p:nvSpPr>
          <p:cNvPr id="13" name="AutoShape 3" descr="Waterfall Methodology: Process, Pros and Cons">
            <a:extLst>
              <a:ext uri="{FF2B5EF4-FFF2-40B4-BE49-F238E27FC236}">
                <a16:creationId xmlns:a16="http://schemas.microsoft.com/office/drawing/2014/main" id="{7DD6A80E-9CBB-9DBD-E0C5-79BA2A7B67FE}"/>
              </a:ext>
            </a:extLst>
          </p:cNvPr>
          <p:cNvSpPr>
            <a:spLocks noChangeAspect="1" noChangeArrowheads="1"/>
          </p:cNvSpPr>
          <p:nvPr/>
        </p:nvSpPr>
        <p:spPr bwMode="auto">
          <a:xfrm>
            <a:off x="5943599" y="3276599"/>
            <a:ext cx="2912225" cy="29122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 name="Picture 16">
            <a:extLst>
              <a:ext uri="{FF2B5EF4-FFF2-40B4-BE49-F238E27FC236}">
                <a16:creationId xmlns:a16="http://schemas.microsoft.com/office/drawing/2014/main" id="{011C3BC3-89EC-4035-BA59-36A5793AAFC7}"/>
              </a:ext>
            </a:extLst>
          </p:cNvPr>
          <p:cNvPicPr>
            <a:picLocks noChangeAspect="1"/>
          </p:cNvPicPr>
          <p:nvPr/>
        </p:nvPicPr>
        <p:blipFill>
          <a:blip r:embed="rId3"/>
          <a:stretch>
            <a:fillRect/>
          </a:stretch>
        </p:blipFill>
        <p:spPr>
          <a:xfrm>
            <a:off x="7065818" y="3530138"/>
            <a:ext cx="3735186" cy="2658686"/>
          </a:xfrm>
          <a:prstGeom prst="rect">
            <a:avLst/>
          </a:prstGeom>
          <a:ln>
            <a:solidFill>
              <a:schemeClr val="tx1"/>
            </a:solidFill>
          </a:ln>
        </p:spPr>
      </p:pic>
    </p:spTree>
    <p:extLst>
      <p:ext uri="{BB962C8B-B14F-4D97-AF65-F5344CB8AC3E}">
        <p14:creationId xmlns:p14="http://schemas.microsoft.com/office/powerpoint/2010/main" val="161110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B429A-ED9E-3EF2-7C31-111AE1E26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AED1A-5E52-B25E-3C15-F40F7A8687CD}"/>
              </a:ext>
            </a:extLst>
          </p:cNvPr>
          <p:cNvSpPr>
            <a:spLocks noGrp="1"/>
          </p:cNvSpPr>
          <p:nvPr>
            <p:ph type="title"/>
          </p:nvPr>
        </p:nvSpPr>
        <p:spPr/>
        <p:txBody>
          <a:bodyPr/>
          <a:lstStyle/>
          <a:p>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Agile Model</a:t>
            </a:r>
            <a:endParaRPr lang="en-US" dirty="0"/>
          </a:p>
        </p:txBody>
      </p:sp>
      <p:sp>
        <p:nvSpPr>
          <p:cNvPr id="8" name="TextBox 7">
            <a:extLst>
              <a:ext uri="{FF2B5EF4-FFF2-40B4-BE49-F238E27FC236}">
                <a16:creationId xmlns:a16="http://schemas.microsoft.com/office/drawing/2014/main" id="{EC51BB72-922B-F3E5-7CCD-84C7BC61F873}"/>
              </a:ext>
            </a:extLst>
          </p:cNvPr>
          <p:cNvSpPr txBox="1"/>
          <p:nvPr/>
        </p:nvSpPr>
        <p:spPr>
          <a:xfrm>
            <a:off x="685949" y="1153582"/>
            <a:ext cx="10996203" cy="1631216"/>
          </a:xfrm>
          <a:prstGeom prst="rect">
            <a:avLst/>
          </a:prstGeom>
          <a:noFill/>
        </p:spPr>
        <p:txBody>
          <a:bodyPr wrap="square" rtlCol="0">
            <a:spAutoFit/>
          </a:bodyPr>
          <a:lstStyle/>
          <a:p>
            <a:pPr>
              <a:defRPr sz="1800"/>
            </a:pPr>
            <a:r>
              <a:rPr lang="en-US" sz="2000" dirty="0">
                <a:latin typeface="Times New Roman" panose="02020603050405020304" pitchFamily="18" charset="0"/>
                <a:cs typeface="Times New Roman" panose="02020603050405020304" pitchFamily="18" charset="0"/>
              </a:rPr>
              <a:t>The Agile Model is an iterative and incremental approach to software development. Instead of delivering the whole product at once, the project is divided into small, manageable parts (sprints/iterations).</a:t>
            </a:r>
          </a:p>
          <a:p>
            <a:pPr>
              <a:defRPr sz="1800"/>
            </a:pPr>
            <a:endParaRPr lang="en-US" sz="2000" dirty="0">
              <a:latin typeface="Times New Roman" panose="02020603050405020304" pitchFamily="18" charset="0"/>
              <a:cs typeface="Times New Roman" panose="02020603050405020304" pitchFamily="18" charset="0"/>
            </a:endParaRPr>
          </a:p>
          <a:p>
            <a:pPr>
              <a:defRPr sz="1800"/>
            </a:pPr>
            <a:r>
              <a:rPr lang="en-US" sz="2000" dirty="0">
                <a:latin typeface="Times New Roman" panose="02020603050405020304" pitchFamily="18" charset="0"/>
                <a:cs typeface="Times New Roman" panose="02020603050405020304" pitchFamily="18" charset="0"/>
              </a:rPr>
              <a:t>Each sprint typically lasts 2–4 weeks and results in a working piece of software. Emphasizes flexibility, customer collaboration, and continuous delivery.</a:t>
            </a:r>
          </a:p>
        </p:txBody>
      </p:sp>
      <p:sp>
        <p:nvSpPr>
          <p:cNvPr id="12" name="TextBox 11">
            <a:extLst>
              <a:ext uri="{FF2B5EF4-FFF2-40B4-BE49-F238E27FC236}">
                <a16:creationId xmlns:a16="http://schemas.microsoft.com/office/drawing/2014/main" id="{52427288-A3E4-E739-2443-0F99EAAAFA5E}"/>
              </a:ext>
            </a:extLst>
          </p:cNvPr>
          <p:cNvSpPr txBox="1"/>
          <p:nvPr/>
        </p:nvSpPr>
        <p:spPr>
          <a:xfrm>
            <a:off x="685949" y="2926195"/>
            <a:ext cx="5705302" cy="3170099"/>
          </a:xfrm>
          <a:prstGeom prst="rect">
            <a:avLst/>
          </a:prstGeom>
          <a:noFill/>
        </p:spPr>
        <p:txBody>
          <a:bodyPr wrap="square">
            <a:spAutoFit/>
          </a:bodyPr>
          <a:lstStyle/>
          <a:p>
            <a:pPr>
              <a:defRPr sz="1800"/>
            </a:pPr>
            <a:r>
              <a:rPr lang="en-US" sz="2000" b="1" dirty="0">
                <a:solidFill>
                  <a:schemeClr val="accent1">
                    <a:lumMod val="75000"/>
                  </a:schemeClr>
                </a:solidFill>
                <a:latin typeface="Times New Roman" panose="02020603050405020304" pitchFamily="18" charset="0"/>
                <a:cs typeface="Times New Roman" panose="02020603050405020304" pitchFamily="18" charset="0"/>
              </a:rPr>
              <a:t>Advantages: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Flexible, adapts to change</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Early, continuous delivery</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Strong customer collaboration</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Reduces risks via small increments</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a:defRPr sz="1800"/>
            </a:pPr>
            <a:r>
              <a:rPr lang="en-US" sz="2000" b="1" dirty="0">
                <a:solidFill>
                  <a:schemeClr val="accent1">
                    <a:lumMod val="75000"/>
                  </a:schemeClr>
                </a:solidFill>
                <a:latin typeface="Times New Roman" panose="02020603050405020304" pitchFamily="18" charset="0"/>
                <a:cs typeface="Times New Roman" panose="02020603050405020304" pitchFamily="18" charset="0"/>
              </a:rPr>
              <a:t>Disadvantages: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Needs skilled teams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Can lead to scope creep</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Less focus on formal documentation</a:t>
            </a:r>
          </a:p>
        </p:txBody>
      </p:sp>
      <p:pic>
        <p:nvPicPr>
          <p:cNvPr id="3074" name="Picture 2" descr="Understanding the Agile Model: A Comprehensive Guide">
            <a:extLst>
              <a:ext uri="{FF2B5EF4-FFF2-40B4-BE49-F238E27FC236}">
                <a16:creationId xmlns:a16="http://schemas.microsoft.com/office/drawing/2014/main" id="{9F8F0A6D-2121-5B1A-1F11-C22C6A0C40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98" t="26238" r="5149" b="8742"/>
          <a:stretch>
            <a:fillRect/>
          </a:stretch>
        </p:blipFill>
        <p:spPr bwMode="auto">
          <a:xfrm>
            <a:off x="5342312" y="3480262"/>
            <a:ext cx="6101543" cy="261603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048EB7D-CAAA-D774-E1D8-78754D63A50B}"/>
              </a:ext>
            </a:extLst>
          </p:cNvPr>
          <p:cNvSpPr txBox="1"/>
          <p:nvPr/>
        </p:nvSpPr>
        <p:spPr>
          <a:xfrm>
            <a:off x="5342312" y="2938755"/>
            <a:ext cx="5705302" cy="400110"/>
          </a:xfrm>
          <a:prstGeom prst="rect">
            <a:avLst/>
          </a:prstGeom>
          <a:noFill/>
        </p:spPr>
        <p:txBody>
          <a:bodyPr wrap="square">
            <a:spAutoFit/>
          </a:bodyPr>
          <a:lstStyle/>
          <a:p>
            <a:pPr>
              <a:defRPr sz="1800"/>
            </a:pPr>
            <a:r>
              <a:rPr lang="en-US" sz="2000" b="1" dirty="0">
                <a:solidFill>
                  <a:schemeClr val="accent1">
                    <a:lumMod val="75000"/>
                  </a:schemeClr>
                </a:solidFill>
                <a:latin typeface="Times New Roman" panose="02020603050405020304" pitchFamily="18" charset="0"/>
                <a:cs typeface="Times New Roman" panose="02020603050405020304" pitchFamily="18" charset="0"/>
              </a:rPr>
              <a:t>Stages of Agile Model</a:t>
            </a:r>
          </a:p>
        </p:txBody>
      </p:sp>
    </p:spTree>
    <p:extLst>
      <p:ext uri="{BB962C8B-B14F-4D97-AF65-F5344CB8AC3E}">
        <p14:creationId xmlns:p14="http://schemas.microsoft.com/office/powerpoint/2010/main" val="4147016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A2BE3-A67D-03F0-71BB-7BA4F1B8C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19E4B-7A68-E3A5-410A-28961FBC3223}"/>
              </a:ext>
            </a:extLst>
          </p:cNvPr>
          <p:cNvSpPr>
            <a:spLocks noGrp="1"/>
          </p:cNvSpPr>
          <p:nvPr>
            <p:ph type="title"/>
          </p:nvPr>
        </p:nvSpPr>
        <p:spPr/>
        <p:txBody>
          <a:bodyPr/>
          <a:lstStyle/>
          <a:p>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DevOps Model</a:t>
            </a:r>
            <a:endParaRPr lang="en-US" dirty="0"/>
          </a:p>
        </p:txBody>
      </p:sp>
      <p:sp>
        <p:nvSpPr>
          <p:cNvPr id="8" name="TextBox 7">
            <a:extLst>
              <a:ext uri="{FF2B5EF4-FFF2-40B4-BE49-F238E27FC236}">
                <a16:creationId xmlns:a16="http://schemas.microsoft.com/office/drawing/2014/main" id="{0A714310-70D7-A949-3974-F8FCFC9B3708}"/>
              </a:ext>
            </a:extLst>
          </p:cNvPr>
          <p:cNvSpPr txBox="1"/>
          <p:nvPr/>
        </p:nvSpPr>
        <p:spPr>
          <a:xfrm>
            <a:off x="685949" y="1153582"/>
            <a:ext cx="10996203" cy="1631216"/>
          </a:xfrm>
          <a:prstGeom prst="rect">
            <a:avLst/>
          </a:prstGeom>
          <a:noFill/>
        </p:spPr>
        <p:txBody>
          <a:bodyPr wrap="square" rtlCol="0">
            <a:spAutoFit/>
          </a:bodyPr>
          <a:lstStyle/>
          <a:p>
            <a:pPr>
              <a:defRPr sz="1800"/>
            </a:pPr>
            <a:r>
              <a:rPr lang="en-US" sz="2000" dirty="0">
                <a:latin typeface="Times New Roman" panose="02020603050405020304" pitchFamily="18" charset="0"/>
                <a:cs typeface="Times New Roman" panose="02020603050405020304" pitchFamily="18" charset="0"/>
              </a:rPr>
              <a:t>DevOps combines development (Dev) and operations (Ops) to increase the efficiency, speed, and security of software development and delivery compared to traditional processes. </a:t>
            </a:r>
          </a:p>
          <a:p>
            <a:pPr>
              <a:defRPr sz="1800"/>
            </a:pPr>
            <a:endParaRPr lang="en-US" sz="2000" dirty="0">
              <a:latin typeface="Times New Roman" panose="02020603050405020304" pitchFamily="18" charset="0"/>
              <a:cs typeface="Times New Roman" panose="02020603050405020304" pitchFamily="18" charset="0"/>
            </a:endParaRPr>
          </a:p>
          <a:p>
            <a:pPr>
              <a:defRPr sz="1800"/>
            </a:pPr>
            <a:r>
              <a:rPr lang="en-US" sz="2000" dirty="0">
                <a:latin typeface="Times New Roman" panose="02020603050405020304" pitchFamily="18" charset="0"/>
                <a:cs typeface="Times New Roman" panose="02020603050405020304" pitchFamily="18" charset="0"/>
              </a:rPr>
              <a:t>A nimbler software development lifecycle results in a competitive advantage for businesses and their customers.</a:t>
            </a:r>
          </a:p>
        </p:txBody>
      </p:sp>
      <p:sp>
        <p:nvSpPr>
          <p:cNvPr id="12" name="TextBox 11">
            <a:extLst>
              <a:ext uri="{FF2B5EF4-FFF2-40B4-BE49-F238E27FC236}">
                <a16:creationId xmlns:a16="http://schemas.microsoft.com/office/drawing/2014/main" id="{16766BD1-0D66-3031-FB2F-A01AA44A8710}"/>
              </a:ext>
            </a:extLst>
          </p:cNvPr>
          <p:cNvSpPr txBox="1"/>
          <p:nvPr/>
        </p:nvSpPr>
        <p:spPr>
          <a:xfrm>
            <a:off x="685949" y="2926195"/>
            <a:ext cx="5705302" cy="3170099"/>
          </a:xfrm>
          <a:prstGeom prst="rect">
            <a:avLst/>
          </a:prstGeom>
          <a:noFill/>
        </p:spPr>
        <p:txBody>
          <a:bodyPr wrap="square">
            <a:spAutoFit/>
          </a:bodyPr>
          <a:lstStyle/>
          <a:p>
            <a:pPr>
              <a:defRPr sz="1800"/>
            </a:pPr>
            <a:r>
              <a:rPr lang="en-US" sz="2000" b="1" dirty="0">
                <a:solidFill>
                  <a:schemeClr val="accent1">
                    <a:lumMod val="75000"/>
                  </a:schemeClr>
                </a:solidFill>
                <a:latin typeface="Times New Roman" panose="02020603050405020304" pitchFamily="18" charset="0"/>
                <a:cs typeface="Times New Roman" panose="02020603050405020304" pitchFamily="18" charset="0"/>
              </a:rPr>
              <a:t>Advantages: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Faster releases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Automated testing &amp; deployment</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Improves collaboration</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Enhanced monitoring &amp; quick fixes</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a:defRPr sz="1800"/>
            </a:pPr>
            <a:r>
              <a:rPr lang="en-US" sz="2000" b="1" dirty="0">
                <a:solidFill>
                  <a:schemeClr val="accent1">
                    <a:lumMod val="75000"/>
                  </a:schemeClr>
                </a:solidFill>
                <a:latin typeface="Times New Roman" panose="02020603050405020304" pitchFamily="18" charset="0"/>
                <a:cs typeface="Times New Roman" panose="02020603050405020304" pitchFamily="18" charset="0"/>
              </a:rPr>
              <a:t>Disadvantages: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Needs tools &amp; infra investment</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Cultural change required</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CI/CD complexity</a:t>
            </a:r>
          </a:p>
        </p:txBody>
      </p:sp>
      <p:sp>
        <p:nvSpPr>
          <p:cNvPr id="3" name="TextBox 2">
            <a:extLst>
              <a:ext uri="{FF2B5EF4-FFF2-40B4-BE49-F238E27FC236}">
                <a16:creationId xmlns:a16="http://schemas.microsoft.com/office/drawing/2014/main" id="{04A89F92-2F36-4763-5362-44411A5B4989}"/>
              </a:ext>
            </a:extLst>
          </p:cNvPr>
          <p:cNvSpPr txBox="1"/>
          <p:nvPr/>
        </p:nvSpPr>
        <p:spPr>
          <a:xfrm>
            <a:off x="5375564" y="2680677"/>
            <a:ext cx="5814752" cy="400110"/>
          </a:xfrm>
          <a:prstGeom prst="rect">
            <a:avLst/>
          </a:prstGeom>
          <a:noFill/>
        </p:spPr>
        <p:txBody>
          <a:bodyPr wrap="square">
            <a:spAutoFit/>
          </a:bodyPr>
          <a:lstStyle/>
          <a:p>
            <a:pPr>
              <a:defRPr sz="1800"/>
            </a:pPr>
            <a:r>
              <a:rPr lang="en-US" sz="2000" b="1" dirty="0">
                <a:solidFill>
                  <a:schemeClr val="accent1">
                    <a:lumMod val="75000"/>
                  </a:schemeClr>
                </a:solidFill>
                <a:latin typeface="Times New Roman" panose="02020603050405020304" pitchFamily="18" charset="0"/>
                <a:cs typeface="Times New Roman" panose="02020603050405020304" pitchFamily="18" charset="0"/>
              </a:rPr>
              <a:t>Stages of DevOps Model</a:t>
            </a:r>
          </a:p>
        </p:txBody>
      </p:sp>
      <p:pic>
        <p:nvPicPr>
          <p:cNvPr id="5" name="Picture 4">
            <a:extLst>
              <a:ext uri="{FF2B5EF4-FFF2-40B4-BE49-F238E27FC236}">
                <a16:creationId xmlns:a16="http://schemas.microsoft.com/office/drawing/2014/main" id="{FB64B6C4-12E1-6347-1BEC-C055AC5A8594}"/>
              </a:ext>
            </a:extLst>
          </p:cNvPr>
          <p:cNvPicPr>
            <a:picLocks noChangeAspect="1"/>
          </p:cNvPicPr>
          <p:nvPr/>
        </p:nvPicPr>
        <p:blipFill>
          <a:blip r:embed="rId3"/>
          <a:stretch>
            <a:fillRect/>
          </a:stretch>
        </p:blipFill>
        <p:spPr>
          <a:xfrm>
            <a:off x="5485014" y="3191934"/>
            <a:ext cx="5705302" cy="3188257"/>
          </a:xfrm>
          <a:prstGeom prst="rect">
            <a:avLst/>
          </a:prstGeom>
          <a:ln>
            <a:solidFill>
              <a:schemeClr val="tx1"/>
            </a:solidFill>
          </a:ln>
        </p:spPr>
      </p:pic>
    </p:spTree>
    <p:extLst>
      <p:ext uri="{BB962C8B-B14F-4D97-AF65-F5344CB8AC3E}">
        <p14:creationId xmlns:p14="http://schemas.microsoft.com/office/powerpoint/2010/main" val="2392939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E059C6-85BA-4084-1DF2-45B8E4F56CF2}"/>
              </a:ext>
            </a:extLst>
          </p:cNvPr>
          <p:cNvSpPr>
            <a:spLocks noGrp="1"/>
          </p:cNvSpPr>
          <p:nvPr>
            <p:ph type="title"/>
          </p:nvPr>
        </p:nvSpPr>
        <p:spPr>
          <a:xfrm>
            <a:off x="1019985" y="1784818"/>
            <a:ext cx="10532918" cy="1292678"/>
          </a:xfrm>
        </p:spPr>
        <p:txBody>
          <a:bodyPr>
            <a:normAutofit/>
          </a:bodyPr>
          <a:lstStyle/>
          <a:p>
            <a:pPr algn="l"/>
            <a:r>
              <a:rPr lang="en-US" dirty="0"/>
              <a:t>Stages of SDLC</a:t>
            </a:r>
          </a:p>
        </p:txBody>
      </p:sp>
    </p:spTree>
    <p:extLst>
      <p:ext uri="{BB962C8B-B14F-4D97-AF65-F5344CB8AC3E}">
        <p14:creationId xmlns:p14="http://schemas.microsoft.com/office/powerpoint/2010/main" val="3805678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507287" y="1455174"/>
            <a:ext cx="10573667" cy="3398366"/>
          </a:xfrm>
          <a:prstGeom prst="rect">
            <a:avLst/>
          </a:prstGeom>
        </p:spPr>
        <p:txBody>
          <a:bodyPr vert="horz" wrap="square" lIns="0" tIns="12700" rIns="0" bIns="0" rtlCol="0">
            <a:spAutoFit/>
          </a:bodyPr>
          <a:lstStyle/>
          <a:p>
            <a:pPr>
              <a:defRPr sz="1800"/>
            </a:pPr>
            <a:r>
              <a:rPr lang="en-US" sz="2000" dirty="0">
                <a:latin typeface="Times New Roman" panose="02020603050405020304" pitchFamily="18" charset="0"/>
                <a:cs typeface="Times New Roman" panose="02020603050405020304" pitchFamily="18" charset="0"/>
              </a:rPr>
              <a:t>The primary goal of the SDLC process is to produce cost-efficient and high-quality products. The process comprises a detailed plan that describes how to develop, maintain, and replace the software. All are listed below -</a:t>
            </a:r>
          </a:p>
          <a:p>
            <a:pPr>
              <a:defRPr sz="1800"/>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Planning</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Analysis</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Design</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Development/Coding</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Testing</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Deployment</a:t>
            </a:r>
          </a:p>
          <a:p>
            <a:pPr marL="457200" indent="-457200">
              <a:buFont typeface="+mj-lt"/>
              <a:buAutoNum type="arabicParenR"/>
              <a:defRPr sz="1800"/>
            </a:pPr>
            <a:r>
              <a:rPr lang="en-IN" sz="2000" dirty="0">
                <a:latin typeface="Times New Roman" panose="02020603050405020304" pitchFamily="18" charset="0"/>
                <a:cs typeface="Times New Roman" panose="02020603050405020304" pitchFamily="18" charset="0"/>
              </a:rPr>
              <a:t>Maintenance</a:t>
            </a: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Stages of SDLC</a:t>
            </a:r>
          </a:p>
        </p:txBody>
      </p:sp>
    </p:spTree>
    <p:extLst>
      <p:ext uri="{BB962C8B-B14F-4D97-AF65-F5344CB8AC3E}">
        <p14:creationId xmlns:p14="http://schemas.microsoft.com/office/powerpoint/2010/main" val="2821557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78323-8EC4-CEE4-81DC-5BE30336F9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EB6075-37B4-AE88-2A14-442DB5731019}"/>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Phases of SDLC</a:t>
            </a:r>
          </a:p>
        </p:txBody>
      </p:sp>
      <p:pic>
        <p:nvPicPr>
          <p:cNvPr id="2" name="Picture 1">
            <a:extLst>
              <a:ext uri="{FF2B5EF4-FFF2-40B4-BE49-F238E27FC236}">
                <a16:creationId xmlns:a16="http://schemas.microsoft.com/office/drawing/2014/main" id="{EE7FB02F-8022-2EF9-1070-AA3EBAEE82D8}"/>
              </a:ext>
            </a:extLst>
          </p:cNvPr>
          <p:cNvPicPr>
            <a:picLocks noChangeAspect="1"/>
          </p:cNvPicPr>
          <p:nvPr/>
        </p:nvPicPr>
        <p:blipFill>
          <a:blip r:embed="rId3"/>
          <a:srcRect t="22953" b="10302"/>
          <a:stretch>
            <a:fillRect/>
          </a:stretch>
        </p:blipFill>
        <p:spPr>
          <a:xfrm>
            <a:off x="0" y="1645921"/>
            <a:ext cx="12192000" cy="4400204"/>
          </a:xfrm>
          <a:prstGeom prst="rect">
            <a:avLst/>
          </a:prstGeom>
        </p:spPr>
      </p:pic>
    </p:spTree>
    <p:extLst>
      <p:ext uri="{BB962C8B-B14F-4D97-AF65-F5344CB8AC3E}">
        <p14:creationId xmlns:p14="http://schemas.microsoft.com/office/powerpoint/2010/main" val="534922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F3937-0061-DA50-34D3-D30253AF6C6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8730551-2459-386B-514A-49C22CAD2DA3}"/>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5C739C"/>
                </a:solidFill>
                <a:latin typeface="Times New Roman" panose="02020603050405020304" pitchFamily="18" charset="0"/>
                <a:ea typeface="ＭＳ Ｐゴシック" panose="020B0600070205080204" pitchFamily="34" charset="-128"/>
                <a:cs typeface="Times New Roman" panose="02020603050405020304" pitchFamily="18" charset="0"/>
              </a:rPr>
              <a:t>Stage 1: Project Planning</a:t>
            </a:r>
          </a:p>
        </p:txBody>
      </p:sp>
      <p:sp>
        <p:nvSpPr>
          <p:cNvPr id="2" name="TextBox 1">
            <a:extLst>
              <a:ext uri="{FF2B5EF4-FFF2-40B4-BE49-F238E27FC236}">
                <a16:creationId xmlns:a16="http://schemas.microsoft.com/office/drawing/2014/main" id="{79BA62CA-731F-CB5E-3C47-3187476D8D46}"/>
              </a:ext>
            </a:extLst>
          </p:cNvPr>
          <p:cNvSpPr txBox="1"/>
          <p:nvPr/>
        </p:nvSpPr>
        <p:spPr>
          <a:xfrm>
            <a:off x="692174" y="1266392"/>
            <a:ext cx="10568247"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first stage of SDLC is all about “What do we want?” Project planning is a vital role in the software delivery lifecycle since this is the part where the team estimates the cost and defines the requirements of the new software.</a:t>
            </a:r>
            <a:endParaRPr lang="en-IN" sz="20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01D2936F-B964-D95D-44FA-927FFBFA8950}"/>
              </a:ext>
            </a:extLst>
          </p:cNvPr>
          <p:cNvSpPr txBox="1">
            <a:spLocks/>
          </p:cNvSpPr>
          <p:nvPr/>
        </p:nvSpPr>
        <p:spPr>
          <a:xfrm>
            <a:off x="692174" y="2544575"/>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5C739C"/>
                </a:solidFill>
                <a:latin typeface="Times New Roman" panose="02020603050405020304" pitchFamily="18" charset="0"/>
                <a:ea typeface="ＭＳ Ｐゴシック" panose="020B0600070205080204" pitchFamily="34" charset="-128"/>
                <a:cs typeface="Times New Roman" panose="02020603050405020304" pitchFamily="18" charset="0"/>
              </a:rPr>
              <a:t>Stage 2: Gathering Requirements &amp; Analysis</a:t>
            </a:r>
          </a:p>
        </p:txBody>
      </p:sp>
      <p:sp>
        <p:nvSpPr>
          <p:cNvPr id="9" name="TextBox 8">
            <a:extLst>
              <a:ext uri="{FF2B5EF4-FFF2-40B4-BE49-F238E27FC236}">
                <a16:creationId xmlns:a16="http://schemas.microsoft.com/office/drawing/2014/main" id="{D6FA544E-AFEE-D19A-B276-762440CAFD12}"/>
              </a:ext>
            </a:extLst>
          </p:cNvPr>
          <p:cNvSpPr txBox="1"/>
          <p:nvPr/>
        </p:nvSpPr>
        <p:spPr>
          <a:xfrm>
            <a:off x="692174" y="3247583"/>
            <a:ext cx="10568247" cy="255454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second step of SDLC is gathering maximum information from the client requirements for the product. Discuss each detail and specification of the product with the customer. The development team will then analyze the requirements keeping the design and code of the software in mind.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Further, investigating the validity and possibility of incorporating these requirements into the software system. The main goal of this stage is that everyone understands even the minute detail of the requirement. Hardware, operating systems, programming, and security are to name the few requirements.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7911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64EB-FC5C-9296-C685-2C07EB8E0FE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8A9BE21-519F-E324-530C-BF3BBB5CB5FF}"/>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5C739C"/>
                </a:solidFill>
                <a:latin typeface="Times New Roman" panose="02020603050405020304" pitchFamily="18" charset="0"/>
                <a:ea typeface="ＭＳ Ｐゴシック" panose="020B0600070205080204" pitchFamily="34" charset="-128"/>
                <a:cs typeface="Times New Roman" panose="02020603050405020304" pitchFamily="18" charset="0"/>
              </a:rPr>
              <a:t>Stage 3: Design</a:t>
            </a:r>
          </a:p>
        </p:txBody>
      </p:sp>
      <p:sp>
        <p:nvSpPr>
          <p:cNvPr id="2" name="TextBox 1">
            <a:extLst>
              <a:ext uri="{FF2B5EF4-FFF2-40B4-BE49-F238E27FC236}">
                <a16:creationId xmlns:a16="http://schemas.microsoft.com/office/drawing/2014/main" id="{ECD8E4B9-7C7B-0510-1ACC-13459A514961}"/>
              </a:ext>
            </a:extLst>
          </p:cNvPr>
          <p:cNvSpPr txBox="1"/>
          <p:nvPr/>
        </p:nvSpPr>
        <p:spPr>
          <a:xfrm>
            <a:off x="692174" y="1266392"/>
            <a:ext cx="10568247" cy="255454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In the design phase (3rd step of SDLC), the program developer scrutinizes whether the prepared software suffices all the requirements of the end-user. Additionally, if the project is feasible for the customer technologically, practically, and financially. Once the developer decides on the best design approach, he then selects the program languages like Oracle, Java, etc., that will suit the software.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Once the design specification is prepared, all the stakeholders will review this plan and provide their feedback and suggestions. It is absolutely mandatory to collect and incorporate stakeholder’s input in the document, as a small mistake can lead to cost overrun.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368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BC7C1-D90F-9953-3E05-670F8A0459A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B7BEC53-4A0C-18B9-3653-4BB4C313806D}"/>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5C739C"/>
                </a:solidFill>
                <a:latin typeface="Times New Roman" panose="02020603050405020304" pitchFamily="18" charset="0"/>
                <a:ea typeface="ＭＳ Ｐゴシック" panose="020B0600070205080204" pitchFamily="34" charset="-128"/>
                <a:cs typeface="Times New Roman" panose="02020603050405020304" pitchFamily="18" charset="0"/>
              </a:rPr>
              <a:t>Stage 4: Coding or Implementation</a:t>
            </a:r>
          </a:p>
        </p:txBody>
      </p:sp>
      <p:sp>
        <p:nvSpPr>
          <p:cNvPr id="2" name="TextBox 1">
            <a:extLst>
              <a:ext uri="{FF2B5EF4-FFF2-40B4-BE49-F238E27FC236}">
                <a16:creationId xmlns:a16="http://schemas.microsoft.com/office/drawing/2014/main" id="{C218C4BC-99C2-089C-8D87-7FE375164D47}"/>
              </a:ext>
            </a:extLst>
          </p:cNvPr>
          <p:cNvSpPr txBox="1"/>
          <p:nvPr/>
        </p:nvSpPr>
        <p:spPr>
          <a:xfrm>
            <a:off x="692174" y="1266392"/>
            <a:ext cx="10568247" cy="31700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Time to code! It means translating the design to a computer-legible language. In this fourth stage of SDLC, the tasks are divided into modules or units and assigned to various developers.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developers will then start building the entire system by writing code using the programming languages they chose. This stage is considered to be one of the longest in SDLC. The developers need certain predefined coding guidelines, and programming tools like interpreters, compilers, debugger to implement the code.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developers can show the work done to the business analysts in case if any modifications or enhancements required.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73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44B9A-8936-2F0F-32BF-3BA8A1CF692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EB08D4C-1B57-E039-28C5-EF4665C747B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5C739C"/>
                </a:solidFill>
                <a:latin typeface="Times New Roman" panose="02020603050405020304" pitchFamily="18" charset="0"/>
                <a:ea typeface="ＭＳ Ｐゴシック" panose="020B0600070205080204" pitchFamily="34" charset="-128"/>
                <a:cs typeface="Times New Roman" panose="02020603050405020304" pitchFamily="18" charset="0"/>
              </a:rPr>
              <a:t>Stage 5: Testing</a:t>
            </a:r>
          </a:p>
        </p:txBody>
      </p:sp>
      <p:sp>
        <p:nvSpPr>
          <p:cNvPr id="2" name="TextBox 1">
            <a:extLst>
              <a:ext uri="{FF2B5EF4-FFF2-40B4-BE49-F238E27FC236}">
                <a16:creationId xmlns:a16="http://schemas.microsoft.com/office/drawing/2014/main" id="{244F64FE-5FC9-4BA7-41A3-1E35C0D04003}"/>
              </a:ext>
            </a:extLst>
          </p:cNvPr>
          <p:cNvSpPr txBox="1"/>
          <p:nvPr/>
        </p:nvSpPr>
        <p:spPr>
          <a:xfrm>
            <a:off x="692174" y="1266392"/>
            <a:ext cx="10568247" cy="255454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Once the developers build the software, then it is deployed in the testing environment. Then the testing team tests the functionality of the entire system. In this fifth phase of SDLC, the testing is done to ensure that the entire application works according to the customer requirements.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After testing, the QA and testing team might find some bugs or defects and communicate the same with the developers. The development team then fixes the bugs and send it to QA for a re-test. This process goes on until the software is stable, bug-free and working according to the business requirements of that system.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6238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615B-8798-3DF0-2FDD-BFDA77C7E62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F046CE3-8D86-A29C-127F-CA492753E771}"/>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5C739C"/>
                </a:solidFill>
                <a:latin typeface="Times New Roman" panose="02020603050405020304" pitchFamily="18" charset="0"/>
                <a:ea typeface="ＭＳ Ｐゴシック" panose="020B0600070205080204" pitchFamily="34" charset="-128"/>
                <a:cs typeface="Times New Roman" panose="02020603050405020304" pitchFamily="18" charset="0"/>
              </a:rPr>
              <a:t>Stage 6: Deployment</a:t>
            </a:r>
          </a:p>
        </p:txBody>
      </p:sp>
      <p:sp>
        <p:nvSpPr>
          <p:cNvPr id="2" name="TextBox 1">
            <a:extLst>
              <a:ext uri="{FF2B5EF4-FFF2-40B4-BE49-F238E27FC236}">
                <a16:creationId xmlns:a16="http://schemas.microsoft.com/office/drawing/2014/main" id="{E56D4710-23E3-A4B5-C2AF-AE967C97EBC1}"/>
              </a:ext>
            </a:extLst>
          </p:cNvPr>
          <p:cNvSpPr txBox="1"/>
          <p:nvPr/>
        </p:nvSpPr>
        <p:spPr>
          <a:xfrm>
            <a:off x="692174" y="1266392"/>
            <a:ext cx="10568247"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sixth phase of SDLC: Once the testing is done, and the product is ready for deployment, it is released for customers to use. The size of the project determines the complexity of the deployment.</a:t>
            </a:r>
          </a:p>
          <a:p>
            <a:r>
              <a:rPr lang="en-US" sz="2000" dirty="0">
                <a:latin typeface="Times New Roman" panose="02020603050405020304" pitchFamily="18" charset="0"/>
                <a:cs typeface="Times New Roman" panose="02020603050405020304" pitchFamily="18" charset="0"/>
              </a:rPr>
              <a:t>The users are then provided with the training or documentation that will help them to operate the software.  Again, a small round of testing is performed on production to ensure environmental issues or any impact of the new release.</a:t>
            </a:r>
            <a:endParaRPr lang="en-IN" sz="20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64FEECAF-C53F-4F97-97DA-835D8A8847C1}"/>
              </a:ext>
            </a:extLst>
          </p:cNvPr>
          <p:cNvSpPr txBox="1">
            <a:spLocks/>
          </p:cNvSpPr>
          <p:nvPr/>
        </p:nvSpPr>
        <p:spPr>
          <a:xfrm>
            <a:off x="692174" y="3160128"/>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5C739C"/>
                </a:solidFill>
                <a:latin typeface="Times New Roman" panose="02020603050405020304" pitchFamily="18" charset="0"/>
                <a:ea typeface="ＭＳ Ｐゴシック" panose="020B0600070205080204" pitchFamily="34" charset="-128"/>
                <a:cs typeface="Times New Roman" panose="02020603050405020304" pitchFamily="18" charset="0"/>
              </a:rPr>
              <a:t>Stage 7: Maintenance</a:t>
            </a:r>
          </a:p>
        </p:txBody>
      </p:sp>
      <p:sp>
        <p:nvSpPr>
          <p:cNvPr id="5" name="TextBox 4">
            <a:extLst>
              <a:ext uri="{FF2B5EF4-FFF2-40B4-BE49-F238E27FC236}">
                <a16:creationId xmlns:a16="http://schemas.microsoft.com/office/drawing/2014/main" id="{2D69EBC4-2B01-958D-D81B-E0F16D28402A}"/>
              </a:ext>
            </a:extLst>
          </p:cNvPr>
          <p:cNvSpPr txBox="1"/>
          <p:nvPr/>
        </p:nvSpPr>
        <p:spPr>
          <a:xfrm>
            <a:off x="692174" y="3863136"/>
            <a:ext cx="10568247" cy="132343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actual problem starts when the customer actually starts using the developed system and those needs to be solved from time to time. Maintenance is the seventh phase of SDLC where the developed product is taken care of. According to the changing user end environment or technology, the software is updated timely.</a:t>
            </a:r>
          </a:p>
        </p:txBody>
      </p:sp>
    </p:spTree>
    <p:extLst>
      <p:ext uri="{BB962C8B-B14F-4D97-AF65-F5344CB8AC3E}">
        <p14:creationId xmlns:p14="http://schemas.microsoft.com/office/powerpoint/2010/main" val="2952391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E059C6-85BA-4084-1DF2-45B8E4F56CF2}"/>
              </a:ext>
            </a:extLst>
          </p:cNvPr>
          <p:cNvSpPr>
            <a:spLocks noGrp="1"/>
          </p:cNvSpPr>
          <p:nvPr>
            <p:ph type="title"/>
          </p:nvPr>
        </p:nvSpPr>
        <p:spPr>
          <a:xfrm>
            <a:off x="1172385" y="2649341"/>
            <a:ext cx="10532918" cy="1292678"/>
          </a:xfrm>
        </p:spPr>
        <p:txBody>
          <a:bodyPr>
            <a:normAutofit/>
          </a:bodyPr>
          <a:lstStyle/>
          <a:p>
            <a:pPr algn="l"/>
            <a:r>
              <a:rPr lang="en-US" sz="3600" dirty="0"/>
              <a:t>Writing Clean &amp; Maintainable Code</a:t>
            </a:r>
          </a:p>
        </p:txBody>
      </p:sp>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Coding standards</a:t>
            </a:r>
          </a:p>
        </p:txBody>
      </p:sp>
    </p:spTree>
    <p:extLst>
      <p:ext uri="{BB962C8B-B14F-4D97-AF65-F5344CB8AC3E}">
        <p14:creationId xmlns:p14="http://schemas.microsoft.com/office/powerpoint/2010/main" val="1554381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507287" y="1455174"/>
            <a:ext cx="10573667" cy="936154"/>
          </a:xfrm>
          <a:prstGeom prst="rect">
            <a:avLst/>
          </a:prstGeom>
        </p:spPr>
        <p:txBody>
          <a:bodyPr vert="horz" wrap="square" lIns="0" tIns="12700" rIns="0" bIns="0" rtlCol="0">
            <a:spAutoFit/>
          </a:bodyPr>
          <a:lstStyle/>
          <a:p>
            <a:pPr>
              <a:defRPr sz="1800"/>
            </a:pPr>
            <a:r>
              <a:rPr lang="en-US" sz="2000" dirty="0">
                <a:latin typeface="Times New Roman" panose="02020603050405020304" pitchFamily="18" charset="0"/>
                <a:cs typeface="Times New Roman" panose="02020603050405020304" pitchFamily="18" charset="0"/>
              </a:rPr>
              <a:t>Coding standards are a set of rules, guidelines, and best practices that developers follow to write consistent, clean, and maintainable code. They ensure that code is easy to read, understand, debug, and extend by any team member.</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are Coding Standards?</a:t>
            </a:r>
          </a:p>
        </p:txBody>
      </p:sp>
      <p:sp>
        <p:nvSpPr>
          <p:cNvPr id="2" name="Title 1">
            <a:extLst>
              <a:ext uri="{FF2B5EF4-FFF2-40B4-BE49-F238E27FC236}">
                <a16:creationId xmlns:a16="http://schemas.microsoft.com/office/drawing/2014/main" id="{6A36CDE8-A291-B28C-0C8F-84620E386B7B}"/>
              </a:ext>
            </a:extLst>
          </p:cNvPr>
          <p:cNvSpPr txBox="1">
            <a:spLocks/>
          </p:cNvSpPr>
          <p:nvPr/>
        </p:nvSpPr>
        <p:spPr>
          <a:xfrm>
            <a:off x="692174" y="2842630"/>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Importance of Coding Standards</a:t>
            </a:r>
          </a:p>
        </p:txBody>
      </p:sp>
      <p:sp>
        <p:nvSpPr>
          <p:cNvPr id="3" name="object 5">
            <a:extLst>
              <a:ext uri="{FF2B5EF4-FFF2-40B4-BE49-F238E27FC236}">
                <a16:creationId xmlns:a16="http://schemas.microsoft.com/office/drawing/2014/main" id="{360EA906-EB9F-596A-6B80-1882FA3734DA}"/>
              </a:ext>
            </a:extLst>
          </p:cNvPr>
          <p:cNvSpPr txBox="1"/>
          <p:nvPr/>
        </p:nvSpPr>
        <p:spPr>
          <a:xfrm>
            <a:off x="507287" y="3734420"/>
            <a:ext cx="10573667" cy="1551707"/>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Improve readability and understandability of code.</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Enable team collaboration by keeping code style consistent.</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Reduce bugs and make debugging easier.</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Increase maintainability and long-term project health.</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Support scalability by ensuring code can grow with fewer issues.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7804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78323-8EC4-CEE4-81DC-5BE30336F9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EB6075-37B4-AE88-2A14-442DB5731019}"/>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Bad Code vs Good Code</a:t>
            </a:r>
          </a:p>
        </p:txBody>
      </p:sp>
      <p:sp>
        <p:nvSpPr>
          <p:cNvPr id="3" name="TextBox 2">
            <a:extLst>
              <a:ext uri="{FF2B5EF4-FFF2-40B4-BE49-F238E27FC236}">
                <a16:creationId xmlns:a16="http://schemas.microsoft.com/office/drawing/2014/main" id="{CE9C980E-BFCE-537E-0E82-16D2A2DD85BC}"/>
              </a:ext>
            </a:extLst>
          </p:cNvPr>
          <p:cNvSpPr txBox="1"/>
          <p:nvPr/>
        </p:nvSpPr>
        <p:spPr>
          <a:xfrm>
            <a:off x="692174" y="1317629"/>
            <a:ext cx="612370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Bad practice:</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A90E45C-D03E-0C4A-E0EF-0E9E649E0224}"/>
              </a:ext>
            </a:extLst>
          </p:cNvPr>
          <p:cNvSpPr txBox="1"/>
          <p:nvPr/>
        </p:nvSpPr>
        <p:spPr>
          <a:xfrm>
            <a:off x="692174" y="3577888"/>
            <a:ext cx="612370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Good practice:</a:t>
            </a:r>
          </a:p>
        </p:txBody>
      </p:sp>
      <p:pic>
        <p:nvPicPr>
          <p:cNvPr id="8" name="Picture 7">
            <a:extLst>
              <a:ext uri="{FF2B5EF4-FFF2-40B4-BE49-F238E27FC236}">
                <a16:creationId xmlns:a16="http://schemas.microsoft.com/office/drawing/2014/main" id="{41009450-BE0F-4263-9EB2-4D6543D895B8}"/>
              </a:ext>
            </a:extLst>
          </p:cNvPr>
          <p:cNvPicPr>
            <a:picLocks noChangeAspect="1"/>
          </p:cNvPicPr>
          <p:nvPr/>
        </p:nvPicPr>
        <p:blipFill>
          <a:blip r:embed="rId3"/>
          <a:stretch>
            <a:fillRect/>
          </a:stretch>
        </p:blipFill>
        <p:spPr>
          <a:xfrm>
            <a:off x="692174" y="1984736"/>
            <a:ext cx="8075067" cy="1295376"/>
          </a:xfrm>
          <a:prstGeom prst="rect">
            <a:avLst/>
          </a:prstGeom>
        </p:spPr>
      </p:pic>
      <p:pic>
        <p:nvPicPr>
          <p:cNvPr id="10" name="Picture 9">
            <a:extLst>
              <a:ext uri="{FF2B5EF4-FFF2-40B4-BE49-F238E27FC236}">
                <a16:creationId xmlns:a16="http://schemas.microsoft.com/office/drawing/2014/main" id="{9714C1F9-0FA6-6668-B103-4949AD30790B}"/>
              </a:ext>
            </a:extLst>
          </p:cNvPr>
          <p:cNvPicPr>
            <a:picLocks noChangeAspect="1"/>
          </p:cNvPicPr>
          <p:nvPr/>
        </p:nvPicPr>
        <p:blipFill>
          <a:blip r:embed="rId4"/>
          <a:srcRect r="3182"/>
          <a:stretch>
            <a:fillRect/>
          </a:stretch>
        </p:blipFill>
        <p:spPr>
          <a:xfrm>
            <a:off x="692174" y="4244995"/>
            <a:ext cx="8075067" cy="1894870"/>
          </a:xfrm>
          <a:prstGeom prst="rect">
            <a:avLst/>
          </a:prstGeom>
        </p:spPr>
      </p:pic>
    </p:spTree>
    <p:extLst>
      <p:ext uri="{BB962C8B-B14F-4D97-AF65-F5344CB8AC3E}">
        <p14:creationId xmlns:p14="http://schemas.microsoft.com/office/powerpoint/2010/main" val="1949443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DC7DC-980A-2D2E-C8C4-7CC5B7D0FBB6}"/>
              </a:ext>
            </a:extLst>
          </p:cNvPr>
          <p:cNvSpPr>
            <a:spLocks noGrp="1"/>
          </p:cNvSpPr>
          <p:nvPr>
            <p:ph type="title"/>
          </p:nvPr>
        </p:nvSpPr>
        <p:spPr/>
        <p:txBody>
          <a:body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Common Coding Standards</a:t>
            </a:r>
          </a:p>
        </p:txBody>
      </p:sp>
      <p:sp>
        <p:nvSpPr>
          <p:cNvPr id="5" name="Rectangle 3">
            <a:extLst>
              <a:ext uri="{FF2B5EF4-FFF2-40B4-BE49-F238E27FC236}">
                <a16:creationId xmlns:a16="http://schemas.microsoft.com/office/drawing/2014/main" id="{69365792-823A-5D0A-7DFD-70C1B4B7B4AC}"/>
              </a:ext>
            </a:extLst>
          </p:cNvPr>
          <p:cNvSpPr>
            <a:spLocks noChangeArrowheads="1"/>
          </p:cNvSpPr>
          <p:nvPr/>
        </p:nvSpPr>
        <p:spPr bwMode="auto">
          <a:xfrm>
            <a:off x="685950" y="1262179"/>
            <a:ext cx="10663694" cy="478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37931725" indent="-37474525" eaLnBrk="0" hangingPunct="0">
              <a:defRPr sz="2400">
                <a:solidFill>
                  <a:schemeClr val="tx1"/>
                </a:solidFill>
                <a:latin typeface="Times New Roman" panose="02020603050405020304" pitchFamily="18" charset="0"/>
                <a:cs typeface="Arial" panose="020B0604020202020204" pitchFamily="34" charset="0"/>
              </a:defRPr>
            </a:lvl2pPr>
            <a:lvl3pPr eaLnBrk="0" hangingPunct="0">
              <a:defRPr sz="2400">
                <a:solidFill>
                  <a:schemeClr val="tx1"/>
                </a:solidFill>
                <a:latin typeface="Times New Roman" panose="02020603050405020304" pitchFamily="18" charset="0"/>
                <a:cs typeface="Arial" panose="020B0604020202020204" pitchFamily="34" charset="0"/>
              </a:defRPr>
            </a:lvl3pPr>
            <a:lvl4pPr eaLnBrk="0" hangingPunct="0">
              <a:defRPr sz="2400">
                <a:solidFill>
                  <a:schemeClr val="tx1"/>
                </a:solidFill>
                <a:latin typeface="Times New Roman" panose="02020603050405020304" pitchFamily="18" charset="0"/>
                <a:cs typeface="Arial" panose="020B0604020202020204" pitchFamily="34" charset="0"/>
              </a:defRPr>
            </a:lvl4pPr>
            <a:lvl5pPr eaLnBrk="0" hangingPunct="0">
              <a:defRPr sz="2400">
                <a:solidFill>
                  <a:schemeClr val="tx1"/>
                </a:solidFill>
                <a:latin typeface="Times New Roman" panose="02020603050405020304" pitchFamily="18" charset="0"/>
                <a:cs typeface="Arial" panose="020B0604020202020204" pitchFamily="34" charset="0"/>
              </a:defRPr>
            </a:lvl5pPr>
            <a:lvl6pPr marL="4572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9144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457200" indent="-457200">
              <a:spcAft>
                <a:spcPts val="600"/>
              </a:spcAft>
              <a:buFont typeface="+mj-lt"/>
              <a:buAutoNum type="arabicParenR"/>
            </a:pPr>
            <a:r>
              <a:rPr lang="en-US" altLang="en-US" sz="1800" b="1" dirty="0">
                <a:solidFill>
                  <a:srgbClr val="0066CC"/>
                </a:solidFill>
              </a:rPr>
              <a:t>Naming Conventions </a:t>
            </a:r>
            <a:r>
              <a:rPr lang="en-US" altLang="en-US" sz="1800" dirty="0"/>
              <a:t>– Use meaningful and descriptive names for variables, functions, classes, and files. Follow consistent styles like camelCase, </a:t>
            </a:r>
            <a:r>
              <a:rPr lang="en-US" altLang="en-US" sz="1800" dirty="0" err="1"/>
              <a:t>PascalCase</a:t>
            </a:r>
            <a:r>
              <a:rPr lang="en-US" altLang="en-US" sz="1800" dirty="0"/>
              <a:t>, or </a:t>
            </a:r>
            <a:r>
              <a:rPr lang="en-US" altLang="en-US" sz="1800" dirty="0" err="1"/>
              <a:t>snake_case</a:t>
            </a:r>
            <a:r>
              <a:rPr lang="en-US" altLang="en-US" sz="1800" dirty="0"/>
              <a:t>.</a:t>
            </a:r>
          </a:p>
          <a:p>
            <a:pPr marL="457200" indent="-457200">
              <a:spcAft>
                <a:spcPts val="600"/>
              </a:spcAft>
              <a:buFont typeface="+mj-lt"/>
              <a:buAutoNum type="arabicParenR"/>
            </a:pPr>
            <a:r>
              <a:rPr lang="en-US" altLang="en-US" sz="1800" b="1" dirty="0">
                <a:solidFill>
                  <a:srgbClr val="0066CC"/>
                </a:solidFill>
              </a:rPr>
              <a:t>Indentation &amp; Formatting </a:t>
            </a:r>
            <a:r>
              <a:rPr lang="en-US" altLang="en-US" sz="1800" dirty="0"/>
              <a:t>– Maintain consistent indentation (spaces/tabs), line length, and spacing around operators for better readability.</a:t>
            </a:r>
          </a:p>
          <a:p>
            <a:pPr marL="457200" indent="-457200">
              <a:spcAft>
                <a:spcPts val="600"/>
              </a:spcAft>
              <a:buFont typeface="+mj-lt"/>
              <a:buAutoNum type="arabicParenR"/>
            </a:pPr>
            <a:r>
              <a:rPr lang="en-US" altLang="en-US" sz="1800" b="1" dirty="0">
                <a:solidFill>
                  <a:srgbClr val="0066CC"/>
                </a:solidFill>
              </a:rPr>
              <a:t>Comments &amp; Documentation </a:t>
            </a:r>
            <a:r>
              <a:rPr lang="en-US" altLang="en-US" sz="1800" dirty="0"/>
              <a:t>– Use inline comments sparingly, write docstrings for functions and classes, and maintain external documentation.</a:t>
            </a:r>
          </a:p>
          <a:p>
            <a:pPr marL="457200" indent="-457200">
              <a:spcAft>
                <a:spcPts val="600"/>
              </a:spcAft>
              <a:buFont typeface="+mj-lt"/>
              <a:buAutoNum type="arabicParenR"/>
            </a:pPr>
            <a:r>
              <a:rPr lang="en-US" altLang="en-US" sz="1800" b="1" dirty="0">
                <a:solidFill>
                  <a:srgbClr val="0066CC"/>
                </a:solidFill>
              </a:rPr>
              <a:t>Error Handling &amp; Exceptions </a:t>
            </a:r>
            <a:r>
              <a:rPr lang="en-US" altLang="en-US" sz="1800" dirty="0"/>
              <a:t>– Always handle errors gracefully with try-catch blocks and meaningful error messages instead of crashing programs.</a:t>
            </a:r>
          </a:p>
          <a:p>
            <a:pPr marL="457200" indent="-457200">
              <a:spcAft>
                <a:spcPts val="600"/>
              </a:spcAft>
              <a:buFont typeface="+mj-lt"/>
              <a:buAutoNum type="arabicParenR"/>
            </a:pPr>
            <a:r>
              <a:rPr lang="en-US" altLang="en-US" sz="1800" b="1" dirty="0">
                <a:solidFill>
                  <a:srgbClr val="0066CC"/>
                </a:solidFill>
              </a:rPr>
              <a:t>Code Reusability </a:t>
            </a:r>
            <a:r>
              <a:rPr lang="en-US" altLang="en-US" sz="1800" dirty="0"/>
              <a:t>– Avoid duplication by writing modular, reusable functions and components. Follow the DRY (Don’t Repeat Yourself) principle.</a:t>
            </a:r>
          </a:p>
          <a:p>
            <a:pPr marL="457200" indent="-457200">
              <a:spcAft>
                <a:spcPts val="600"/>
              </a:spcAft>
              <a:buFont typeface="+mj-lt"/>
              <a:buAutoNum type="arabicParenR"/>
            </a:pPr>
            <a:r>
              <a:rPr lang="en-US" altLang="en-US" sz="1800" b="1" dirty="0">
                <a:solidFill>
                  <a:srgbClr val="0066CC"/>
                </a:solidFill>
              </a:rPr>
              <a:t>Security Practices </a:t>
            </a:r>
            <a:r>
              <a:rPr lang="en-US" altLang="en-US" sz="1800" dirty="0"/>
              <a:t>– Validate all user inputs, avoid hardcoding sensitive data (like passwords or API keys), and follow secure coding practices.</a:t>
            </a:r>
          </a:p>
          <a:p>
            <a:pPr marL="457200" indent="-457200">
              <a:spcAft>
                <a:spcPts val="600"/>
              </a:spcAft>
              <a:buFont typeface="+mj-lt"/>
              <a:buAutoNum type="arabicParenR"/>
            </a:pPr>
            <a:r>
              <a:rPr lang="en-US" altLang="en-US" sz="1800" b="1" dirty="0">
                <a:solidFill>
                  <a:srgbClr val="0066CC"/>
                </a:solidFill>
              </a:rPr>
              <a:t>Testing Practices </a:t>
            </a:r>
            <a:r>
              <a:rPr lang="en-US" altLang="en-US" sz="1800" dirty="0"/>
              <a:t>– Write unit tests, integration tests, and maintain test coverage to ensure reliability.</a:t>
            </a:r>
          </a:p>
          <a:p>
            <a:pPr marL="457200" indent="-457200">
              <a:spcAft>
                <a:spcPts val="600"/>
              </a:spcAft>
              <a:buFont typeface="+mj-lt"/>
              <a:buAutoNum type="arabicParenR"/>
            </a:pPr>
            <a:r>
              <a:rPr lang="en-US" altLang="en-US" sz="1800" b="1" dirty="0">
                <a:solidFill>
                  <a:srgbClr val="0066CC"/>
                </a:solidFill>
              </a:rPr>
              <a:t>Code Reviews </a:t>
            </a:r>
            <a:r>
              <a:rPr lang="en-US" altLang="en-US" sz="1800" dirty="0"/>
              <a:t>– Encourage peer reviews to catch mistakes early, improve quality, and share knowledge within the team.</a:t>
            </a:r>
            <a:endParaRPr lang="en-US" sz="1800" dirty="0"/>
          </a:p>
        </p:txBody>
      </p:sp>
    </p:spTree>
    <p:extLst>
      <p:ext uri="{BB962C8B-B14F-4D97-AF65-F5344CB8AC3E}">
        <p14:creationId xmlns:p14="http://schemas.microsoft.com/office/powerpoint/2010/main" val="290998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Using Comments for More Clarity</a:t>
            </a:r>
          </a:p>
        </p:txBody>
      </p:sp>
    </p:spTree>
    <p:extLst>
      <p:ext uri="{BB962C8B-B14F-4D97-AF65-F5344CB8AC3E}">
        <p14:creationId xmlns:p14="http://schemas.microsoft.com/office/powerpoint/2010/main" val="719948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507287" y="1455174"/>
            <a:ext cx="10573667" cy="936154"/>
          </a:xfrm>
          <a:prstGeom prst="rect">
            <a:avLst/>
          </a:prstGeom>
        </p:spPr>
        <p:txBody>
          <a:bodyPr vert="horz" wrap="square" lIns="0" tIns="12700" rIns="0" bIns="0" rtlCol="0">
            <a:spAutoFit/>
          </a:bodyPr>
          <a:lstStyle/>
          <a:p>
            <a:pPr>
              <a:defRPr sz="1800"/>
            </a:pPr>
            <a:r>
              <a:rPr lang="en-US" sz="2000" dirty="0">
                <a:latin typeface="Times New Roman" panose="02020603050405020304" pitchFamily="18" charset="0"/>
                <a:cs typeface="Times New Roman" panose="02020603050405020304" pitchFamily="18" charset="0"/>
              </a:rPr>
              <a:t>Comments are notes written in the code that explain what the code does without affecting its execution. They provide clarity, making it easier for other developers (and your future self) to understand the logic and purpose of the code.</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are Comments?</a:t>
            </a:r>
          </a:p>
        </p:txBody>
      </p:sp>
      <p:sp>
        <p:nvSpPr>
          <p:cNvPr id="2" name="Title 1">
            <a:extLst>
              <a:ext uri="{FF2B5EF4-FFF2-40B4-BE49-F238E27FC236}">
                <a16:creationId xmlns:a16="http://schemas.microsoft.com/office/drawing/2014/main" id="{6A36CDE8-A291-B28C-0C8F-84620E386B7B}"/>
              </a:ext>
            </a:extLst>
          </p:cNvPr>
          <p:cNvSpPr txBox="1">
            <a:spLocks/>
          </p:cNvSpPr>
          <p:nvPr/>
        </p:nvSpPr>
        <p:spPr>
          <a:xfrm>
            <a:off x="692174" y="2842630"/>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Importance of Comments</a:t>
            </a:r>
          </a:p>
        </p:txBody>
      </p:sp>
      <p:sp>
        <p:nvSpPr>
          <p:cNvPr id="3" name="object 5">
            <a:extLst>
              <a:ext uri="{FF2B5EF4-FFF2-40B4-BE49-F238E27FC236}">
                <a16:creationId xmlns:a16="http://schemas.microsoft.com/office/drawing/2014/main" id="{360EA906-EB9F-596A-6B80-1882FA3734DA}"/>
              </a:ext>
            </a:extLst>
          </p:cNvPr>
          <p:cNvSpPr txBox="1"/>
          <p:nvPr/>
        </p:nvSpPr>
        <p:spPr>
          <a:xfrm>
            <a:off x="507287" y="3734420"/>
            <a:ext cx="10573667" cy="1551707"/>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Improve readability and help others quickly understand the code.</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Serve as documentation for complex logic, functions, or algorithms.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Help in debugging and maintenance by providing context.</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Support team collaboration, especially in large projects.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Ensure that code remains understandable long after it was written.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0972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16E64-E56E-DE76-DEAA-921B2CCC25A9}"/>
            </a:ext>
          </a:extLst>
        </p:cNvPr>
        <p:cNvGrpSpPr/>
        <p:nvPr/>
      </p:nvGrpSpPr>
      <p:grpSpPr>
        <a:xfrm>
          <a:off x="0" y="0"/>
          <a:ext cx="0" cy="0"/>
          <a:chOff x="0" y="0"/>
          <a:chExt cx="0" cy="0"/>
        </a:xfrm>
      </p:grpSpPr>
      <p:sp>
        <p:nvSpPr>
          <p:cNvPr id="16" name="object 5">
            <a:extLst>
              <a:ext uri="{FF2B5EF4-FFF2-40B4-BE49-F238E27FC236}">
                <a16:creationId xmlns:a16="http://schemas.microsoft.com/office/drawing/2014/main" id="{EFAD8D60-BD47-F849-CABE-E768B213920C}"/>
              </a:ext>
            </a:extLst>
          </p:cNvPr>
          <p:cNvSpPr txBox="1"/>
          <p:nvPr/>
        </p:nvSpPr>
        <p:spPr>
          <a:xfrm>
            <a:off x="507287" y="1378230"/>
            <a:ext cx="10573667" cy="1243930"/>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Inline Comments – Short explanations placed on the same line as code.</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Block Comments – Multi-line explanations for sections of code.</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Documentation Comments – Used for describing functions, classes, or modules in detail (e.g., docstrings in Python, Javadoc in Java).</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9A99EEB5-A8E3-0526-E203-23FA1B38D167}"/>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Types of Comments</a:t>
            </a:r>
          </a:p>
        </p:txBody>
      </p:sp>
      <p:sp>
        <p:nvSpPr>
          <p:cNvPr id="2" name="Title 1">
            <a:extLst>
              <a:ext uri="{FF2B5EF4-FFF2-40B4-BE49-F238E27FC236}">
                <a16:creationId xmlns:a16="http://schemas.microsoft.com/office/drawing/2014/main" id="{7ED9DD5B-07CF-08FC-4787-F1064638E0C8}"/>
              </a:ext>
            </a:extLst>
          </p:cNvPr>
          <p:cNvSpPr txBox="1">
            <a:spLocks/>
          </p:cNvSpPr>
          <p:nvPr/>
        </p:nvSpPr>
        <p:spPr>
          <a:xfrm>
            <a:off x="692174" y="2996518"/>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Best Practices for Writing Comments</a:t>
            </a:r>
          </a:p>
        </p:txBody>
      </p:sp>
      <p:sp>
        <p:nvSpPr>
          <p:cNvPr id="3" name="object 5">
            <a:extLst>
              <a:ext uri="{FF2B5EF4-FFF2-40B4-BE49-F238E27FC236}">
                <a16:creationId xmlns:a16="http://schemas.microsoft.com/office/drawing/2014/main" id="{4FAA0F85-6529-D440-D71C-42F9253EF88F}"/>
              </a:ext>
            </a:extLst>
          </p:cNvPr>
          <p:cNvSpPr txBox="1"/>
          <p:nvPr/>
        </p:nvSpPr>
        <p:spPr>
          <a:xfrm>
            <a:off x="507287" y="3811364"/>
            <a:ext cx="10573667" cy="1551707"/>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Keep comments clear, concise, and relevant.</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Avoid stating the obvious (don’t explain trivial code).</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Update comments whenever code changes.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Use comments to explain why, not just what.</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Follow team or language-specific commenting style guides.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0569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78323-8EC4-CEE4-81DC-5BE30336F9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EB6075-37B4-AE88-2A14-442DB5731019}"/>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Examples of Comments</a:t>
            </a:r>
          </a:p>
        </p:txBody>
      </p:sp>
      <p:sp>
        <p:nvSpPr>
          <p:cNvPr id="3" name="TextBox 2">
            <a:extLst>
              <a:ext uri="{FF2B5EF4-FFF2-40B4-BE49-F238E27FC236}">
                <a16:creationId xmlns:a16="http://schemas.microsoft.com/office/drawing/2014/main" id="{CE9C980E-BFCE-537E-0E82-16D2A2DD85BC}"/>
              </a:ext>
            </a:extLst>
          </p:cNvPr>
          <p:cNvSpPr txBox="1"/>
          <p:nvPr/>
        </p:nvSpPr>
        <p:spPr>
          <a:xfrm>
            <a:off x="692174" y="1317629"/>
            <a:ext cx="612370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Single-line (Inline) Comments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BC921E0-7FAC-6326-1493-3BF4B36A138B}"/>
              </a:ext>
            </a:extLst>
          </p:cNvPr>
          <p:cNvPicPr>
            <a:picLocks noChangeAspect="1"/>
          </p:cNvPicPr>
          <p:nvPr/>
        </p:nvPicPr>
        <p:blipFill>
          <a:blip r:embed="rId3"/>
          <a:stretch>
            <a:fillRect/>
          </a:stretch>
        </p:blipFill>
        <p:spPr>
          <a:xfrm>
            <a:off x="818803" y="2237522"/>
            <a:ext cx="4818810" cy="1785838"/>
          </a:xfrm>
          <a:prstGeom prst="rect">
            <a:avLst/>
          </a:prstGeom>
        </p:spPr>
      </p:pic>
      <p:pic>
        <p:nvPicPr>
          <p:cNvPr id="9" name="Picture 8">
            <a:extLst>
              <a:ext uri="{FF2B5EF4-FFF2-40B4-BE49-F238E27FC236}">
                <a16:creationId xmlns:a16="http://schemas.microsoft.com/office/drawing/2014/main" id="{82001F8D-8C37-2D2B-DA32-9CCC04ED4AE4}"/>
              </a:ext>
            </a:extLst>
          </p:cNvPr>
          <p:cNvPicPr>
            <a:picLocks noChangeAspect="1"/>
          </p:cNvPicPr>
          <p:nvPr/>
        </p:nvPicPr>
        <p:blipFill>
          <a:blip r:embed="rId4"/>
          <a:stretch>
            <a:fillRect/>
          </a:stretch>
        </p:blipFill>
        <p:spPr>
          <a:xfrm>
            <a:off x="6554389" y="2240800"/>
            <a:ext cx="4818810" cy="2376399"/>
          </a:xfrm>
          <a:prstGeom prst="rect">
            <a:avLst/>
          </a:prstGeom>
        </p:spPr>
      </p:pic>
    </p:spTree>
    <p:extLst>
      <p:ext uri="{BB962C8B-B14F-4D97-AF65-F5344CB8AC3E}">
        <p14:creationId xmlns:p14="http://schemas.microsoft.com/office/powerpoint/2010/main" val="14965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160CF-6FE8-69BF-35FF-C1FDF3E8B52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3FE8D93-71F9-7D43-1A12-AE34013F77A1}"/>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Examples of Comments</a:t>
            </a:r>
          </a:p>
        </p:txBody>
      </p:sp>
      <p:sp>
        <p:nvSpPr>
          <p:cNvPr id="3" name="TextBox 2">
            <a:extLst>
              <a:ext uri="{FF2B5EF4-FFF2-40B4-BE49-F238E27FC236}">
                <a16:creationId xmlns:a16="http://schemas.microsoft.com/office/drawing/2014/main" id="{9F89F04D-660D-2DDE-54D4-420B3B5B113E}"/>
              </a:ext>
            </a:extLst>
          </p:cNvPr>
          <p:cNvSpPr txBox="1"/>
          <p:nvPr/>
        </p:nvSpPr>
        <p:spPr>
          <a:xfrm>
            <a:off x="692174" y="1317629"/>
            <a:ext cx="612370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Multi-line (Block) Comment</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2547F89-DEF6-A2DA-C2E1-82D71B06B260}"/>
              </a:ext>
            </a:extLst>
          </p:cNvPr>
          <p:cNvPicPr>
            <a:picLocks noChangeAspect="1"/>
          </p:cNvPicPr>
          <p:nvPr/>
        </p:nvPicPr>
        <p:blipFill>
          <a:blip r:embed="rId3"/>
          <a:stretch>
            <a:fillRect/>
          </a:stretch>
        </p:blipFill>
        <p:spPr>
          <a:xfrm>
            <a:off x="707944" y="2028643"/>
            <a:ext cx="4673309" cy="3828735"/>
          </a:xfrm>
          <a:prstGeom prst="rect">
            <a:avLst/>
          </a:prstGeom>
        </p:spPr>
      </p:pic>
      <p:pic>
        <p:nvPicPr>
          <p:cNvPr id="8" name="Picture 7">
            <a:extLst>
              <a:ext uri="{FF2B5EF4-FFF2-40B4-BE49-F238E27FC236}">
                <a16:creationId xmlns:a16="http://schemas.microsoft.com/office/drawing/2014/main" id="{2D0D44BF-A7AE-A16B-E3FB-26484B92A610}"/>
              </a:ext>
            </a:extLst>
          </p:cNvPr>
          <p:cNvPicPr>
            <a:picLocks noChangeAspect="1"/>
          </p:cNvPicPr>
          <p:nvPr/>
        </p:nvPicPr>
        <p:blipFill>
          <a:blip r:embed="rId4"/>
          <a:stretch>
            <a:fillRect/>
          </a:stretch>
        </p:blipFill>
        <p:spPr>
          <a:xfrm>
            <a:off x="6495012" y="2163114"/>
            <a:ext cx="4287435" cy="3828736"/>
          </a:xfrm>
          <a:prstGeom prst="rect">
            <a:avLst/>
          </a:prstGeom>
        </p:spPr>
      </p:pic>
    </p:spTree>
    <p:extLst>
      <p:ext uri="{BB962C8B-B14F-4D97-AF65-F5344CB8AC3E}">
        <p14:creationId xmlns:p14="http://schemas.microsoft.com/office/powerpoint/2010/main" val="1148962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507287" y="1455174"/>
            <a:ext cx="10573667" cy="2782813"/>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Debugging and monitoring are essential for building reliable software. </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Two common methods are using print statements or logging frameworks. </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At first glance, both seem to do the same thing: display output. </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However, their purpose, scope, and usage differ greatly. </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Understanding the difference helps in writing cleaner, more professional code.</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is Logging and Print?</a:t>
            </a:r>
          </a:p>
        </p:txBody>
      </p:sp>
    </p:spTree>
    <p:extLst>
      <p:ext uri="{BB962C8B-B14F-4D97-AF65-F5344CB8AC3E}">
        <p14:creationId xmlns:p14="http://schemas.microsoft.com/office/powerpoint/2010/main" val="1884642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16E64-E56E-DE76-DEAA-921B2CCC25A9}"/>
            </a:ext>
          </a:extLst>
        </p:cNvPr>
        <p:cNvGrpSpPr/>
        <p:nvPr/>
      </p:nvGrpSpPr>
      <p:grpSpPr>
        <a:xfrm>
          <a:off x="0" y="0"/>
          <a:ext cx="0" cy="0"/>
          <a:chOff x="0" y="0"/>
          <a:chExt cx="0" cy="0"/>
        </a:xfrm>
      </p:grpSpPr>
      <p:sp>
        <p:nvSpPr>
          <p:cNvPr id="16" name="object 5">
            <a:extLst>
              <a:ext uri="{FF2B5EF4-FFF2-40B4-BE49-F238E27FC236}">
                <a16:creationId xmlns:a16="http://schemas.microsoft.com/office/drawing/2014/main" id="{EFAD8D60-BD47-F849-CABE-E768B213920C}"/>
              </a:ext>
            </a:extLst>
          </p:cNvPr>
          <p:cNvSpPr txBox="1"/>
          <p:nvPr/>
        </p:nvSpPr>
        <p:spPr>
          <a:xfrm>
            <a:off x="507287" y="1378872"/>
            <a:ext cx="10573667" cy="1551707"/>
          </a:xfrm>
          <a:prstGeom prst="rect">
            <a:avLst/>
          </a:prstGeom>
        </p:spPr>
        <p:txBody>
          <a:bodyPr vert="horz" wrap="square" lIns="0" tIns="12700" rIns="0" bIns="0" rtlCol="0">
            <a:spAutoFit/>
          </a:bodyPr>
          <a:lstStyle/>
          <a:p>
            <a:pPr>
              <a:defRPr sz="1800"/>
            </a:pPr>
            <a:r>
              <a:rPr lang="en-US" sz="2000" dirty="0">
                <a:latin typeface="Times New Roman" panose="02020603050405020304" pitchFamily="18" charset="0"/>
                <a:cs typeface="Times New Roman" panose="02020603050405020304" pitchFamily="18" charset="0"/>
              </a:rPr>
              <a:t>The print statement is the simplest way to display output during software development. It is often used to quickly test values, confirm function calls, or trace the program’s execution flow by sending messages directly to the console or terminal. Being beginner-friendly and requiring no setup, it is especially useful in small programs, quick experiments, or learning scenarios where simplicity is more important than structure or scalability.</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9A99EEB5-A8E3-0526-E203-23FA1B38D167}"/>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Print Statements</a:t>
            </a:r>
          </a:p>
        </p:txBody>
      </p:sp>
      <p:sp>
        <p:nvSpPr>
          <p:cNvPr id="2" name="Title 1">
            <a:extLst>
              <a:ext uri="{FF2B5EF4-FFF2-40B4-BE49-F238E27FC236}">
                <a16:creationId xmlns:a16="http://schemas.microsoft.com/office/drawing/2014/main" id="{7ED9DD5B-07CF-08FC-4787-F1064638E0C8}"/>
              </a:ext>
            </a:extLst>
          </p:cNvPr>
          <p:cNvSpPr txBox="1">
            <a:spLocks/>
          </p:cNvSpPr>
          <p:nvPr/>
        </p:nvSpPr>
        <p:spPr>
          <a:xfrm>
            <a:off x="692174" y="3305579"/>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Limitations of Print</a:t>
            </a:r>
          </a:p>
        </p:txBody>
      </p:sp>
      <p:sp>
        <p:nvSpPr>
          <p:cNvPr id="3" name="object 5">
            <a:extLst>
              <a:ext uri="{FF2B5EF4-FFF2-40B4-BE49-F238E27FC236}">
                <a16:creationId xmlns:a16="http://schemas.microsoft.com/office/drawing/2014/main" id="{4FAA0F85-6529-D440-D71C-42F9253EF88F}"/>
              </a:ext>
            </a:extLst>
          </p:cNvPr>
          <p:cNvSpPr txBox="1"/>
          <p:nvPr/>
        </p:nvSpPr>
        <p:spPr>
          <a:xfrm>
            <a:off x="507286" y="4121067"/>
            <a:ext cx="10573667" cy="1859483"/>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Becomes messy and unmanageable in larger projects.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No way to classify messages by severity or importance.</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Cannot selectively disable or filter specific outputs.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Difficult to track issues in production since console output is temporary.</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Can slow down performance if left in loops or critical code paths.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Often requires manually removing before deploying to production.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112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5A69F-27D6-243A-BF25-66201A6F1373}"/>
            </a:ext>
          </a:extLst>
        </p:cNvPr>
        <p:cNvGrpSpPr/>
        <p:nvPr/>
      </p:nvGrpSpPr>
      <p:grpSpPr>
        <a:xfrm>
          <a:off x="0" y="0"/>
          <a:ext cx="0" cy="0"/>
          <a:chOff x="0" y="0"/>
          <a:chExt cx="0" cy="0"/>
        </a:xfrm>
      </p:grpSpPr>
      <p:sp>
        <p:nvSpPr>
          <p:cNvPr id="16" name="object 5">
            <a:extLst>
              <a:ext uri="{FF2B5EF4-FFF2-40B4-BE49-F238E27FC236}">
                <a16:creationId xmlns:a16="http://schemas.microsoft.com/office/drawing/2014/main" id="{E9353FEC-280D-2089-F030-2F347533C822}"/>
              </a:ext>
            </a:extLst>
          </p:cNvPr>
          <p:cNvSpPr txBox="1"/>
          <p:nvPr/>
        </p:nvSpPr>
        <p:spPr>
          <a:xfrm>
            <a:off x="507285" y="1224984"/>
            <a:ext cx="10573667" cy="1859483"/>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 structured and configurable way of recording program events.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Allows developers to capture not just output, but context and severity.</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Supports multiple levels: DEBUG, INFO, WARNING, ERROR, CRITICAL.</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Logs can be stored in files, databases, servers, or monitoring dashboards.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Can include timestamps, user info, and system states for detailed tracking.</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Essential in professional, team-based, or long-term software projects.</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EB5111B-6A2D-7973-3D0F-C68BE5403691}"/>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Logging</a:t>
            </a:r>
          </a:p>
        </p:txBody>
      </p:sp>
      <p:sp>
        <p:nvSpPr>
          <p:cNvPr id="2" name="Title 1">
            <a:extLst>
              <a:ext uri="{FF2B5EF4-FFF2-40B4-BE49-F238E27FC236}">
                <a16:creationId xmlns:a16="http://schemas.microsoft.com/office/drawing/2014/main" id="{00A70BF1-7F33-F2C2-8545-AA16E93B18F6}"/>
              </a:ext>
            </a:extLst>
          </p:cNvPr>
          <p:cNvSpPr txBox="1">
            <a:spLocks/>
          </p:cNvSpPr>
          <p:nvPr/>
        </p:nvSpPr>
        <p:spPr>
          <a:xfrm>
            <a:off x="692174" y="3305579"/>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Advantages of Logging</a:t>
            </a:r>
          </a:p>
        </p:txBody>
      </p:sp>
      <p:sp>
        <p:nvSpPr>
          <p:cNvPr id="3" name="object 5">
            <a:extLst>
              <a:ext uri="{FF2B5EF4-FFF2-40B4-BE49-F238E27FC236}">
                <a16:creationId xmlns:a16="http://schemas.microsoft.com/office/drawing/2014/main" id="{947449A0-0A62-A6F0-A7DA-DEAB9B90C050}"/>
              </a:ext>
            </a:extLst>
          </p:cNvPr>
          <p:cNvSpPr txBox="1"/>
          <p:nvPr/>
        </p:nvSpPr>
        <p:spPr>
          <a:xfrm>
            <a:off x="507284" y="3967179"/>
            <a:ext cx="10573667" cy="2167260"/>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Scalable and maintainable across small and large systems.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Provides detailed insight into errors, performance, and user behavior.</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Easy to filter and analyze logs by severity or tags.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Enables monitoring tools (e.g., Splunk, ELK, Grafana) to track live systems.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Facilitates audits and compliance by keeping a history of events.</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Reduces debugging time by making issues reproducible.</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Can run silently in the background without disturbing the user.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5336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E6359-ABFA-167B-84B4-6B3EA522EC1C}"/>
            </a:ext>
          </a:extLst>
        </p:cNvPr>
        <p:cNvGrpSpPr/>
        <p:nvPr/>
      </p:nvGrpSpPr>
      <p:grpSpPr>
        <a:xfrm>
          <a:off x="0" y="0"/>
          <a:ext cx="0" cy="0"/>
          <a:chOff x="0" y="0"/>
          <a:chExt cx="0" cy="0"/>
        </a:xfrm>
      </p:grpSpPr>
      <p:sp>
        <p:nvSpPr>
          <p:cNvPr id="16" name="object 5">
            <a:extLst>
              <a:ext uri="{FF2B5EF4-FFF2-40B4-BE49-F238E27FC236}">
                <a16:creationId xmlns:a16="http://schemas.microsoft.com/office/drawing/2014/main" id="{DC677436-B04D-8391-981A-63FE7423E0C3}"/>
              </a:ext>
            </a:extLst>
          </p:cNvPr>
          <p:cNvSpPr txBox="1"/>
          <p:nvPr/>
        </p:nvSpPr>
        <p:spPr>
          <a:xfrm>
            <a:off x="507287" y="1455174"/>
            <a:ext cx="10573667" cy="3090590"/>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b="1" dirty="0">
                <a:solidFill>
                  <a:srgbClr val="0066CC"/>
                </a:solidFill>
                <a:latin typeface="Times New Roman" panose="02020603050405020304" pitchFamily="18" charset="0"/>
                <a:cs typeface="Times New Roman" panose="02020603050405020304" pitchFamily="18" charset="0"/>
              </a:rPr>
              <a:t>Debug: </a:t>
            </a:r>
            <a:r>
              <a:rPr lang="en-US" sz="2000" dirty="0">
                <a:latin typeface="Times New Roman" panose="02020603050405020304" pitchFamily="18" charset="0"/>
                <a:cs typeface="Times New Roman" panose="02020603050405020304" pitchFamily="18" charset="0"/>
              </a:rPr>
              <a:t>It is used to give detailed information while debugging the program.</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1800"/>
            </a:pPr>
            <a:r>
              <a:rPr lang="en-US" sz="2000" b="1" dirty="0">
                <a:solidFill>
                  <a:srgbClr val="0066CC"/>
                </a:solidFill>
                <a:latin typeface="Times New Roman" panose="02020603050405020304" pitchFamily="18" charset="0"/>
                <a:cs typeface="Times New Roman" panose="02020603050405020304" pitchFamily="18" charset="0"/>
              </a:rPr>
              <a:t>Info: </a:t>
            </a:r>
            <a:r>
              <a:rPr lang="en-US" sz="2000" dirty="0">
                <a:latin typeface="Times New Roman" panose="02020603050405020304" pitchFamily="18" charset="0"/>
                <a:cs typeface="Times New Roman" panose="02020603050405020304" pitchFamily="18" charset="0"/>
              </a:rPr>
              <a:t>It is used when we want to display some general information.</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1800"/>
            </a:pPr>
            <a:r>
              <a:rPr lang="en-US" sz="2000" b="1" dirty="0">
                <a:solidFill>
                  <a:srgbClr val="0066CC"/>
                </a:solidFill>
                <a:latin typeface="Times New Roman" panose="02020603050405020304" pitchFamily="18" charset="0"/>
                <a:cs typeface="Times New Roman" panose="02020603050405020304" pitchFamily="18" charset="0"/>
              </a:rPr>
              <a:t>Warning: </a:t>
            </a:r>
            <a:r>
              <a:rPr lang="en-US" sz="2000" dirty="0">
                <a:latin typeface="Times New Roman" panose="02020603050405020304" pitchFamily="18" charset="0"/>
                <a:cs typeface="Times New Roman" panose="02020603050405020304" pitchFamily="18" charset="0"/>
              </a:rPr>
              <a:t>It is used to display some warning which might affect the program in the future.</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1800"/>
            </a:pPr>
            <a:r>
              <a:rPr lang="en-US" sz="2000" b="1" dirty="0">
                <a:solidFill>
                  <a:srgbClr val="0066CC"/>
                </a:solidFill>
                <a:latin typeface="Times New Roman" panose="02020603050405020304" pitchFamily="18" charset="0"/>
                <a:cs typeface="Times New Roman" panose="02020603050405020304" pitchFamily="18" charset="0"/>
              </a:rPr>
              <a:t>Error: </a:t>
            </a:r>
            <a:r>
              <a:rPr lang="en-US" sz="2000" dirty="0">
                <a:latin typeface="Times New Roman" panose="02020603050405020304" pitchFamily="18" charset="0"/>
                <a:cs typeface="Times New Roman" panose="02020603050405020304" pitchFamily="18" charset="0"/>
              </a:rPr>
              <a:t>It is used to display some error message that has occurred in the program while executing.</a:t>
            </a:r>
          </a:p>
          <a:p>
            <a:pPr marL="342900" indent="-342900">
              <a:buFont typeface="Arial" panose="020B0604020202020204" pitchFamily="34" charset="0"/>
              <a:buChar char="•"/>
              <a:defRPr sz="1800"/>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1800"/>
            </a:pPr>
            <a:r>
              <a:rPr lang="en-US" sz="2000" b="1" dirty="0">
                <a:solidFill>
                  <a:srgbClr val="0066CC"/>
                </a:solidFill>
                <a:latin typeface="Times New Roman" panose="02020603050405020304" pitchFamily="18" charset="0"/>
                <a:cs typeface="Times New Roman" panose="02020603050405020304" pitchFamily="18" charset="0"/>
              </a:rPr>
              <a:t>Critical: </a:t>
            </a:r>
            <a:r>
              <a:rPr lang="en-US" sz="2000" dirty="0">
                <a:latin typeface="Times New Roman" panose="02020603050405020304" pitchFamily="18" charset="0"/>
                <a:cs typeface="Times New Roman" panose="02020603050405020304" pitchFamily="18" charset="0"/>
              </a:rPr>
              <a:t>It is used to display the message when something critical has happened to the program that has stopped its execution.</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A2CFBC2-CE45-45D5-F2A5-1C7E97FCF9E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Different levels of logging</a:t>
            </a:r>
          </a:p>
        </p:txBody>
      </p:sp>
    </p:spTree>
    <p:extLst>
      <p:ext uri="{BB962C8B-B14F-4D97-AF65-F5344CB8AC3E}">
        <p14:creationId xmlns:p14="http://schemas.microsoft.com/office/powerpoint/2010/main" val="587090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E07B9-3D8D-9318-27D0-73E3805F20F6}"/>
            </a:ext>
          </a:extLst>
        </p:cNvPr>
        <p:cNvGrpSpPr/>
        <p:nvPr/>
      </p:nvGrpSpPr>
      <p:grpSpPr>
        <a:xfrm>
          <a:off x="0" y="0"/>
          <a:ext cx="0" cy="0"/>
          <a:chOff x="0" y="0"/>
          <a:chExt cx="0" cy="0"/>
        </a:xfrm>
      </p:grpSpPr>
      <p:sp>
        <p:nvSpPr>
          <p:cNvPr id="16" name="object 5">
            <a:extLst>
              <a:ext uri="{FF2B5EF4-FFF2-40B4-BE49-F238E27FC236}">
                <a16:creationId xmlns:a16="http://schemas.microsoft.com/office/drawing/2014/main" id="{B8C46041-1AAF-C414-7D7D-DEBCD0C95516}"/>
              </a:ext>
            </a:extLst>
          </p:cNvPr>
          <p:cNvSpPr txBox="1"/>
          <p:nvPr/>
        </p:nvSpPr>
        <p:spPr>
          <a:xfrm>
            <a:off x="507285" y="1224984"/>
            <a:ext cx="10573667" cy="3706143"/>
          </a:xfrm>
          <a:prstGeom prst="rect">
            <a:avLst/>
          </a:prstGeom>
        </p:spPr>
        <p:txBody>
          <a:bodyPr vert="horz" wrap="square" lIns="0" tIns="12700" rIns="0" bIns="0" rtlCol="0">
            <a:spAutoFit/>
          </a:bodyPr>
          <a:lstStyle/>
          <a:p>
            <a:r>
              <a:rPr lang="en-US" sz="2000" b="1" dirty="0">
                <a:solidFill>
                  <a:srgbClr val="0066CC"/>
                </a:solidFill>
                <a:latin typeface="Times New Roman" panose="02020603050405020304" pitchFamily="18" charset="0"/>
                <a:cs typeface="Times New Roman" panose="02020603050405020304" pitchFamily="18" charset="0"/>
              </a:rPr>
              <a:t>Use print for:</a:t>
            </a:r>
          </a:p>
          <a:p>
            <a:endParaRPr lang="en-US" sz="2000" b="1" dirty="0">
              <a:solidFill>
                <a:srgbClr val="0066CC"/>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Quick, temporary debugging during active development.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Simple, interactive user output in small scripts or command-line tools.</a:t>
            </a:r>
          </a:p>
          <a:p>
            <a:endParaRPr lang="en-US" sz="2000" dirty="0">
              <a:latin typeface="Times New Roman" panose="02020603050405020304" pitchFamily="18" charset="0"/>
              <a:cs typeface="Times New Roman" panose="02020603050405020304" pitchFamily="18" charset="0"/>
            </a:endParaRPr>
          </a:p>
          <a:p>
            <a:r>
              <a:rPr lang="en-US" sz="2000" b="1" dirty="0">
                <a:solidFill>
                  <a:srgbClr val="0066CC"/>
                </a:solidFill>
                <a:latin typeface="Times New Roman" panose="02020603050405020304" pitchFamily="18" charset="0"/>
                <a:cs typeface="Times New Roman" panose="02020603050405020304" pitchFamily="18" charset="0"/>
              </a:rPr>
              <a:t>Use Logging for:</a:t>
            </a:r>
          </a:p>
          <a:p>
            <a:endParaRPr lang="en-US" sz="2000" dirty="0">
              <a:solidFill>
                <a:srgbClr val="0066CC"/>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Any code intended for production use, regardless of size.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Applications requiring detailed event tracking, error reporting, and performance monitoring.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Systems where log data needs to be analyzed, stored persistently, or routed to different destinations.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a structured and configurable approach to output is required for maintainability and scalability.</a:t>
            </a:r>
          </a:p>
        </p:txBody>
      </p:sp>
      <p:sp>
        <p:nvSpPr>
          <p:cNvPr id="4" name="Title 1">
            <a:extLst>
              <a:ext uri="{FF2B5EF4-FFF2-40B4-BE49-F238E27FC236}">
                <a16:creationId xmlns:a16="http://schemas.microsoft.com/office/drawing/2014/main" id="{4AAD6BB3-D7CB-CF9C-77CF-B05D675460F1}"/>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When to Use Which</a:t>
            </a:r>
          </a:p>
        </p:txBody>
      </p:sp>
    </p:spTree>
    <p:extLst>
      <p:ext uri="{BB962C8B-B14F-4D97-AF65-F5344CB8AC3E}">
        <p14:creationId xmlns:p14="http://schemas.microsoft.com/office/powerpoint/2010/main" val="24352762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F1C05-DB66-F912-9FAF-C39B2AFF933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A203D06-BB77-905A-95A2-D5C2E30B68F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Print vs Logging</a:t>
            </a:r>
          </a:p>
        </p:txBody>
      </p:sp>
      <p:graphicFrame>
        <p:nvGraphicFramePr>
          <p:cNvPr id="5" name="Table 4">
            <a:extLst>
              <a:ext uri="{FF2B5EF4-FFF2-40B4-BE49-F238E27FC236}">
                <a16:creationId xmlns:a16="http://schemas.microsoft.com/office/drawing/2014/main" id="{D06394CA-2C91-5692-92DE-57499C0D9201}"/>
              </a:ext>
            </a:extLst>
          </p:cNvPr>
          <p:cNvGraphicFramePr>
            <a:graphicFrameLocks noGrp="1"/>
          </p:cNvGraphicFramePr>
          <p:nvPr/>
        </p:nvGraphicFramePr>
        <p:xfrm>
          <a:off x="838200" y="1672344"/>
          <a:ext cx="10515600" cy="3498173"/>
        </p:xfrm>
        <a:graphic>
          <a:graphicData uri="http://schemas.openxmlformats.org/drawingml/2006/table">
            <a:tbl>
              <a:tblPr/>
              <a:tblGrid>
                <a:gridCol w="2409305">
                  <a:extLst>
                    <a:ext uri="{9D8B030D-6E8A-4147-A177-3AD203B41FA5}">
                      <a16:colId xmlns:a16="http://schemas.microsoft.com/office/drawing/2014/main" val="830141282"/>
                    </a:ext>
                  </a:extLst>
                </a:gridCol>
                <a:gridCol w="3507971">
                  <a:extLst>
                    <a:ext uri="{9D8B030D-6E8A-4147-A177-3AD203B41FA5}">
                      <a16:colId xmlns:a16="http://schemas.microsoft.com/office/drawing/2014/main" val="4092987038"/>
                    </a:ext>
                  </a:extLst>
                </a:gridCol>
                <a:gridCol w="4598324">
                  <a:extLst>
                    <a:ext uri="{9D8B030D-6E8A-4147-A177-3AD203B41FA5}">
                      <a16:colId xmlns:a16="http://schemas.microsoft.com/office/drawing/2014/main" val="3505555231"/>
                    </a:ext>
                  </a:extLst>
                </a:gridCol>
              </a:tblGrid>
              <a:tr h="450260">
                <a:tc>
                  <a:txBody>
                    <a:bodyPr/>
                    <a:lstStyle/>
                    <a:p>
                      <a:pPr>
                        <a:buNone/>
                      </a:pPr>
                      <a:r>
                        <a:rPr lang="en-IN" sz="2000" b="1" dirty="0">
                          <a:solidFill>
                            <a:srgbClr val="0066CC"/>
                          </a:solidFill>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rgbClr val="0066CC"/>
                          </a:solidFill>
                          <a:latin typeface="Times New Roman" panose="02020603050405020304" pitchFamily="18" charset="0"/>
                          <a:cs typeface="Times New Roman" panose="02020603050405020304" pitchFamily="18" charset="0"/>
                        </a:rPr>
                        <a:t>Print Statements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rgbClr val="0066CC"/>
                          </a:solidFill>
                          <a:latin typeface="Times New Roman" panose="02020603050405020304" pitchFamily="18" charset="0"/>
                          <a:cs typeface="Times New Roman" panose="02020603050405020304" pitchFamily="18" charset="0"/>
                        </a:rPr>
                        <a:t>Logging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093758"/>
                  </a:ext>
                </a:extLst>
              </a:tr>
              <a:tr h="796613">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Quick debugging, temporary checks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Debugging, monitoring, auditing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5791724"/>
                  </a:ext>
                </a:extLst>
              </a:tr>
              <a:tr h="45026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Configurable Levels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 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2000">
                          <a:latin typeface="Times New Roman" panose="02020603050405020304" pitchFamily="18" charset="0"/>
                          <a:cs typeface="Times New Roman" panose="02020603050405020304" pitchFamily="18" charset="0"/>
                        </a:rPr>
                        <a:t>✅ Multiple levels (DEBUG, INFO,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0949827"/>
                  </a:ext>
                </a:extLst>
              </a:tr>
              <a:tr h="45026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 Console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Files, databases, servers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4809712"/>
                  </a:ext>
                </a:extLst>
              </a:tr>
              <a:tr h="45026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 High (suitable for distributed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2830653"/>
                  </a:ext>
                </a:extLst>
              </a:tr>
              <a:tr h="45026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Format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 Plain text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Custom formats (timestamps,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8786624"/>
                  </a:ext>
                </a:extLst>
              </a:tr>
              <a:tr h="45026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Production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Not recommended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 Industry best practice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4943778"/>
                  </a:ext>
                </a:extLst>
              </a:tr>
            </a:tbl>
          </a:graphicData>
        </a:graphic>
      </p:graphicFrame>
    </p:spTree>
    <p:extLst>
      <p:ext uri="{BB962C8B-B14F-4D97-AF65-F5344CB8AC3E}">
        <p14:creationId xmlns:p14="http://schemas.microsoft.com/office/powerpoint/2010/main" val="2789425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78323-8EC4-CEE4-81DC-5BE30336F9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EB6075-37B4-AE88-2A14-442DB5731019}"/>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Examples</a:t>
            </a:r>
          </a:p>
        </p:txBody>
      </p:sp>
      <p:pic>
        <p:nvPicPr>
          <p:cNvPr id="6" name="Picture 5">
            <a:extLst>
              <a:ext uri="{FF2B5EF4-FFF2-40B4-BE49-F238E27FC236}">
                <a16:creationId xmlns:a16="http://schemas.microsoft.com/office/drawing/2014/main" id="{501BE12A-F46D-96EC-B90D-48F34CFF8BA2}"/>
              </a:ext>
            </a:extLst>
          </p:cNvPr>
          <p:cNvPicPr>
            <a:picLocks noChangeAspect="1"/>
          </p:cNvPicPr>
          <p:nvPr/>
        </p:nvPicPr>
        <p:blipFill>
          <a:blip r:embed="rId3"/>
          <a:stretch>
            <a:fillRect/>
          </a:stretch>
        </p:blipFill>
        <p:spPr>
          <a:xfrm>
            <a:off x="523633" y="1633537"/>
            <a:ext cx="5334069" cy="3756726"/>
          </a:xfrm>
          <a:prstGeom prst="rect">
            <a:avLst/>
          </a:prstGeom>
        </p:spPr>
      </p:pic>
      <p:pic>
        <p:nvPicPr>
          <p:cNvPr id="8" name="Picture 7">
            <a:extLst>
              <a:ext uri="{FF2B5EF4-FFF2-40B4-BE49-F238E27FC236}">
                <a16:creationId xmlns:a16="http://schemas.microsoft.com/office/drawing/2014/main" id="{155696F9-8D85-C450-7275-B584E243C71A}"/>
              </a:ext>
            </a:extLst>
          </p:cNvPr>
          <p:cNvPicPr>
            <a:picLocks noChangeAspect="1"/>
          </p:cNvPicPr>
          <p:nvPr/>
        </p:nvPicPr>
        <p:blipFill>
          <a:blip r:embed="rId4"/>
          <a:stretch>
            <a:fillRect/>
          </a:stretch>
        </p:blipFill>
        <p:spPr>
          <a:xfrm>
            <a:off x="6455167" y="1633537"/>
            <a:ext cx="4939365" cy="3762498"/>
          </a:xfrm>
          <a:prstGeom prst="rect">
            <a:avLst/>
          </a:prstGeom>
        </p:spPr>
      </p:pic>
      <p:sp>
        <p:nvSpPr>
          <p:cNvPr id="10" name="TextBox 9">
            <a:extLst>
              <a:ext uri="{FF2B5EF4-FFF2-40B4-BE49-F238E27FC236}">
                <a16:creationId xmlns:a16="http://schemas.microsoft.com/office/drawing/2014/main" id="{9F792AAA-D442-AD4F-C07F-C415323CA49E}"/>
              </a:ext>
            </a:extLst>
          </p:cNvPr>
          <p:cNvSpPr txBox="1"/>
          <p:nvPr/>
        </p:nvSpPr>
        <p:spPr>
          <a:xfrm>
            <a:off x="6455167" y="1092544"/>
            <a:ext cx="4939365"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Java</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F50F15B-5A6F-8312-C5EC-9EAB1E3B83F9}"/>
              </a:ext>
            </a:extLst>
          </p:cNvPr>
          <p:cNvSpPr txBox="1"/>
          <p:nvPr/>
        </p:nvSpPr>
        <p:spPr>
          <a:xfrm>
            <a:off x="523633" y="1092544"/>
            <a:ext cx="5334069"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Python</a:t>
            </a:r>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0FF5DE8-2C37-DEAA-EF1B-EBD3D5CCB27D}"/>
              </a:ext>
            </a:extLst>
          </p:cNvPr>
          <p:cNvSpPr txBox="1"/>
          <p:nvPr/>
        </p:nvSpPr>
        <p:spPr>
          <a:xfrm>
            <a:off x="523633" y="5531146"/>
            <a:ext cx="5334069" cy="584775"/>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Print shows plain text only.</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Logging adds time, severity, and context automatically.</a:t>
            </a:r>
            <a:endParaRPr lang="en-IN" sz="16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BB31C1D-1A05-F0AB-8583-150F84A6FE64}"/>
              </a:ext>
            </a:extLst>
          </p:cNvPr>
          <p:cNvSpPr txBox="1"/>
          <p:nvPr/>
        </p:nvSpPr>
        <p:spPr>
          <a:xfrm>
            <a:off x="6455167" y="5531145"/>
            <a:ext cx="4939365" cy="830997"/>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Print is basic and not configurable.</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Logging provides levels and can be redirected to files/servers.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6637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Project folder structure</a:t>
            </a:r>
          </a:p>
        </p:txBody>
      </p:sp>
    </p:spTree>
    <p:extLst>
      <p:ext uri="{BB962C8B-B14F-4D97-AF65-F5344CB8AC3E}">
        <p14:creationId xmlns:p14="http://schemas.microsoft.com/office/powerpoint/2010/main" val="385864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507286" y="1429795"/>
            <a:ext cx="10573667" cy="1243930"/>
          </a:xfrm>
          <a:prstGeom prst="rect">
            <a:avLst/>
          </a:prstGeom>
        </p:spPr>
        <p:txBody>
          <a:bodyPr vert="horz" wrap="square" lIns="0" tIns="12700" rIns="0" bIns="0" rtlCol="0">
            <a:spAutoFit/>
          </a:bodyPr>
          <a:lstStyle/>
          <a:p>
            <a:pPr>
              <a:defRPr sz="1800"/>
            </a:pPr>
            <a:r>
              <a:rPr lang="en-US" sz="2000" dirty="0">
                <a:latin typeface="Times New Roman" panose="02020603050405020304" pitchFamily="18" charset="0"/>
                <a:cs typeface="Times New Roman" panose="02020603050405020304" pitchFamily="18" charset="0"/>
              </a:rPr>
              <a:t>A project folder structure defines how files and directories are organized in a software project. A clear structure improves code readability, maintainability, and collaboration. It also ensures that developers can easily find, modify, and manage project files and helps maintain consistency across different projects and teams.</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is Project folder structure?</a:t>
            </a:r>
          </a:p>
        </p:txBody>
      </p:sp>
      <p:sp>
        <p:nvSpPr>
          <p:cNvPr id="2" name="Title 1">
            <a:extLst>
              <a:ext uri="{FF2B5EF4-FFF2-40B4-BE49-F238E27FC236}">
                <a16:creationId xmlns:a16="http://schemas.microsoft.com/office/drawing/2014/main" id="{F4B98C0A-D206-BFA4-A1B2-217B185E2422}"/>
              </a:ext>
            </a:extLst>
          </p:cNvPr>
          <p:cNvSpPr txBox="1">
            <a:spLocks/>
          </p:cNvSpPr>
          <p:nvPr/>
        </p:nvSpPr>
        <p:spPr>
          <a:xfrm>
            <a:off x="692174" y="3099648"/>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Importance of a Proper Folder Structure</a:t>
            </a:r>
          </a:p>
        </p:txBody>
      </p:sp>
      <p:sp>
        <p:nvSpPr>
          <p:cNvPr id="3" name="object 5">
            <a:extLst>
              <a:ext uri="{FF2B5EF4-FFF2-40B4-BE49-F238E27FC236}">
                <a16:creationId xmlns:a16="http://schemas.microsoft.com/office/drawing/2014/main" id="{F2A5C08E-1350-B7BD-4936-5A53C5A0B846}"/>
              </a:ext>
            </a:extLst>
          </p:cNvPr>
          <p:cNvSpPr txBox="1"/>
          <p:nvPr/>
        </p:nvSpPr>
        <p:spPr>
          <a:xfrm>
            <a:off x="507286" y="3966059"/>
            <a:ext cx="10573667" cy="1551707"/>
          </a:xfrm>
          <a:prstGeom prst="rect">
            <a:avLst/>
          </a:prstGeom>
        </p:spPr>
        <p:txBody>
          <a:bodyPr vert="horz" wrap="square" lIns="0" tIns="12700" rIns="0" bIns="0" rtlCol="0">
            <a:spAutoFit/>
          </a:bodyPr>
          <a:lstStyle/>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Organization: </a:t>
            </a:r>
            <a:r>
              <a:rPr lang="en-US" sz="2000" dirty="0">
                <a:latin typeface="Times New Roman" panose="02020603050405020304" pitchFamily="18" charset="0"/>
                <a:cs typeface="Times New Roman" panose="02020603050405020304" pitchFamily="18" charset="0"/>
              </a:rPr>
              <a:t>Groups related files together for clarity.</a:t>
            </a:r>
          </a:p>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Scalability: </a:t>
            </a:r>
            <a:r>
              <a:rPr lang="en-US" sz="2000" dirty="0">
                <a:latin typeface="Times New Roman" panose="02020603050405020304" pitchFamily="18" charset="0"/>
                <a:cs typeface="Times New Roman" panose="02020603050405020304" pitchFamily="18" charset="0"/>
              </a:rPr>
              <a:t>Supports adding new modules or features without confusion.</a:t>
            </a:r>
          </a:p>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Collaboration: </a:t>
            </a:r>
            <a:r>
              <a:rPr lang="en-US" sz="2000" dirty="0">
                <a:latin typeface="Times New Roman" panose="02020603050405020304" pitchFamily="18" charset="0"/>
                <a:cs typeface="Times New Roman" panose="02020603050405020304" pitchFamily="18" charset="0"/>
              </a:rPr>
              <a:t>Team members can navigate and understand the project easily.</a:t>
            </a:r>
          </a:p>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Maintainability: </a:t>
            </a:r>
            <a:r>
              <a:rPr lang="en-US" sz="2000" dirty="0">
                <a:latin typeface="Times New Roman" panose="02020603050405020304" pitchFamily="18" charset="0"/>
                <a:cs typeface="Times New Roman" panose="02020603050405020304" pitchFamily="18" charset="0"/>
              </a:rPr>
              <a:t>Simplifies debugging, testing, and updating code.</a:t>
            </a:r>
          </a:p>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Best Practices: </a:t>
            </a:r>
            <a:r>
              <a:rPr lang="en-US" sz="2000" dirty="0">
                <a:latin typeface="Times New Roman" panose="02020603050405020304" pitchFamily="18" charset="0"/>
                <a:cs typeface="Times New Roman" panose="02020603050405020304" pitchFamily="18" charset="0"/>
              </a:rPr>
              <a:t>Encourages adherence to coding standards and version control.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95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E1F1-A5EE-C3C0-0141-88C04481D0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F7A09B4-C42E-A205-F592-E00321738FA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Common Folder Structure in Software Projects</a:t>
            </a:r>
          </a:p>
        </p:txBody>
      </p:sp>
      <p:sp>
        <p:nvSpPr>
          <p:cNvPr id="3" name="object 5">
            <a:extLst>
              <a:ext uri="{FF2B5EF4-FFF2-40B4-BE49-F238E27FC236}">
                <a16:creationId xmlns:a16="http://schemas.microsoft.com/office/drawing/2014/main" id="{9781890D-7BBC-759A-5AD8-7090E43814F8}"/>
              </a:ext>
            </a:extLst>
          </p:cNvPr>
          <p:cNvSpPr txBox="1"/>
          <p:nvPr/>
        </p:nvSpPr>
        <p:spPr>
          <a:xfrm>
            <a:off x="504305" y="1455615"/>
            <a:ext cx="10515688" cy="4112472"/>
          </a:xfrm>
          <a:prstGeom prst="rect">
            <a:avLst/>
          </a:prstGeom>
        </p:spPr>
        <p:txBody>
          <a:bodyPr vert="horz" wrap="square" lIns="0" tIns="12700" rIns="0" bIns="0" rtlCol="0">
            <a:spAutoFit/>
          </a:bodyPr>
          <a:lstStyle/>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src/ – </a:t>
            </a:r>
            <a:r>
              <a:rPr lang="en-US" sz="2000" dirty="0">
                <a:latin typeface="Times New Roman" panose="02020603050405020304" pitchFamily="18" charset="0"/>
                <a:cs typeface="Times New Roman" panose="02020603050405020304" pitchFamily="18" charset="0"/>
              </a:rPr>
              <a:t>Contains source code files.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docs/ – </a:t>
            </a:r>
            <a:r>
              <a:rPr lang="en-US" sz="2000" dirty="0">
                <a:latin typeface="Times New Roman" panose="02020603050405020304" pitchFamily="18" charset="0"/>
                <a:cs typeface="Times New Roman" panose="02020603050405020304" pitchFamily="18" charset="0"/>
              </a:rPr>
              <a:t>Documentation related to the project.</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tests/ – </a:t>
            </a:r>
            <a:r>
              <a:rPr lang="en-US" sz="2000" dirty="0">
                <a:latin typeface="Times New Roman" panose="02020603050405020304" pitchFamily="18" charset="0"/>
                <a:cs typeface="Times New Roman" panose="02020603050405020304" pitchFamily="18" charset="0"/>
              </a:rPr>
              <a:t>Test scripts and unit tests.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assets/ – </a:t>
            </a:r>
            <a:r>
              <a:rPr lang="en-US" sz="2000" dirty="0">
                <a:latin typeface="Times New Roman" panose="02020603050405020304" pitchFamily="18" charset="0"/>
                <a:cs typeface="Times New Roman" panose="02020603050405020304" pitchFamily="18" charset="0"/>
              </a:rPr>
              <a:t>Images, CSS, JavaScript, or other static files.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config/ – </a:t>
            </a:r>
            <a:r>
              <a:rPr lang="en-US" sz="2000" dirty="0">
                <a:latin typeface="Times New Roman" panose="02020603050405020304" pitchFamily="18" charset="0"/>
                <a:cs typeface="Times New Roman" panose="02020603050405020304" pitchFamily="18" charset="0"/>
              </a:rPr>
              <a:t>Configuration files, environment variables, and settings.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lib/ or vendor/ – </a:t>
            </a:r>
            <a:r>
              <a:rPr lang="en-US" sz="2000" dirty="0">
                <a:latin typeface="Times New Roman" panose="02020603050405020304" pitchFamily="18" charset="0"/>
                <a:cs typeface="Times New Roman" panose="02020603050405020304" pitchFamily="18" charset="0"/>
              </a:rPr>
              <a:t>External libraries or dependencies.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build/ or </a:t>
            </a:r>
            <a:r>
              <a:rPr lang="en-US" sz="2000" b="1" dirty="0" err="1">
                <a:solidFill>
                  <a:srgbClr val="0066CC"/>
                </a:solidFill>
                <a:latin typeface="Times New Roman" panose="02020603050405020304" pitchFamily="18" charset="0"/>
                <a:cs typeface="Times New Roman" panose="02020603050405020304" pitchFamily="18" charset="0"/>
              </a:rPr>
              <a:t>dist</a:t>
            </a:r>
            <a:r>
              <a:rPr lang="en-US" sz="2000" b="1" dirty="0">
                <a:solidFill>
                  <a:srgbClr val="0066CC"/>
                </a:solidFill>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Compiled code or production-ready files.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README.md – </a:t>
            </a:r>
            <a:r>
              <a:rPr lang="en-US" sz="2000" dirty="0">
                <a:latin typeface="Times New Roman" panose="02020603050405020304" pitchFamily="18" charset="0"/>
                <a:cs typeface="Times New Roman" panose="02020603050405020304" pitchFamily="18" charset="0"/>
              </a:rPr>
              <a:t>Project overview and instructions.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a:t>
            </a:r>
            <a:r>
              <a:rPr lang="en-US" sz="2000" b="1" dirty="0" err="1">
                <a:solidFill>
                  <a:srgbClr val="0066CC"/>
                </a:solidFill>
                <a:latin typeface="Times New Roman" panose="02020603050405020304" pitchFamily="18" charset="0"/>
                <a:cs typeface="Times New Roman" panose="02020603050405020304" pitchFamily="18" charset="0"/>
              </a:rPr>
              <a:t>gitignore</a:t>
            </a:r>
            <a:r>
              <a:rPr lang="en-US" sz="2000" b="1" dirty="0">
                <a:solidFill>
                  <a:srgbClr val="0066CC"/>
                </a:solidFill>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Specifies files to exclude from version control.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234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E6359-ABFA-167B-84B4-6B3EA522EC1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A2CFBC2-CE45-45D5-F2A5-1C7E97FCF9E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 of Data Science Project Folder Structure</a:t>
            </a:r>
          </a:p>
        </p:txBody>
      </p:sp>
      <p:pic>
        <p:nvPicPr>
          <p:cNvPr id="2050" name="Picture 2" descr="Data Science Project Folder Structure">
            <a:extLst>
              <a:ext uri="{FF2B5EF4-FFF2-40B4-BE49-F238E27FC236}">
                <a16:creationId xmlns:a16="http://schemas.microsoft.com/office/drawing/2014/main" id="{A04CB818-5D0B-9C81-B62E-4867C8A466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8188"/>
          <a:stretch>
            <a:fillRect/>
          </a:stretch>
        </p:blipFill>
        <p:spPr bwMode="auto">
          <a:xfrm>
            <a:off x="3398909" y="1469763"/>
            <a:ext cx="5394181" cy="4326112"/>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2421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E07B9-3D8D-9318-27D0-73E3805F20F6}"/>
            </a:ext>
          </a:extLst>
        </p:cNvPr>
        <p:cNvGrpSpPr/>
        <p:nvPr/>
      </p:nvGrpSpPr>
      <p:grpSpPr>
        <a:xfrm>
          <a:off x="0" y="0"/>
          <a:ext cx="0" cy="0"/>
          <a:chOff x="0" y="0"/>
          <a:chExt cx="0" cy="0"/>
        </a:xfrm>
      </p:grpSpPr>
      <p:sp>
        <p:nvSpPr>
          <p:cNvPr id="16" name="object 5">
            <a:extLst>
              <a:ext uri="{FF2B5EF4-FFF2-40B4-BE49-F238E27FC236}">
                <a16:creationId xmlns:a16="http://schemas.microsoft.com/office/drawing/2014/main" id="{B8C46041-1AAF-C414-7D7D-DEBCD0C95516}"/>
              </a:ext>
            </a:extLst>
          </p:cNvPr>
          <p:cNvSpPr txBox="1"/>
          <p:nvPr/>
        </p:nvSpPr>
        <p:spPr>
          <a:xfrm>
            <a:off x="490659" y="1629537"/>
            <a:ext cx="10573667" cy="272747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Keep related files together and separate different concerns (code, tests, docs).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consistent naming conventions for directories and files.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Avoid deeply nested folders; keep it simple and intuitive.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Include a README and proper documentation for orientation.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Keep configuration and sensitive data separate from source code.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 version control compatibility by excluding unnecessary files.</a:t>
            </a:r>
          </a:p>
        </p:txBody>
      </p:sp>
      <p:sp>
        <p:nvSpPr>
          <p:cNvPr id="4" name="Title 1">
            <a:extLst>
              <a:ext uri="{FF2B5EF4-FFF2-40B4-BE49-F238E27FC236}">
                <a16:creationId xmlns:a16="http://schemas.microsoft.com/office/drawing/2014/main" id="{4AAD6BB3-D7CB-CF9C-77CF-B05D675460F1}"/>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Best Practices for Folder Structure</a:t>
            </a:r>
          </a:p>
        </p:txBody>
      </p:sp>
    </p:spTree>
    <p:extLst>
      <p:ext uri="{BB962C8B-B14F-4D97-AF65-F5344CB8AC3E}">
        <p14:creationId xmlns:p14="http://schemas.microsoft.com/office/powerpoint/2010/main" val="1802825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2982</Words>
  <Application>Microsoft Office PowerPoint</Application>
  <PresentationFormat>Widescreen</PresentationFormat>
  <Paragraphs>348</Paragraphs>
  <Slides>39</Slides>
  <Notes>30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What is Software Engineering?</vt:lpstr>
      <vt:lpstr>What is Software Engineering?</vt:lpstr>
      <vt:lpstr>What is Software Engineering?</vt:lpstr>
      <vt:lpstr>PowerPoint Presentation</vt:lpstr>
      <vt:lpstr>PowerPoint Presentation</vt:lpstr>
      <vt:lpstr>SDLC (Agile, Waterfall, DevOps)</vt:lpstr>
      <vt:lpstr>SDLC Models</vt:lpstr>
      <vt:lpstr>Waterfall Model</vt:lpstr>
      <vt:lpstr>Agile Model</vt:lpstr>
      <vt:lpstr>DevOps Model</vt:lpstr>
      <vt:lpstr>Stages of SDLC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Writing Clean &amp; Maintainable Code</vt:lpstr>
      <vt:lpstr>PowerPoint Presentation</vt:lpstr>
      <vt:lpstr>PowerPoint Presentation</vt:lpstr>
      <vt:lpstr>Common Coding Standards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Renu  Jindal</dc:creator>
  <cp:lastModifiedBy>Renu  Jindal</cp:lastModifiedBy>
  <cp:revision>13</cp:revision>
  <dcterms:created xsi:type="dcterms:W3CDTF">2025-10-13T14:05:48Z</dcterms:created>
  <dcterms:modified xsi:type="dcterms:W3CDTF">2026-01-05T06:20:36Z</dcterms:modified>
</cp:coreProperties>
</file>