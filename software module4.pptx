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4795" r:id="rId2"/>
    <p:sldId id="4775" r:id="rId3"/>
    <p:sldId id="4821" r:id="rId4"/>
    <p:sldId id="4823" r:id="rId5"/>
    <p:sldId id="4822" r:id="rId6"/>
    <p:sldId id="4824" r:id="rId7"/>
    <p:sldId id="4825" r:id="rId8"/>
    <p:sldId id="4826" r:id="rId9"/>
    <p:sldId id="4827" r:id="rId10"/>
    <p:sldId id="4828" r:id="rId11"/>
    <p:sldId id="4829" r:id="rId12"/>
    <p:sldId id="4830" r:id="rId13"/>
    <p:sldId id="4831" r:id="rId14"/>
    <p:sldId id="4832" r:id="rId15"/>
    <p:sldId id="4833" r:id="rId16"/>
    <p:sldId id="4834" r:id="rId17"/>
    <p:sldId id="4835" r:id="rId18"/>
    <p:sldId id="4836" r:id="rId19"/>
    <p:sldId id="4837" r:id="rId20"/>
    <p:sldId id="4838" r:id="rId21"/>
    <p:sldId id="483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21AD2-BF46-4CC7-810B-83ECA931054D}" type="datetimeFigureOut">
              <a:rPr lang="en-IN" smtClean="0"/>
              <a:t>15-10-2025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2DD6D6-5240-4257-862C-9324BEC112D4}" type="slidenum">
              <a:rPr lang="en-IN" smtClean="0"/>
              <a:t>‹#›</a:t>
            </a:fld>
            <a:endParaRPr lang="en-IN"/>
          </a:p>
        </p:txBody>
      </p:sp>
    </p:spTree>
    <p:extLst>
      <p:ext uri="{BB962C8B-B14F-4D97-AF65-F5344CB8AC3E}">
        <p14:creationId xmlns:p14="http://schemas.microsoft.com/office/powerpoint/2010/main" val="871917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2</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3</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DDE-2C01-B255-774F-295EE52D1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9C55-3DB2-0FCE-3735-4B1C98226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69F6-9D64-2B9C-F95B-EA1150141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D4138-30B7-45C8-9370-835DCDD05616}"/>
              </a:ext>
            </a:extLst>
          </p:cNvPr>
          <p:cNvSpPr>
            <a:spLocks noGrp="1"/>
          </p:cNvSpPr>
          <p:nvPr>
            <p:ph type="sldNum" sz="quarter" idx="5"/>
          </p:nvPr>
        </p:nvSpPr>
        <p:spPr/>
        <p:txBody>
          <a:bodyPr/>
          <a:lstStyle/>
          <a:p>
            <a:fld id="{4169D07A-98AC-4408-9A87-677237176D46}" type="slidenum">
              <a:rPr lang="en-GB" smtClean="0"/>
              <a:t>4</a:t>
            </a:fld>
            <a:endParaRPr lang="en-GB" dirty="0"/>
          </a:p>
        </p:txBody>
      </p:sp>
    </p:spTree>
    <p:extLst>
      <p:ext uri="{BB962C8B-B14F-4D97-AF65-F5344CB8AC3E}">
        <p14:creationId xmlns:p14="http://schemas.microsoft.com/office/powerpoint/2010/main" val="17885965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FD4D9-A7E1-854B-BFDC-E0264A767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2C530-5DB6-D4D7-BF8F-8A10D24DA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41A9CF-BC2C-40FD-54CF-A46F957B7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92DF86-C70D-2F42-356A-316601D378A8}"/>
              </a:ext>
            </a:extLst>
          </p:cNvPr>
          <p:cNvSpPr>
            <a:spLocks noGrp="1"/>
          </p:cNvSpPr>
          <p:nvPr>
            <p:ph type="sldNum" sz="quarter" idx="5"/>
          </p:nvPr>
        </p:nvSpPr>
        <p:spPr/>
        <p:txBody>
          <a:bodyPr/>
          <a:lstStyle/>
          <a:p>
            <a:fld id="{4169D07A-98AC-4408-9A87-677237176D46}" type="slidenum">
              <a:rPr lang="en-GB" smtClean="0"/>
              <a:t>5</a:t>
            </a:fld>
            <a:endParaRPr lang="en-GB" dirty="0"/>
          </a:p>
        </p:txBody>
      </p:sp>
    </p:spTree>
    <p:extLst>
      <p:ext uri="{BB962C8B-B14F-4D97-AF65-F5344CB8AC3E}">
        <p14:creationId xmlns:p14="http://schemas.microsoft.com/office/powerpoint/2010/main" val="12568926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033C-0A41-FB49-94B0-AE3D20561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9E076-7FE7-3CD4-0922-27ABF445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15E74-0560-1A4A-9B3E-2B340DC44E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7D063E-59D6-99A6-F6A9-A5C2F07732E2}"/>
              </a:ext>
            </a:extLst>
          </p:cNvPr>
          <p:cNvSpPr>
            <a:spLocks noGrp="1"/>
          </p:cNvSpPr>
          <p:nvPr>
            <p:ph type="sldNum" sz="quarter" idx="5"/>
          </p:nvPr>
        </p:nvSpPr>
        <p:spPr/>
        <p:txBody>
          <a:bodyPr/>
          <a:lstStyle/>
          <a:p>
            <a:fld id="{4169D07A-98AC-4408-9A87-677237176D46}" type="slidenum">
              <a:rPr lang="en-GB" smtClean="0"/>
              <a:t>6</a:t>
            </a:fld>
            <a:endParaRPr lang="en-GB" dirty="0"/>
          </a:p>
        </p:txBody>
      </p:sp>
    </p:spTree>
    <p:extLst>
      <p:ext uri="{BB962C8B-B14F-4D97-AF65-F5344CB8AC3E}">
        <p14:creationId xmlns:p14="http://schemas.microsoft.com/office/powerpoint/2010/main" val="2145049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8</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A411-3E19-0EE0-CE5E-82E15FC20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3259A-8C37-4804-94AE-C29B81F860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AB10E7-E71B-6680-D51C-AD636DA7B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ECC9FF-CE67-BD55-81A7-96FA1A870D1A}"/>
              </a:ext>
            </a:extLst>
          </p:cNvPr>
          <p:cNvSpPr>
            <a:spLocks noGrp="1"/>
          </p:cNvSpPr>
          <p:nvPr>
            <p:ph type="sldNum" sz="quarter" idx="5"/>
          </p:nvPr>
        </p:nvSpPr>
        <p:spPr/>
        <p:txBody>
          <a:bodyPr/>
          <a:lstStyle/>
          <a:p>
            <a:fld id="{4169D07A-98AC-4408-9A87-677237176D46}" type="slidenum">
              <a:rPr lang="en-GB" smtClean="0"/>
              <a:t>9</a:t>
            </a:fld>
            <a:endParaRPr lang="en-GB" dirty="0"/>
          </a:p>
        </p:txBody>
      </p:sp>
    </p:spTree>
    <p:extLst>
      <p:ext uri="{BB962C8B-B14F-4D97-AF65-F5344CB8AC3E}">
        <p14:creationId xmlns:p14="http://schemas.microsoft.com/office/powerpoint/2010/main" val="8221192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3C4E-C07B-B406-D3FB-DF0800C2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6DC42-A92A-F5CE-301D-FE2287219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6C765-2C68-B932-5584-71F57EF97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6CC3E-C986-0A99-355D-469C4979DA81}"/>
              </a:ext>
            </a:extLst>
          </p:cNvPr>
          <p:cNvSpPr>
            <a:spLocks noGrp="1"/>
          </p:cNvSpPr>
          <p:nvPr>
            <p:ph type="sldNum" sz="quarter" idx="5"/>
          </p:nvPr>
        </p:nvSpPr>
        <p:spPr/>
        <p:txBody>
          <a:bodyPr/>
          <a:lstStyle/>
          <a:p>
            <a:fld id="{4169D07A-98AC-4408-9A87-677237176D46}" type="slidenum">
              <a:rPr lang="en-GB" smtClean="0"/>
              <a:t>10</a:t>
            </a:fld>
            <a:endParaRPr lang="en-GB" dirty="0"/>
          </a:p>
        </p:txBody>
      </p:sp>
    </p:spTree>
    <p:extLst>
      <p:ext uri="{BB962C8B-B14F-4D97-AF65-F5344CB8AC3E}">
        <p14:creationId xmlns:p14="http://schemas.microsoft.com/office/powerpoint/2010/main" val="1784968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11</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DDE-2C01-B255-774F-295EE52D1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9C55-3DB2-0FCE-3735-4B1C98226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69F6-9D64-2B9C-F95B-EA1150141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D4138-30B7-45C8-9370-835DCDD05616}"/>
              </a:ext>
            </a:extLst>
          </p:cNvPr>
          <p:cNvSpPr>
            <a:spLocks noGrp="1"/>
          </p:cNvSpPr>
          <p:nvPr>
            <p:ph type="sldNum" sz="quarter" idx="5"/>
          </p:nvPr>
        </p:nvSpPr>
        <p:spPr/>
        <p:txBody>
          <a:bodyPr/>
          <a:lstStyle/>
          <a:p>
            <a:fld id="{4169D07A-98AC-4408-9A87-677237176D46}" type="slidenum">
              <a:rPr lang="en-GB" smtClean="0"/>
              <a:t>12</a:t>
            </a:fld>
            <a:endParaRPr lang="en-GB" dirty="0"/>
          </a:p>
        </p:txBody>
      </p:sp>
    </p:spTree>
    <p:extLst>
      <p:ext uri="{BB962C8B-B14F-4D97-AF65-F5344CB8AC3E}">
        <p14:creationId xmlns:p14="http://schemas.microsoft.com/office/powerpoint/2010/main" val="1788596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B033C-0A41-FB49-94B0-AE3D205614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9E076-7FE7-3CD4-0922-27ABF445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A15E74-0560-1A4A-9B3E-2B340DC44E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7D063E-59D6-99A6-F6A9-A5C2F07732E2}"/>
              </a:ext>
            </a:extLst>
          </p:cNvPr>
          <p:cNvSpPr>
            <a:spLocks noGrp="1"/>
          </p:cNvSpPr>
          <p:nvPr>
            <p:ph type="sldNum" sz="quarter" idx="5"/>
          </p:nvPr>
        </p:nvSpPr>
        <p:spPr/>
        <p:txBody>
          <a:bodyPr/>
          <a:lstStyle/>
          <a:p>
            <a:fld id="{4169D07A-98AC-4408-9A87-677237176D46}" type="slidenum">
              <a:rPr lang="en-GB" smtClean="0"/>
              <a:t>13</a:t>
            </a:fld>
            <a:endParaRPr lang="en-GB" dirty="0"/>
          </a:p>
        </p:txBody>
      </p:sp>
    </p:spTree>
    <p:extLst>
      <p:ext uri="{BB962C8B-B14F-4D97-AF65-F5344CB8AC3E}">
        <p14:creationId xmlns:p14="http://schemas.microsoft.com/office/powerpoint/2010/main" val="2145049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287E-0AAB-1298-564C-D4BCBB9EA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0EB9B-CBF8-BDD4-0100-4BEE4C2A1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1F445-CDBF-9A41-5F97-DD28767332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59ADE4-9DDD-DA24-06E1-1A6809311F36}"/>
              </a:ext>
            </a:extLst>
          </p:cNvPr>
          <p:cNvSpPr>
            <a:spLocks noGrp="1"/>
          </p:cNvSpPr>
          <p:nvPr>
            <p:ph type="sldNum" sz="quarter" idx="5"/>
          </p:nvPr>
        </p:nvSpPr>
        <p:spPr/>
        <p:txBody>
          <a:bodyPr/>
          <a:lstStyle/>
          <a:p>
            <a:fld id="{4169D07A-98AC-4408-9A87-677237176D46}" type="slidenum">
              <a:rPr lang="en-GB" smtClean="0"/>
              <a:t>14</a:t>
            </a:fld>
            <a:endParaRPr lang="en-GB" dirty="0"/>
          </a:p>
        </p:txBody>
      </p:sp>
    </p:spTree>
    <p:extLst>
      <p:ext uri="{BB962C8B-B14F-4D97-AF65-F5344CB8AC3E}">
        <p14:creationId xmlns:p14="http://schemas.microsoft.com/office/powerpoint/2010/main" val="5213528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9D07A-98AC-4408-9A87-677237176D46}" type="slidenum">
              <a:rPr lang="en-GB" smtClean="0"/>
              <a:t>16</a:t>
            </a:fld>
            <a:endParaRPr lang="en-GB" dirty="0"/>
          </a:p>
        </p:txBody>
      </p:sp>
    </p:spTree>
    <p:extLst>
      <p:ext uri="{BB962C8B-B14F-4D97-AF65-F5344CB8AC3E}">
        <p14:creationId xmlns:p14="http://schemas.microsoft.com/office/powerpoint/2010/main" val="40278385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03FE-E385-130F-10FD-2611753A3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4406A5-4879-F711-5DC4-E5B557F8C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7C280-5607-C444-809E-FC31AD5C2C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020CE5-49E5-118F-7E14-2B2111F5348A}"/>
              </a:ext>
            </a:extLst>
          </p:cNvPr>
          <p:cNvSpPr>
            <a:spLocks noGrp="1"/>
          </p:cNvSpPr>
          <p:nvPr>
            <p:ph type="sldNum" sz="quarter" idx="5"/>
          </p:nvPr>
        </p:nvSpPr>
        <p:spPr/>
        <p:txBody>
          <a:bodyPr/>
          <a:lstStyle/>
          <a:p>
            <a:fld id="{4169D07A-98AC-4408-9A87-677237176D46}" type="slidenum">
              <a:rPr lang="en-GB" smtClean="0"/>
              <a:t>17</a:t>
            </a:fld>
            <a:endParaRPr lang="en-GB" dirty="0"/>
          </a:p>
        </p:txBody>
      </p:sp>
    </p:spTree>
    <p:extLst>
      <p:ext uri="{BB962C8B-B14F-4D97-AF65-F5344CB8AC3E}">
        <p14:creationId xmlns:p14="http://schemas.microsoft.com/office/powerpoint/2010/main" val="3045697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23C4E-C07B-B406-D3FB-DF0800C2E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6DC42-A92A-F5CE-301D-FE22872194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06C765-2C68-B932-5584-71F57EF97F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6CC3E-C986-0A99-355D-469C4979DA81}"/>
              </a:ext>
            </a:extLst>
          </p:cNvPr>
          <p:cNvSpPr>
            <a:spLocks noGrp="1"/>
          </p:cNvSpPr>
          <p:nvPr>
            <p:ph type="sldNum" sz="quarter" idx="5"/>
          </p:nvPr>
        </p:nvSpPr>
        <p:spPr/>
        <p:txBody>
          <a:bodyPr/>
          <a:lstStyle/>
          <a:p>
            <a:fld id="{4169D07A-98AC-4408-9A87-677237176D46}" type="slidenum">
              <a:rPr lang="en-GB" smtClean="0"/>
              <a:t>18</a:t>
            </a:fld>
            <a:endParaRPr lang="en-GB" dirty="0"/>
          </a:p>
        </p:txBody>
      </p:sp>
    </p:spTree>
    <p:extLst>
      <p:ext uri="{BB962C8B-B14F-4D97-AF65-F5344CB8AC3E}">
        <p14:creationId xmlns:p14="http://schemas.microsoft.com/office/powerpoint/2010/main" val="1784968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15CF0-9BFE-5A86-992B-E44321B13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F3F42F-84B4-8BF2-2256-7D6469812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2788E7-1983-723B-1FEC-6385501432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6D7033-0FE1-4140-AAF4-D4126F44A668}"/>
              </a:ext>
            </a:extLst>
          </p:cNvPr>
          <p:cNvSpPr>
            <a:spLocks noGrp="1"/>
          </p:cNvSpPr>
          <p:nvPr>
            <p:ph type="sldNum" sz="quarter" idx="5"/>
          </p:nvPr>
        </p:nvSpPr>
        <p:spPr/>
        <p:txBody>
          <a:bodyPr/>
          <a:lstStyle/>
          <a:p>
            <a:fld id="{4169D07A-98AC-4408-9A87-677237176D46}" type="slidenum">
              <a:rPr lang="en-GB" smtClean="0"/>
              <a:t>19</a:t>
            </a:fld>
            <a:endParaRPr lang="en-GB" dirty="0"/>
          </a:p>
        </p:txBody>
      </p:sp>
    </p:spTree>
    <p:extLst>
      <p:ext uri="{BB962C8B-B14F-4D97-AF65-F5344CB8AC3E}">
        <p14:creationId xmlns:p14="http://schemas.microsoft.com/office/powerpoint/2010/main" val="35813716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D7DDE-2C01-B255-774F-295EE52D1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779C55-3DB2-0FCE-3735-4B1C98226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2C69F6-9D64-2B9C-F95B-EA11501415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D4138-30B7-45C8-9370-835DCDD05616}"/>
              </a:ext>
            </a:extLst>
          </p:cNvPr>
          <p:cNvSpPr>
            <a:spLocks noGrp="1"/>
          </p:cNvSpPr>
          <p:nvPr>
            <p:ph type="sldNum" sz="quarter" idx="5"/>
          </p:nvPr>
        </p:nvSpPr>
        <p:spPr/>
        <p:txBody>
          <a:bodyPr/>
          <a:lstStyle/>
          <a:p>
            <a:fld id="{4169D07A-98AC-4408-9A87-677237176D46}" type="slidenum">
              <a:rPr lang="en-GB" smtClean="0"/>
              <a:t>20</a:t>
            </a:fld>
            <a:endParaRPr lang="en-GB" dirty="0"/>
          </a:p>
        </p:txBody>
      </p:sp>
    </p:spTree>
    <p:extLst>
      <p:ext uri="{BB962C8B-B14F-4D97-AF65-F5344CB8AC3E}">
        <p14:creationId xmlns:p14="http://schemas.microsoft.com/office/powerpoint/2010/main" val="1788596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8287E-0AAB-1298-564C-D4BCBB9EA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80EB9B-CBF8-BDD4-0100-4BEE4C2A15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A1F445-CDBF-9A41-5F97-DD28767332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59ADE4-9DDD-DA24-06E1-1A6809311F36}"/>
              </a:ext>
            </a:extLst>
          </p:cNvPr>
          <p:cNvSpPr>
            <a:spLocks noGrp="1"/>
          </p:cNvSpPr>
          <p:nvPr>
            <p:ph type="sldNum" sz="quarter" idx="5"/>
          </p:nvPr>
        </p:nvSpPr>
        <p:spPr/>
        <p:txBody>
          <a:bodyPr/>
          <a:lstStyle/>
          <a:p>
            <a:fld id="{4169D07A-98AC-4408-9A87-677237176D46}" type="slidenum">
              <a:rPr lang="en-GB" smtClean="0"/>
              <a:t>21</a:t>
            </a:fld>
            <a:endParaRPr lang="en-GB" dirty="0"/>
          </a:p>
        </p:txBody>
      </p:sp>
    </p:spTree>
    <p:extLst>
      <p:ext uri="{BB962C8B-B14F-4D97-AF65-F5344CB8AC3E}">
        <p14:creationId xmlns:p14="http://schemas.microsoft.com/office/powerpoint/2010/main" val="521352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F29E7-1F76-AED1-C1C9-B07E8A3268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18ADE1-A9B9-D0F5-C37B-9548330D93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9145E1-FB15-D089-5022-48C02BDEC6B6}"/>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B57DE1A5-469A-9C7A-7ECF-58DF4E8E3A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1E8069-8180-0A13-7AAB-21C7AA0E4F09}"/>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3187227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C3F0-F1C4-0A8C-0485-071730A823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FEF9DB5-A42D-2A91-099C-3D17D9AD73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027E88-D1E7-22F3-5B9C-33FD9124C463}"/>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3982BFCD-5BC5-756C-4598-E83966CBE9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7713B4-F510-B0B7-EED8-6A4C864E38D6}"/>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3285502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52003-C498-12C6-9B55-2DAB6A53C9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A63112-AB93-AEB7-34BB-5C20607812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AAD474-2502-EC46-2286-B256B4F3B04B}"/>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C9068393-B886-FB0F-EE24-66F1DD1912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A691DB-3FF4-D92C-E822-C581D1C8B985}"/>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1264136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FA8-0345-4F62-52B4-F4515F4A1E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9FD010-ACF6-990D-3630-E8E8A36646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405264-903C-FD97-804E-5B0B94C9AD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35B0A0-B45D-EDCF-862B-E4E52C0882EC}"/>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6" name="Footer Placeholder 5">
            <a:extLst>
              <a:ext uri="{FF2B5EF4-FFF2-40B4-BE49-F238E27FC236}">
                <a16:creationId xmlns:a16="http://schemas.microsoft.com/office/drawing/2014/main" id="{7D713277-9DEC-7E71-4B5B-8CD16D1AB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1A7455-A928-83EE-C07A-83C341C806BA}"/>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1767918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CDAD9-6DD1-BD93-7849-DEA2CC4231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F20AA4-4D43-7796-37BF-A861D8044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19A9DA-B272-9471-228A-A316225E76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E0D43F6-D170-3C24-EBE7-2A02DC2E1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E6E39-A5D4-B5CA-2193-1D6960B50DE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37492C-F234-EDE1-7D5B-7824009C3CE7}"/>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8" name="Footer Placeholder 7">
            <a:extLst>
              <a:ext uri="{FF2B5EF4-FFF2-40B4-BE49-F238E27FC236}">
                <a16:creationId xmlns:a16="http://schemas.microsoft.com/office/drawing/2014/main" id="{BC507244-708E-7CFB-E7DB-98E785A62E5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8AD6DA-22A3-A3A3-29BA-3FF67DE2F983}"/>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1260108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EC1A-9CF5-9495-0EC3-72D32DC3D53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F47714-DCF5-9C83-4C22-8B94D4EE30A2}"/>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4" name="Footer Placeholder 3">
            <a:extLst>
              <a:ext uri="{FF2B5EF4-FFF2-40B4-BE49-F238E27FC236}">
                <a16:creationId xmlns:a16="http://schemas.microsoft.com/office/drawing/2014/main" id="{ACC9F3D0-5507-D350-63C0-08341E42E3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1AC9D9-9DB5-7C10-074C-AA29B49CDB23}"/>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1117051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21EBAC-ABC1-C9F7-BFBE-6A38260CDF34}"/>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3" name="Footer Placeholder 2">
            <a:extLst>
              <a:ext uri="{FF2B5EF4-FFF2-40B4-BE49-F238E27FC236}">
                <a16:creationId xmlns:a16="http://schemas.microsoft.com/office/drawing/2014/main" id="{74571F4F-AEE4-4895-C13E-589F2854AE3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0838828-A3AB-39A2-B01B-530C1EBF7CC5}"/>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39644373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DC26-0392-1F3D-3D49-3C12EC892F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DAA0F54-AD5D-9052-8EB1-D0A1254473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062B7C-DF2F-4C97-3127-03E0BB2CD8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24B5CC-7638-AA18-AD07-CF1C555B3965}"/>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6" name="Footer Placeholder 5">
            <a:extLst>
              <a:ext uri="{FF2B5EF4-FFF2-40B4-BE49-F238E27FC236}">
                <a16:creationId xmlns:a16="http://schemas.microsoft.com/office/drawing/2014/main" id="{3588F48F-9844-50D6-EDBE-228E9A79D3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09E98A-71DC-49D2-EDC1-6FD98C46C2C7}"/>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3294486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33F27-B385-3C34-354A-8B6E4C6C60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7A6E65-2990-286F-6E7D-366A2532B3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126F9A7-1730-A5D8-9848-17FBBEE21F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A6E28-21C9-1913-CB7E-EF8E0140F304}"/>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6" name="Footer Placeholder 5">
            <a:extLst>
              <a:ext uri="{FF2B5EF4-FFF2-40B4-BE49-F238E27FC236}">
                <a16:creationId xmlns:a16="http://schemas.microsoft.com/office/drawing/2014/main" id="{826680DD-BBD1-80D5-20CE-1027E06BD6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613CC5-8075-C520-32B3-07AAC09E25C0}"/>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816236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F70CA-D3B5-6634-9C08-086AD0EF01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905E90-69FD-A539-C2CE-B1F61C0A1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53AE709-C5E3-5D91-1324-D2F63D409208}"/>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AF95007B-DE28-A243-93C6-4038712122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FC9B1E-5C4B-EE22-780B-9324A88FC614}"/>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85308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05AB9-C5A2-61CB-5206-F4EA1528C7A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A4A79D-3C63-162A-A8DF-48FB9596FE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218F4B-4A64-D2B3-E0D3-0EA15801091C}"/>
              </a:ext>
            </a:extLst>
          </p:cNvPr>
          <p:cNvSpPr>
            <a:spLocks noGrp="1"/>
          </p:cNvSpPr>
          <p:nvPr>
            <p:ph type="dt" sz="half" idx="10"/>
          </p:nvPr>
        </p:nvSpPr>
        <p:spPr/>
        <p:txBody>
          <a:body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929EA3AD-6832-55B2-D96B-43DFA98D88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91D445-F25D-7D92-961F-98482A93FFE6}"/>
              </a:ext>
            </a:extLst>
          </p:cNvPr>
          <p:cNvSpPr>
            <a:spLocks noGrp="1"/>
          </p:cNvSpPr>
          <p:nvPr>
            <p:ph type="sldNum" sz="quarter" idx="12"/>
          </p:nvPr>
        </p:nvSpPr>
        <p:spPr/>
        <p:txBody>
          <a:bodyPr/>
          <a:lstStyle/>
          <a:p>
            <a:fld id="{09C5D671-C46A-4F55-BD40-DAE041F4F3BC}" type="slidenum">
              <a:rPr lang="en-IN" smtClean="0"/>
              <a:t>‹#›</a:t>
            </a:fld>
            <a:endParaRPr lang="en-IN"/>
          </a:p>
        </p:txBody>
      </p:sp>
    </p:spTree>
    <p:extLst>
      <p:ext uri="{BB962C8B-B14F-4D97-AF65-F5344CB8AC3E}">
        <p14:creationId xmlns:p14="http://schemas.microsoft.com/office/powerpoint/2010/main" val="1732059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age - Yellow - Client Logo">
    <p:bg>
      <p:bgPr>
        <a:solidFill>
          <a:schemeClr val="bg1"/>
        </a:solidFill>
        <a:effectLst/>
      </p:bgPr>
    </p:bg>
    <p:spTree>
      <p:nvGrpSpPr>
        <p:cNvPr id="1" name=""/>
        <p:cNvGrpSpPr/>
        <p:nvPr/>
      </p:nvGrpSpPr>
      <p:grpSpPr>
        <a:xfrm>
          <a:off x="0" y="0"/>
          <a:ext cx="0" cy="0"/>
          <a:chOff x="0" y="0"/>
          <a:chExt cx="0" cy="0"/>
        </a:xfrm>
      </p:grpSpPr>
      <p:pic>
        <p:nvPicPr>
          <p:cNvPr id="4" name="Picture 3" descr="A blue background with curved lines&#10;&#10;AI-generated content may be incorrect.">
            <a:extLst>
              <a:ext uri="{FF2B5EF4-FFF2-40B4-BE49-F238E27FC236}">
                <a16:creationId xmlns:a16="http://schemas.microsoft.com/office/drawing/2014/main" id="{B73DC436-C430-1491-E846-E1D25FC0680F}"/>
              </a:ext>
            </a:extLst>
          </p:cNvPr>
          <p:cNvPicPr>
            <a:picLocks noChangeAspect="1"/>
          </p:cNvPicPr>
          <p:nvPr userDrawn="1"/>
        </p:nvPicPr>
        <p:blipFill>
          <a:blip r:embed="rId2"/>
          <a:stretch>
            <a:fillRect/>
          </a:stretch>
        </p:blipFill>
        <p:spPr>
          <a:xfrm>
            <a:off x="1" y="0"/>
            <a:ext cx="12226183" cy="6858000"/>
          </a:xfrm>
          <a:prstGeom prst="rect">
            <a:avLst/>
          </a:prstGeom>
        </p:spPr>
      </p:pic>
      <p:sp>
        <p:nvSpPr>
          <p:cNvPr id="18" name="Text Placeholder 17"/>
          <p:cNvSpPr>
            <a:spLocks noGrp="1"/>
          </p:cNvSpPr>
          <p:nvPr>
            <p:ph type="body" sz="quarter" idx="11" hasCustomPrompt="1"/>
          </p:nvPr>
        </p:nvSpPr>
        <p:spPr>
          <a:xfrm>
            <a:off x="3630086" y="3705443"/>
            <a:ext cx="4931833" cy="270988"/>
          </a:xfrm>
          <a:prstGeom prst="rect">
            <a:avLst/>
          </a:prstGeom>
        </p:spPr>
        <p:txBody>
          <a:bodyPr lIns="0" tIns="0" rIns="0" bIns="0"/>
          <a:lstStyle>
            <a:lvl1pPr marL="0" indent="0" algn="ctr">
              <a:lnSpc>
                <a:spcPct val="100000"/>
              </a:lnSpc>
              <a:buNone/>
              <a:defRPr sz="1333" b="0" i="0" spc="267" baseline="0">
                <a:solidFill>
                  <a:schemeClr val="tx1"/>
                </a:solidFill>
                <a:latin typeface="Arial" charset="0"/>
                <a:ea typeface="Arial" charset="0"/>
                <a:cs typeface="Arial" charset="0"/>
              </a:defRPr>
            </a:lvl1pPr>
            <a:lvl2pPr marL="37251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2pPr>
            <a:lvl3pPr marL="755612"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3pPr>
            <a:lvl4pPr marL="1130244"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4pPr>
            <a:lvl5pPr marL="1443495" indent="0">
              <a:lnSpc>
                <a:spcPct val="100000"/>
              </a:lnSpc>
              <a:buNone/>
              <a:defRPr sz="800">
                <a:solidFill>
                  <a:srgbClr val="728595"/>
                </a:solidFill>
                <a:latin typeface="Roboto Light" panose="02000000000000000000" pitchFamily="2" charset="0"/>
                <a:ea typeface="Roboto Light" panose="02000000000000000000" pitchFamily="2" charset="0"/>
                <a:cs typeface="Roboto Light" panose="02000000000000000000" pitchFamily="2" charset="0"/>
              </a:defRPr>
            </a:lvl5pPr>
          </a:lstStyle>
          <a:p>
            <a:pPr lvl="0"/>
            <a:r>
              <a:rPr lang="en-US" dirty="0"/>
              <a:t>PRESENTATION DATE</a:t>
            </a:r>
          </a:p>
        </p:txBody>
      </p:sp>
      <p:cxnSp>
        <p:nvCxnSpPr>
          <p:cNvPr id="10" name="Straight Connector 9"/>
          <p:cNvCxnSpPr/>
          <p:nvPr userDrawn="1"/>
        </p:nvCxnSpPr>
        <p:spPr>
          <a:xfrm>
            <a:off x="-34183" y="8110409"/>
            <a:ext cx="12260365" cy="0"/>
          </a:xfrm>
          <a:prstGeom prst="line">
            <a:avLst/>
          </a:prstGeom>
          <a:ln w="6350" cap="flat" cmpd="sng" algn="ctr">
            <a:solidFill>
              <a:schemeClr val="accent5">
                <a:alpha val="1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 name="Title 2"/>
          <p:cNvSpPr>
            <a:spLocks noGrp="1"/>
          </p:cNvSpPr>
          <p:nvPr>
            <p:ph type="title" hasCustomPrompt="1"/>
          </p:nvPr>
        </p:nvSpPr>
        <p:spPr>
          <a:xfrm>
            <a:off x="765173" y="2215092"/>
            <a:ext cx="10611576" cy="732869"/>
          </a:xfrm>
          <a:prstGeom prst="rect">
            <a:avLst/>
          </a:prstGeom>
        </p:spPr>
        <p:txBody>
          <a:bodyPr lIns="0" tIns="0" rIns="0" bIns="0" anchor="ctr" anchorCtr="0"/>
          <a:lstStyle>
            <a:lvl1pPr algn="ctr">
              <a:defRPr sz="4800" b="1" i="0">
                <a:solidFill>
                  <a:schemeClr val="bg1"/>
                </a:solidFill>
                <a:latin typeface="Arial" charset="0"/>
                <a:ea typeface="Arial" charset="0"/>
                <a:cs typeface="Arial" charset="0"/>
              </a:defRPr>
            </a:lvl1pPr>
          </a:lstStyle>
          <a:p>
            <a:r>
              <a:rPr lang="en-US" dirty="0"/>
              <a:t>Presentation Title</a:t>
            </a:r>
            <a:endParaRPr lang="en-GB" dirty="0"/>
          </a:p>
        </p:txBody>
      </p:sp>
      <p:sp>
        <p:nvSpPr>
          <p:cNvPr id="6" name="Text Placeholder 5"/>
          <p:cNvSpPr>
            <a:spLocks noGrp="1"/>
          </p:cNvSpPr>
          <p:nvPr>
            <p:ph type="body" sz="quarter" idx="10" hasCustomPrompt="1"/>
          </p:nvPr>
        </p:nvSpPr>
        <p:spPr>
          <a:xfrm>
            <a:off x="765173" y="3093068"/>
            <a:ext cx="10611576" cy="467273"/>
          </a:xfrm>
          <a:prstGeom prst="rect">
            <a:avLst/>
          </a:prstGeom>
        </p:spPr>
        <p:txBody>
          <a:bodyPr lIns="0" tIns="0" rIns="0" bIns="0"/>
          <a:lstStyle>
            <a:lvl1pPr marL="0" indent="0" algn="ctr">
              <a:buNone/>
              <a:defRPr sz="2133" b="1" i="0">
                <a:solidFill>
                  <a:schemeClr val="bg1"/>
                </a:solidFill>
                <a:latin typeface="Arial" charset="0"/>
                <a:ea typeface="Arial" charset="0"/>
                <a:cs typeface="Arial" charset="0"/>
              </a:defRPr>
            </a:lvl1pPr>
            <a:lvl2pPr marL="37251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2pPr>
            <a:lvl3pPr marL="755612"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3pPr>
            <a:lvl4pPr marL="1130244"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4pPr>
            <a:lvl5pPr marL="1443495" indent="0">
              <a:buNone/>
              <a:defRPr sz="5867">
                <a:solidFill>
                  <a:schemeClr val="bg1"/>
                </a:solidFill>
                <a:latin typeface="Roboto Thin" panose="02000000000000000000" pitchFamily="2" charset="0"/>
                <a:ea typeface="Roboto Thin" panose="02000000000000000000" pitchFamily="2" charset="0"/>
                <a:cs typeface="Roboto Thin" panose="02000000000000000000" pitchFamily="2" charset="0"/>
              </a:defRPr>
            </a:lvl5pPr>
          </a:lstStyle>
          <a:p>
            <a:pPr lvl="0"/>
            <a:r>
              <a:rPr lang="en-US" dirty="0"/>
              <a:t>Presentation Subtitle</a:t>
            </a:r>
          </a:p>
        </p:txBody>
      </p:sp>
      <p:sp>
        <p:nvSpPr>
          <p:cNvPr id="7" name="Content Placeholder 6">
            <a:extLst>
              <a:ext uri="{FF2B5EF4-FFF2-40B4-BE49-F238E27FC236}">
                <a16:creationId xmlns:a16="http://schemas.microsoft.com/office/drawing/2014/main" id="{5C64F9DD-DE30-C34A-A485-A07A839C3CA1}"/>
              </a:ext>
            </a:extLst>
          </p:cNvPr>
          <p:cNvSpPr>
            <a:spLocks noGrp="1"/>
          </p:cNvSpPr>
          <p:nvPr>
            <p:ph sz="quarter" idx="13" hasCustomPrompt="1"/>
          </p:nvPr>
        </p:nvSpPr>
        <p:spPr>
          <a:xfrm>
            <a:off x="7063317" y="5454985"/>
            <a:ext cx="3510899" cy="683351"/>
          </a:xfrm>
          <a:prstGeom prst="rect">
            <a:avLst/>
          </a:prstGeom>
        </p:spPr>
        <p:txBody>
          <a:bodyPr anchor="ctr"/>
          <a:lstStyle>
            <a:lvl1pPr marL="0" indent="0" algn="ctr">
              <a:buNone/>
              <a:defRPr sz="1867">
                <a:solidFill>
                  <a:schemeClr val="bg1"/>
                </a:solidFill>
                <a:latin typeface="Arial" panose="020B0604020202020204" pitchFamily="34" charset="0"/>
                <a:cs typeface="Arial" panose="020B0604020202020204" pitchFamily="34" charset="0"/>
              </a:defRPr>
            </a:lvl1pPr>
          </a:lstStyle>
          <a:p>
            <a:pPr lvl="0"/>
            <a:r>
              <a:rPr lang="en-US" dirty="0"/>
              <a:t>Insert client logo</a:t>
            </a:r>
          </a:p>
        </p:txBody>
      </p:sp>
      <p:pic>
        <p:nvPicPr>
          <p:cNvPr id="5" name="Picture 4" descr="A black background with white text&#10;&#10;AI-generated content may be incorrect.">
            <a:extLst>
              <a:ext uri="{FF2B5EF4-FFF2-40B4-BE49-F238E27FC236}">
                <a16:creationId xmlns:a16="http://schemas.microsoft.com/office/drawing/2014/main" id="{932B273F-83BA-A2C5-1897-4D85557BA0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82256" y="3560340"/>
            <a:ext cx="3759200" cy="3759200"/>
          </a:xfrm>
          <a:prstGeom prst="rect">
            <a:avLst/>
          </a:prstGeom>
        </p:spPr>
      </p:pic>
    </p:spTree>
    <p:extLst>
      <p:ext uri="{BB962C8B-B14F-4D97-AF65-F5344CB8AC3E}">
        <p14:creationId xmlns:p14="http://schemas.microsoft.com/office/powerpoint/2010/main" val="4246854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slide - White">
    <p:bg>
      <p:bgPr>
        <a:solidFill>
          <a:srgbClr val="FEFDFF"/>
        </a:solidFill>
        <a:effectLst/>
      </p:bgPr>
    </p:bg>
    <p:spTree>
      <p:nvGrpSpPr>
        <p:cNvPr id="1" name=""/>
        <p:cNvGrpSpPr/>
        <p:nvPr/>
      </p:nvGrpSpPr>
      <p:grpSpPr>
        <a:xfrm>
          <a:off x="0" y="0"/>
          <a:ext cx="0" cy="0"/>
          <a:chOff x="0" y="0"/>
          <a:chExt cx="0" cy="0"/>
        </a:xfrm>
      </p:grpSpPr>
      <p:sp>
        <p:nvSpPr>
          <p:cNvPr id="20" name="Title 1"/>
          <p:cNvSpPr>
            <a:spLocks noGrp="1"/>
          </p:cNvSpPr>
          <p:nvPr>
            <p:ph type="title" hasCustomPrompt="1"/>
          </p:nvPr>
        </p:nvSpPr>
        <p:spPr>
          <a:xfrm>
            <a:off x="685950" y="571697"/>
            <a:ext cx="10807652" cy="440488"/>
          </a:xfrm>
          <a:prstGeom prst="rect">
            <a:avLst/>
          </a:prstGeom>
        </p:spPr>
        <p:txBody>
          <a:bodyPr lIns="0" tIns="0" rIns="0" bIns="0" anchor="ctr" anchorCtr="0"/>
          <a:lstStyle>
            <a:lvl1pPr algn="l">
              <a:lnSpc>
                <a:spcPts val="2667"/>
              </a:lnSpc>
              <a:defRPr sz="2933" b="1" i="0">
                <a:solidFill>
                  <a:schemeClr val="tx1"/>
                </a:solidFill>
                <a:latin typeface="Arial" charset="0"/>
                <a:ea typeface="Arial" charset="0"/>
                <a:cs typeface="Arial" charset="0"/>
              </a:defRPr>
            </a:lvl1pPr>
          </a:lstStyle>
          <a:p>
            <a:r>
              <a:rPr lang="en-US" dirty="0"/>
              <a:t>Slide title</a:t>
            </a:r>
            <a:endParaRPr lang="en-GB" dirty="0"/>
          </a:p>
        </p:txBody>
      </p:sp>
      <p:sp>
        <p:nvSpPr>
          <p:cNvPr id="3" name="Text Placeholder 2">
            <a:extLst>
              <a:ext uri="{FF2B5EF4-FFF2-40B4-BE49-F238E27FC236}">
                <a16:creationId xmlns:a16="http://schemas.microsoft.com/office/drawing/2014/main" id="{36200608-C600-554E-813F-6D4EC02AF493}"/>
              </a:ext>
            </a:extLst>
          </p:cNvPr>
          <p:cNvSpPr>
            <a:spLocks noGrp="1"/>
          </p:cNvSpPr>
          <p:nvPr>
            <p:ph type="body" sz="quarter" idx="10"/>
          </p:nvPr>
        </p:nvSpPr>
        <p:spPr>
          <a:xfrm>
            <a:off x="569070" y="1583269"/>
            <a:ext cx="10807700" cy="2800351"/>
          </a:xfrm>
          <a:prstGeom prst="rect">
            <a:avLst/>
          </a:prstGeom>
        </p:spPr>
        <p:txBody>
          <a:bodyPr/>
          <a:lstStyle>
            <a:lvl1pPr marL="380981" indent="-380981">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1pPr>
            <a:lvl2pPr marL="598988"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2pPr>
            <a:lvl3pPr marL="833926"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3pPr>
            <a:lvl4pPr marL="1077330" indent="-243405">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4pPr>
            <a:lvl5pPr marL="1316502" indent="-239173">
              <a:buClr>
                <a:schemeClr val="accent3"/>
              </a:buClr>
              <a:buFont typeface="Arial" panose="020B0604020202020204" pitchFamily="34" charset="0"/>
              <a:buChar char="•"/>
              <a:defRPr sz="2133">
                <a:latin typeface="Arial" panose="020B0604020202020204" pitchFamily="34" charset="0"/>
                <a:cs typeface="Arial" panose="020B0604020202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Box 16">
            <a:extLst>
              <a:ext uri="{FF2B5EF4-FFF2-40B4-BE49-F238E27FC236}">
                <a16:creationId xmlns:a16="http://schemas.microsoft.com/office/drawing/2014/main" id="{C95C8156-3E9F-6D42-BC09-E86831EB4BD7}"/>
              </a:ext>
            </a:extLst>
          </p:cNvPr>
          <p:cNvSpPr txBox="1"/>
          <p:nvPr userDrawn="1"/>
        </p:nvSpPr>
        <p:spPr>
          <a:xfrm>
            <a:off x="11469217" y="6576097"/>
            <a:ext cx="666087" cy="194990"/>
          </a:xfrm>
          <a:prstGeom prst="rect">
            <a:avLst/>
          </a:prstGeom>
          <a:noFill/>
        </p:spPr>
        <p:txBody>
          <a:bodyPr wrap="square" rtlCol="0">
            <a:spAutoFit/>
          </a:bodyPr>
          <a:lstStyle/>
          <a:p>
            <a:pPr algn="r"/>
            <a:fld id="{A99FBE0F-E013-8744-85F1-2202A360EF8A}" type="slidenum">
              <a:rPr lang="en-US" sz="667" b="0" i="0" spc="0" baseline="0" smtClean="0">
                <a:solidFill>
                  <a:schemeClr val="bg1"/>
                </a:solidFill>
                <a:latin typeface="Arial" charset="0"/>
                <a:ea typeface="Arial" charset="0"/>
                <a:cs typeface="Arial" charset="0"/>
              </a:rPr>
              <a:pPr algn="r"/>
              <a:t>‹#›</a:t>
            </a:fld>
            <a:endParaRPr lang="en-US" sz="667" b="0" i="0" spc="0" baseline="0" dirty="0">
              <a:solidFill>
                <a:schemeClr val="bg1"/>
              </a:solidFill>
              <a:latin typeface="Arial" charset="0"/>
              <a:ea typeface="Arial" charset="0"/>
              <a:cs typeface="Arial" charset="0"/>
            </a:endParaRPr>
          </a:p>
        </p:txBody>
      </p:sp>
      <p:pic>
        <p:nvPicPr>
          <p:cNvPr id="6" name="Picture 5">
            <a:extLst>
              <a:ext uri="{FF2B5EF4-FFF2-40B4-BE49-F238E27FC236}">
                <a16:creationId xmlns:a16="http://schemas.microsoft.com/office/drawing/2014/main" id="{EA1BCDDE-4B2D-D9CB-1B80-F64BBF7AB97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558997"/>
            <a:ext cx="419279" cy="358907"/>
          </a:xfrm>
          <a:prstGeom prst="rect">
            <a:avLst/>
          </a:prstGeom>
        </p:spPr>
      </p:pic>
      <p:grpSp>
        <p:nvGrpSpPr>
          <p:cNvPr id="9" name="Group 8">
            <a:extLst>
              <a:ext uri="{FF2B5EF4-FFF2-40B4-BE49-F238E27FC236}">
                <a16:creationId xmlns:a16="http://schemas.microsoft.com/office/drawing/2014/main" id="{B80FCFB7-345B-5532-901F-FB3C2AA30452}"/>
              </a:ext>
            </a:extLst>
          </p:cNvPr>
          <p:cNvGrpSpPr/>
          <p:nvPr userDrawn="1"/>
        </p:nvGrpSpPr>
        <p:grpSpPr>
          <a:xfrm>
            <a:off x="-56699" y="6286303"/>
            <a:ext cx="12248699" cy="582884"/>
            <a:chOff x="-42524" y="4714727"/>
            <a:chExt cx="9186524" cy="437163"/>
          </a:xfrm>
        </p:grpSpPr>
        <p:pic>
          <p:nvPicPr>
            <p:cNvPr id="10" name="Picture 9">
              <a:extLst>
                <a:ext uri="{FF2B5EF4-FFF2-40B4-BE49-F238E27FC236}">
                  <a16:creationId xmlns:a16="http://schemas.microsoft.com/office/drawing/2014/main" id="{FAD3E70E-8207-1DD9-A0BA-C9B76DADC2A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2524" y="4714727"/>
              <a:ext cx="9186524" cy="437163"/>
            </a:xfrm>
            <a:prstGeom prst="rect">
              <a:avLst/>
            </a:prstGeom>
          </p:spPr>
        </p:pic>
        <p:grpSp>
          <p:nvGrpSpPr>
            <p:cNvPr id="11" name="Group 10">
              <a:extLst>
                <a:ext uri="{FF2B5EF4-FFF2-40B4-BE49-F238E27FC236}">
                  <a16:creationId xmlns:a16="http://schemas.microsoft.com/office/drawing/2014/main" id="{57882186-B640-AD70-6515-3EE323ECF299}"/>
                </a:ext>
              </a:extLst>
            </p:cNvPr>
            <p:cNvGrpSpPr/>
            <p:nvPr userDrawn="1"/>
          </p:nvGrpSpPr>
          <p:grpSpPr>
            <a:xfrm>
              <a:off x="157229" y="4832170"/>
              <a:ext cx="1798358" cy="269180"/>
              <a:chOff x="314460" y="4647384"/>
              <a:chExt cx="2355272" cy="359852"/>
            </a:xfrm>
          </p:grpSpPr>
          <p:pic>
            <p:nvPicPr>
              <p:cNvPr id="12" name="Picture 11" descr="A black background with white text&#10;&#10;AI-generated content may be incorrect.">
                <a:extLst>
                  <a:ext uri="{FF2B5EF4-FFF2-40B4-BE49-F238E27FC236}">
                    <a16:creationId xmlns:a16="http://schemas.microsoft.com/office/drawing/2014/main" id="{14B8BAAB-1A0E-E7F6-9140-98409B12FFEE}"/>
                  </a:ext>
                </a:extLst>
              </p:cNvPr>
              <p:cNvPicPr>
                <a:picLocks noChangeAspect="1"/>
              </p:cNvPicPr>
              <p:nvPr userDrawn="1"/>
            </p:nvPicPr>
            <p:blipFill>
              <a:blip r:embed="rId4">
                <a:extLst>
                  <a:ext uri="{28A0092B-C50C-407E-A947-70E740481C1C}">
                    <a14:useLocalDpi xmlns:a14="http://schemas.microsoft.com/office/drawing/2010/main" val="0"/>
                  </a:ext>
                </a:extLst>
              </a:blip>
              <a:srcRect l="22043" t="31741" r="22676" b="46337"/>
              <a:stretch/>
            </p:blipFill>
            <p:spPr>
              <a:xfrm>
                <a:off x="314460" y="4647384"/>
                <a:ext cx="907472" cy="359852"/>
              </a:xfrm>
              <a:prstGeom prst="rect">
                <a:avLst/>
              </a:prstGeom>
            </p:spPr>
          </p:pic>
          <p:pic>
            <p:nvPicPr>
              <p:cNvPr id="13" name="Picture 12" descr="A black background with white text&#10;&#10;AI-generated content may be incorrect.">
                <a:extLst>
                  <a:ext uri="{FF2B5EF4-FFF2-40B4-BE49-F238E27FC236}">
                    <a16:creationId xmlns:a16="http://schemas.microsoft.com/office/drawing/2014/main" id="{7C5C02F2-245D-A75B-547C-7883F417D6DC}"/>
                  </a:ext>
                </a:extLst>
              </p:cNvPr>
              <p:cNvPicPr>
                <a:picLocks noChangeAspect="1"/>
              </p:cNvPicPr>
              <p:nvPr userDrawn="1"/>
            </p:nvPicPr>
            <p:blipFill>
              <a:blip r:embed="rId5">
                <a:extLst>
                  <a:ext uri="{28A0092B-C50C-407E-A947-70E740481C1C}">
                    <a14:useLocalDpi xmlns:a14="http://schemas.microsoft.com/office/drawing/2010/main" val="0"/>
                  </a:ext>
                </a:extLst>
              </a:blip>
              <a:srcRect l="25307" t="53939" r="23341" b="35665"/>
              <a:stretch/>
            </p:blipFill>
            <p:spPr>
              <a:xfrm>
                <a:off x="1221932" y="4714151"/>
                <a:ext cx="1447800" cy="293085"/>
              </a:xfrm>
              <a:prstGeom prst="rect">
                <a:avLst/>
              </a:prstGeom>
            </p:spPr>
          </p:pic>
        </p:grpSp>
      </p:grpSp>
    </p:spTree>
    <p:extLst>
      <p:ext uri="{BB962C8B-B14F-4D97-AF65-F5344CB8AC3E}">
        <p14:creationId xmlns:p14="http://schemas.microsoft.com/office/powerpoint/2010/main" val="1964054691"/>
      </p:ext>
    </p:extLst>
  </p:cSld>
  <p:clrMapOvr>
    <a:masterClrMapping/>
  </p:clrMapOvr>
  <p:extLst>
    <p:ext uri="{DCECCB84-F9BA-43D5-87BE-67443E8EF086}">
      <p15:sldGuideLst xmlns:p15="http://schemas.microsoft.com/office/powerpoint/2012/main">
        <p15:guide id="1" pos="1474">
          <p15:clr>
            <a:srgbClr val="FBAE40"/>
          </p15:clr>
        </p15:guide>
        <p15:guide id="2" pos="31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CDCEDA-F424-199A-E0B0-8B1D7155F6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1E8FC8D-ABDD-6256-72B8-98AAA6863F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CA874C-6C07-4CD2-9561-E09983AD8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E9CC4A-0A0C-4B20-83E7-154C026D4A0E}" type="datetimeFigureOut">
              <a:rPr lang="en-IN" smtClean="0"/>
              <a:t>15-10-2025</a:t>
            </a:fld>
            <a:endParaRPr lang="en-IN"/>
          </a:p>
        </p:txBody>
      </p:sp>
      <p:sp>
        <p:nvSpPr>
          <p:cNvPr id="5" name="Footer Placeholder 4">
            <a:extLst>
              <a:ext uri="{FF2B5EF4-FFF2-40B4-BE49-F238E27FC236}">
                <a16:creationId xmlns:a16="http://schemas.microsoft.com/office/drawing/2014/main" id="{4CA0B70C-C009-A9C4-7FC3-0D671C2F5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7EE5002-979B-BD7F-8E5F-72C78959A2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5D671-C46A-4F55-BD40-DAE041F4F3BC}" type="slidenum">
              <a:rPr lang="en-IN" smtClean="0"/>
              <a:t>‹#›</a:t>
            </a:fld>
            <a:endParaRPr lang="en-IN"/>
          </a:p>
        </p:txBody>
      </p:sp>
    </p:spTree>
    <p:extLst>
      <p:ext uri="{BB962C8B-B14F-4D97-AF65-F5344CB8AC3E}">
        <p14:creationId xmlns:p14="http://schemas.microsoft.com/office/powerpoint/2010/main" val="2009054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Unit Testing</a:t>
            </a:r>
          </a:p>
        </p:txBody>
      </p:sp>
    </p:spTree>
    <p:extLst>
      <p:ext uri="{BB962C8B-B14F-4D97-AF65-F5344CB8AC3E}">
        <p14:creationId xmlns:p14="http://schemas.microsoft.com/office/powerpoint/2010/main" val="254516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228306"/>
            <a:ext cx="10573667" cy="1342483"/>
          </a:xfrm>
          <a:prstGeom prst="rect">
            <a:avLst/>
          </a:prstGeom>
        </p:spPr>
        <p:txBody>
          <a:bodyPr vert="horz" wrap="square" lIns="0" tIns="12700" rIns="0" bIns="0" rtlCol="0">
            <a:spAutoFit/>
          </a:bodyPr>
          <a:lstStyle/>
          <a:p>
            <a:pPr>
              <a:lnSpc>
                <a:spcPct val="150000"/>
              </a:lnSpc>
              <a:defRPr sz="1800"/>
            </a:pPr>
            <a:r>
              <a:rPr lang="en-US" sz="2000" dirty="0">
                <a:latin typeface="Times New Roman" panose="02020603050405020304" pitchFamily="18" charset="0"/>
                <a:cs typeface="Times New Roman" panose="02020603050405020304" pitchFamily="18" charset="0"/>
              </a:rPr>
              <a:t>Unit Testing is a software testing method where individual components or functions of a program are tested in isolation. It helps ensure that each part of the code (unit) performs as intended before integration with other parts of the system.</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Unit Testing?</a:t>
            </a:r>
          </a:p>
        </p:txBody>
      </p:sp>
      <p:sp>
        <p:nvSpPr>
          <p:cNvPr id="2" name="Title 1">
            <a:extLst>
              <a:ext uri="{FF2B5EF4-FFF2-40B4-BE49-F238E27FC236}">
                <a16:creationId xmlns:a16="http://schemas.microsoft.com/office/drawing/2014/main" id="{76E83440-B62A-578B-9F85-369B6E59B943}"/>
              </a:ext>
            </a:extLst>
          </p:cNvPr>
          <p:cNvSpPr txBox="1">
            <a:spLocks/>
          </p:cNvSpPr>
          <p:nvPr/>
        </p:nvSpPr>
        <p:spPr>
          <a:xfrm>
            <a:off x="692174" y="2795223"/>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Purpose of Unit Testing</a:t>
            </a:r>
          </a:p>
        </p:txBody>
      </p:sp>
      <p:sp>
        <p:nvSpPr>
          <p:cNvPr id="3" name="object 5">
            <a:extLst>
              <a:ext uri="{FF2B5EF4-FFF2-40B4-BE49-F238E27FC236}">
                <a16:creationId xmlns:a16="http://schemas.microsoft.com/office/drawing/2014/main" id="{A9535595-621C-7C24-3CD6-BC9AF82D3CF8}"/>
              </a:ext>
            </a:extLst>
          </p:cNvPr>
          <p:cNvSpPr txBox="1"/>
          <p:nvPr/>
        </p:nvSpPr>
        <p:spPr>
          <a:xfrm>
            <a:off x="692174" y="3460145"/>
            <a:ext cx="10573667" cy="272747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Detect Bugs Early: </a:t>
            </a:r>
            <a:r>
              <a:rPr lang="en-US" sz="2000" dirty="0">
                <a:latin typeface="Times New Roman" panose="02020603050405020304" pitchFamily="18" charset="0"/>
                <a:cs typeface="Times New Roman" panose="02020603050405020304" pitchFamily="18" charset="0"/>
              </a:rPr>
              <a:t>Find defects in the earliest development stages.</a:t>
            </a:r>
          </a:p>
          <a:p>
            <a:pPr marL="342900" indent="-342900">
              <a:lnSpc>
                <a:spcPct val="150000"/>
              </a:lnSpc>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Verify Functionality: </a:t>
            </a:r>
            <a:r>
              <a:rPr lang="en-US" sz="2000" dirty="0">
                <a:latin typeface="Times New Roman" panose="02020603050405020304" pitchFamily="18" charset="0"/>
                <a:cs typeface="Times New Roman" panose="02020603050405020304" pitchFamily="18" charset="0"/>
              </a:rPr>
              <a:t>Confirms each unit works according to requirements.</a:t>
            </a:r>
          </a:p>
          <a:p>
            <a:pPr marL="342900" indent="-342900">
              <a:lnSpc>
                <a:spcPct val="150000"/>
              </a:lnSpc>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Reduce Costs: </a:t>
            </a:r>
            <a:r>
              <a:rPr lang="en-US" sz="2000" dirty="0">
                <a:latin typeface="Times New Roman" panose="02020603050405020304" pitchFamily="18" charset="0"/>
                <a:cs typeface="Times New Roman" panose="02020603050405020304" pitchFamily="18" charset="0"/>
              </a:rPr>
              <a:t>Fixing bugs in early phases is cheaper than later stages.</a:t>
            </a:r>
          </a:p>
          <a:p>
            <a:pPr marL="342900" indent="-342900">
              <a:lnSpc>
                <a:spcPct val="150000"/>
              </a:lnSpc>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Increase Confidence: </a:t>
            </a:r>
            <a:r>
              <a:rPr lang="en-US" sz="2000" dirty="0">
                <a:latin typeface="Times New Roman" panose="02020603050405020304" pitchFamily="18" charset="0"/>
                <a:cs typeface="Times New Roman" panose="02020603050405020304" pitchFamily="18" charset="0"/>
              </a:rPr>
              <a:t>Developers can change/refactor code without fear of breaking functionality.</a:t>
            </a:r>
          </a:p>
          <a:p>
            <a:pPr marL="342900" indent="-342900">
              <a:lnSpc>
                <a:spcPct val="150000"/>
              </a:lnSpc>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Support Agile &amp; CI/CD: </a:t>
            </a:r>
            <a:r>
              <a:rPr lang="en-US" sz="2000" dirty="0">
                <a:latin typeface="Times New Roman" panose="02020603050405020304" pitchFamily="18" charset="0"/>
                <a:cs typeface="Times New Roman" panose="02020603050405020304" pitchFamily="18" charset="0"/>
              </a:rPr>
              <a:t>Unit tests ensure smooth automation and quick feedback in modern workflows.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2308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Characteristics of Unit Tests</a:t>
            </a: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807652" cy="2983958"/>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Isolated: </a:t>
            </a:r>
            <a:r>
              <a:rPr lang="en-US" sz="2000" dirty="0">
                <a:latin typeface="Times New Roman" panose="02020603050405020304" pitchFamily="18" charset="0"/>
                <a:cs typeface="Times New Roman" panose="02020603050405020304" pitchFamily="18" charset="0"/>
              </a:rPr>
              <a:t>Focuses on one function or method at a time, with no outside dependencies.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Automated &amp; Repeatable: </a:t>
            </a:r>
            <a:r>
              <a:rPr lang="en-US" sz="2000" dirty="0">
                <a:latin typeface="Times New Roman" panose="02020603050405020304" pitchFamily="18" charset="0"/>
                <a:cs typeface="Times New Roman" panose="02020603050405020304" pitchFamily="18" charset="0"/>
              </a:rPr>
              <a:t>Written once and can be executed many times using tools or frameworks.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Fast Execution: </a:t>
            </a:r>
            <a:r>
              <a:rPr lang="en-US" sz="2000" dirty="0">
                <a:latin typeface="Times New Roman" panose="02020603050405020304" pitchFamily="18" charset="0"/>
                <a:cs typeface="Times New Roman" panose="02020603050405020304" pitchFamily="18" charset="0"/>
              </a:rPr>
              <a:t>Designed to run quickly, even when there are hundreds of tests.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Independent: </a:t>
            </a:r>
            <a:r>
              <a:rPr lang="en-US" sz="2000" dirty="0">
                <a:latin typeface="Times New Roman" panose="02020603050405020304" pitchFamily="18" charset="0"/>
                <a:cs typeface="Times New Roman" panose="02020603050405020304" pitchFamily="18" charset="0"/>
              </a:rPr>
              <a:t>Each test runs separately and does not depend on others.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Deterministic: </a:t>
            </a:r>
            <a:r>
              <a:rPr lang="en-US" sz="2000" dirty="0">
                <a:latin typeface="Times New Roman" panose="02020603050405020304" pitchFamily="18" charset="0"/>
                <a:cs typeface="Times New Roman" panose="02020603050405020304" pitchFamily="18" charset="0"/>
              </a:rPr>
              <a:t>For the same input, the test should always yield the same result.</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Readable &amp; Maintainable: </a:t>
            </a:r>
            <a:r>
              <a:rPr lang="en-US" sz="2000" dirty="0">
                <a:latin typeface="Times New Roman" panose="02020603050405020304" pitchFamily="18" charset="0"/>
                <a:cs typeface="Times New Roman" panose="02020603050405020304" pitchFamily="18" charset="0"/>
              </a:rPr>
              <a:t>Good unit tests are easy to understand and update as the code evolves.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594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24A3-DAE9-5D2A-A4A0-2B9795CFDF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72BDE3-4CBD-4D3C-23EE-EBE9D974C79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Common Unit Testing Frameworks</a:t>
            </a:r>
          </a:p>
        </p:txBody>
      </p:sp>
      <p:sp>
        <p:nvSpPr>
          <p:cNvPr id="3" name="object 5">
            <a:extLst>
              <a:ext uri="{FF2B5EF4-FFF2-40B4-BE49-F238E27FC236}">
                <a16:creationId xmlns:a16="http://schemas.microsoft.com/office/drawing/2014/main" id="{FFE307B9-AEF0-EF55-1B0E-042E36FBD8A8}"/>
              </a:ext>
            </a:extLst>
          </p:cNvPr>
          <p:cNvSpPr txBox="1"/>
          <p:nvPr/>
        </p:nvSpPr>
        <p:spPr>
          <a:xfrm>
            <a:off x="692174" y="1322611"/>
            <a:ext cx="10327819" cy="3964547"/>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Java: </a:t>
            </a:r>
            <a:r>
              <a:rPr lang="en-US" sz="2000" dirty="0">
                <a:latin typeface="Times New Roman" panose="02020603050405020304" pitchFamily="18" charset="0"/>
                <a:cs typeface="Times New Roman" panose="02020603050405020304" pitchFamily="18" charset="0"/>
              </a:rPr>
              <a:t>JUnit, TestNG (most popular in enterprise apps).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Python: </a:t>
            </a:r>
            <a:r>
              <a:rPr lang="en-US" sz="2000" dirty="0" err="1">
                <a:latin typeface="Times New Roman" panose="02020603050405020304" pitchFamily="18" charset="0"/>
                <a:cs typeface="Times New Roman" panose="02020603050405020304" pitchFamily="18" charset="0"/>
              </a:rPr>
              <a:t>unittest</a:t>
            </a:r>
            <a:r>
              <a:rPr lang="en-US" sz="2000" dirty="0">
                <a:latin typeface="Times New Roman" panose="02020603050405020304" pitchFamily="18" charset="0"/>
                <a:cs typeface="Times New Roman" panose="02020603050405020304" pitchFamily="18" charset="0"/>
              </a:rPr>
              <a:t> (built-in), </a:t>
            </a:r>
            <a:r>
              <a:rPr lang="en-US" sz="2000" dirty="0" err="1">
                <a:latin typeface="Times New Roman" panose="02020603050405020304" pitchFamily="18" charset="0"/>
                <a:cs typeface="Times New Roman" panose="02020603050405020304" pitchFamily="18" charset="0"/>
              </a:rPr>
              <a:t>pytest</a:t>
            </a:r>
            <a:r>
              <a:rPr lang="en-US" sz="2000" dirty="0">
                <a:latin typeface="Times New Roman" panose="02020603050405020304" pitchFamily="18" charset="0"/>
                <a:cs typeface="Times New Roman" panose="02020603050405020304" pitchFamily="18" charset="0"/>
              </a:rPr>
              <a:t> (easy and powerful).</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JavaScript/Node.js: </a:t>
            </a:r>
            <a:r>
              <a:rPr lang="en-US" sz="2000" dirty="0">
                <a:latin typeface="Times New Roman" panose="02020603050405020304" pitchFamily="18" charset="0"/>
                <a:cs typeface="Times New Roman" panose="02020603050405020304" pitchFamily="18" charset="0"/>
              </a:rPr>
              <a:t>Jest (used with React, Node), Mocha + Chai.</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C#: </a:t>
            </a:r>
            <a:r>
              <a:rPr lang="en-US" sz="2000" dirty="0" err="1">
                <a:latin typeface="Times New Roman" panose="02020603050405020304" pitchFamily="18" charset="0"/>
                <a:cs typeface="Times New Roman" panose="02020603050405020304" pitchFamily="18" charset="0"/>
              </a:rPr>
              <a:t>NUnit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MSTest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xUnit</a:t>
            </a:r>
            <a:r>
              <a:rPr lang="en-US" sz="2000" dirty="0">
                <a:latin typeface="Times New Roman" panose="02020603050405020304" pitchFamily="18" charset="0"/>
                <a:cs typeface="Times New Roman" panose="02020603050405020304" pitchFamily="18" charset="0"/>
              </a:rPr>
              <a:t>.</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C++: </a:t>
            </a:r>
            <a:r>
              <a:rPr lang="en-US" sz="2000" dirty="0">
                <a:latin typeface="Times New Roman" panose="02020603050405020304" pitchFamily="18" charset="0"/>
                <a:cs typeface="Times New Roman" panose="02020603050405020304" pitchFamily="18" charset="0"/>
              </a:rPr>
              <a:t>Google Test (widely used for system-level projects).</a:t>
            </a:r>
          </a:p>
          <a:p>
            <a:pPr marL="342900" indent="-342900">
              <a:lnSpc>
                <a:spcPct val="150000"/>
              </a:lnSpc>
              <a:spcBef>
                <a:spcPts val="200"/>
              </a:spcBef>
              <a:spcAft>
                <a:spcPts val="200"/>
              </a:spcAft>
              <a:buFont typeface="Arial" panose="020B0604020202020204" pitchFamily="34" charset="0"/>
              <a:buChar char="•"/>
              <a:defRPr sz="1800"/>
            </a:pPr>
            <a:endParaRPr lang="en-US" sz="2000" b="1" dirty="0">
              <a:latin typeface="Times New Roman" panose="02020603050405020304" pitchFamily="18" charset="0"/>
              <a:cs typeface="Times New Roman" panose="02020603050405020304" pitchFamily="18" charset="0"/>
            </a:endParaRPr>
          </a:p>
          <a:p>
            <a:pPr>
              <a:lnSpc>
                <a:spcPct val="150000"/>
              </a:lnSpc>
              <a:spcBef>
                <a:spcPts val="200"/>
              </a:spcBef>
              <a:spcAft>
                <a:spcPts val="200"/>
              </a:spcAft>
              <a:defRPr sz="1800"/>
            </a:pPr>
            <a:r>
              <a:rPr lang="en-US" sz="2000" b="1" dirty="0">
                <a:latin typeface="Times New Roman" panose="02020603050405020304" pitchFamily="18" charset="0"/>
                <a:cs typeface="Times New Roman" panose="02020603050405020304" pitchFamily="18" charset="0"/>
              </a:rPr>
              <a:t>These frameworks help automate test execution, generate reports, and integrate with CI/CD pipelines.</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738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2E30-5BC5-A06A-AD3C-1DFDD1F5D14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A07E729-D570-CF14-8CE3-ED48E5B1A81A}"/>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 – Unit Test in Python</a:t>
            </a:r>
          </a:p>
        </p:txBody>
      </p:sp>
      <p:sp>
        <p:nvSpPr>
          <p:cNvPr id="9" name="TextBox 8">
            <a:extLst>
              <a:ext uri="{FF2B5EF4-FFF2-40B4-BE49-F238E27FC236}">
                <a16:creationId xmlns:a16="http://schemas.microsoft.com/office/drawing/2014/main" id="{DE4808F9-BEC9-0A64-52C1-08DA8987ACEE}"/>
              </a:ext>
            </a:extLst>
          </p:cNvPr>
          <p:cNvSpPr txBox="1"/>
          <p:nvPr/>
        </p:nvSpPr>
        <p:spPr>
          <a:xfrm>
            <a:off x="8235694" y="2532433"/>
            <a:ext cx="3264132" cy="1323439"/>
          </a:xfrm>
          <a:prstGeom prst="rect">
            <a:avLst/>
          </a:prstGeom>
          <a:noFill/>
        </p:spPr>
        <p:txBody>
          <a:bodyPr wrap="square" rtlCol="0">
            <a:spAutoFit/>
          </a:bodyPr>
          <a:lstStyle/>
          <a:p>
            <a:pPr fontAlgn="base"/>
            <a:r>
              <a:rPr lang="en-US" sz="2000" b="1" dirty="0">
                <a:solidFill>
                  <a:srgbClr val="0066CC"/>
                </a:solidFill>
                <a:latin typeface="Times New Roman" panose="02020603050405020304" pitchFamily="18" charset="0"/>
                <a:cs typeface="Times New Roman" panose="02020603050405020304" pitchFamily="18" charset="0"/>
              </a:rPr>
              <a:t>The given program shows how a simple function can be tested with multiple test cases.</a:t>
            </a:r>
            <a:endParaRPr lang="en-US"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5800664-D06C-3608-FAE1-F1CBD8D606AB}"/>
              </a:ext>
            </a:extLst>
          </p:cNvPr>
          <p:cNvPicPr>
            <a:picLocks noChangeAspect="1"/>
          </p:cNvPicPr>
          <p:nvPr/>
        </p:nvPicPr>
        <p:blipFill>
          <a:blip r:embed="rId3"/>
          <a:stretch>
            <a:fillRect/>
          </a:stretch>
        </p:blipFill>
        <p:spPr>
          <a:xfrm>
            <a:off x="692174" y="1197310"/>
            <a:ext cx="6974378" cy="4882065"/>
          </a:xfrm>
          <a:prstGeom prst="rect">
            <a:avLst/>
          </a:prstGeom>
        </p:spPr>
      </p:pic>
    </p:spTree>
    <p:extLst>
      <p:ext uri="{BB962C8B-B14F-4D97-AF65-F5344CB8AC3E}">
        <p14:creationId xmlns:p14="http://schemas.microsoft.com/office/powerpoint/2010/main" val="3789261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E2AE-0255-1352-E8D6-ACD12E04BE9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36A6F95-178E-F321-2F7B-34B9E1961F95}"/>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Benefits of Unit Testing</a:t>
            </a:r>
          </a:p>
        </p:txBody>
      </p:sp>
      <p:sp>
        <p:nvSpPr>
          <p:cNvPr id="3" name="object 5">
            <a:extLst>
              <a:ext uri="{FF2B5EF4-FFF2-40B4-BE49-F238E27FC236}">
                <a16:creationId xmlns:a16="http://schemas.microsoft.com/office/drawing/2014/main" id="{849302C1-BDBF-E8D3-2A50-2089FA4E67E4}"/>
              </a:ext>
            </a:extLst>
          </p:cNvPr>
          <p:cNvSpPr txBox="1"/>
          <p:nvPr/>
        </p:nvSpPr>
        <p:spPr>
          <a:xfrm>
            <a:off x="692174" y="1322611"/>
            <a:ext cx="10807652" cy="2983958"/>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Early Bug Detection: </a:t>
            </a:r>
            <a:r>
              <a:rPr lang="en-US" sz="2000" dirty="0">
                <a:latin typeface="Times New Roman" panose="02020603050405020304" pitchFamily="18" charset="0"/>
                <a:cs typeface="Times New Roman" panose="02020603050405020304" pitchFamily="18" charset="0"/>
              </a:rPr>
              <a:t>Problems are identified before integration.</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Saves Time &amp; Money: </a:t>
            </a:r>
            <a:r>
              <a:rPr lang="en-US" sz="2000" dirty="0">
                <a:latin typeface="Times New Roman" panose="02020603050405020304" pitchFamily="18" charset="0"/>
                <a:cs typeface="Times New Roman" panose="02020603050405020304" pitchFamily="18" charset="0"/>
              </a:rPr>
              <a:t>Fixing small bugs early avoids costly rework later.</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Supports Refactoring: </a:t>
            </a:r>
            <a:r>
              <a:rPr lang="en-US" sz="2000" dirty="0">
                <a:latin typeface="Times New Roman" panose="02020603050405020304" pitchFamily="18" charset="0"/>
                <a:cs typeface="Times New Roman" panose="02020603050405020304" pitchFamily="18" charset="0"/>
              </a:rPr>
              <a:t>Developers can safely restructure code knowing tests will catch issues.</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Improves Design: </a:t>
            </a:r>
            <a:r>
              <a:rPr lang="en-US" sz="2000" dirty="0">
                <a:latin typeface="Times New Roman" panose="02020603050405020304" pitchFamily="18" charset="0"/>
                <a:cs typeface="Times New Roman" panose="02020603050405020304" pitchFamily="18" charset="0"/>
              </a:rPr>
              <a:t>Encourages modular, reusable, and cleaner code.</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Documentation: </a:t>
            </a:r>
            <a:r>
              <a:rPr lang="en-US" sz="2000" dirty="0">
                <a:latin typeface="Times New Roman" panose="02020603050405020304" pitchFamily="18" charset="0"/>
                <a:cs typeface="Times New Roman" panose="02020603050405020304" pitchFamily="18" charset="0"/>
              </a:rPr>
              <a:t>Tests describe what the code should do, acting as living documentation.</a:t>
            </a:r>
          </a:p>
          <a:p>
            <a:pPr marL="342900" indent="-342900">
              <a:lnSpc>
                <a:spcPct val="150000"/>
              </a:lnSpc>
              <a:spcBef>
                <a:spcPts val="200"/>
              </a:spcBef>
              <a:spcAft>
                <a:spcPts val="200"/>
              </a:spcAft>
              <a:buFont typeface="Arial" panose="020B0604020202020204" pitchFamily="34" charset="0"/>
              <a:buChar char="•"/>
              <a:defRPr sz="1800"/>
            </a:pPr>
            <a:r>
              <a:rPr lang="en-US" sz="2000" b="1" dirty="0">
                <a:latin typeface="Times New Roman" panose="02020603050405020304" pitchFamily="18" charset="0"/>
                <a:cs typeface="Times New Roman" panose="02020603050405020304" pitchFamily="18" charset="0"/>
              </a:rPr>
              <a:t>Confidence in Deployment: </a:t>
            </a:r>
            <a:r>
              <a:rPr lang="en-US" sz="2000" dirty="0">
                <a:latin typeface="Times New Roman" panose="02020603050405020304" pitchFamily="18" charset="0"/>
                <a:cs typeface="Times New Roman" panose="02020603050405020304" pitchFamily="18" charset="0"/>
              </a:rPr>
              <a:t>Teams feel safer pushing changes into production.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9253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Writing Test Cases</a:t>
            </a:r>
          </a:p>
        </p:txBody>
      </p:sp>
    </p:spTree>
    <p:extLst>
      <p:ext uri="{BB962C8B-B14F-4D97-AF65-F5344CB8AC3E}">
        <p14:creationId xmlns:p14="http://schemas.microsoft.com/office/powerpoint/2010/main" val="90526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176000"/>
            <a:ext cx="10573667" cy="1551707"/>
          </a:xfrm>
          <a:prstGeom prst="rect">
            <a:avLst/>
          </a:prstGeom>
        </p:spPr>
        <p:txBody>
          <a:bodyPr vert="horz" wrap="square" lIns="0" tIns="12700" rIns="0" bIns="0" rtlCol="0">
            <a:spAutoFit/>
          </a:bodyPr>
          <a:lstStyle/>
          <a:p>
            <a:pPr>
              <a:spcBef>
                <a:spcPts val="300"/>
              </a:spcBef>
              <a:spcAft>
                <a:spcPts val="300"/>
              </a:spcAft>
              <a:defRPr sz="1800"/>
            </a:pPr>
            <a:r>
              <a:rPr lang="en-US" sz="2000" dirty="0">
                <a:latin typeface="Times New Roman" panose="02020603050405020304" pitchFamily="18" charset="0"/>
                <a:cs typeface="Times New Roman" panose="02020603050405020304" pitchFamily="18" charset="0"/>
              </a:rPr>
              <a:t>A test case is a written set of instructions that describes how to test a specific feature or functionality of software. It includes the inputs, actions, and the expected outcome. Test cases ensure that the system behaves as expected in different conditions. They act as a communication tool between developers, testers, and stakeholders, bridging the gap between requirements and validation. Without proper test cases, testing becomes unstructured and unreliable.</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are Test Cases?</a:t>
            </a:r>
          </a:p>
        </p:txBody>
      </p:sp>
      <p:sp>
        <p:nvSpPr>
          <p:cNvPr id="2" name="Title 1">
            <a:extLst>
              <a:ext uri="{FF2B5EF4-FFF2-40B4-BE49-F238E27FC236}">
                <a16:creationId xmlns:a16="http://schemas.microsoft.com/office/drawing/2014/main" id="{76E83440-B62A-578B-9F85-369B6E59B943}"/>
              </a:ext>
            </a:extLst>
          </p:cNvPr>
          <p:cNvSpPr txBox="1">
            <a:spLocks/>
          </p:cNvSpPr>
          <p:nvPr/>
        </p:nvSpPr>
        <p:spPr>
          <a:xfrm>
            <a:off x="692174" y="2899835"/>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Purpose of Unit Testing</a:t>
            </a:r>
          </a:p>
        </p:txBody>
      </p:sp>
      <p:sp>
        <p:nvSpPr>
          <p:cNvPr id="3" name="object 5">
            <a:extLst>
              <a:ext uri="{FF2B5EF4-FFF2-40B4-BE49-F238E27FC236}">
                <a16:creationId xmlns:a16="http://schemas.microsoft.com/office/drawing/2014/main" id="{A9535595-621C-7C24-3CD6-BC9AF82D3CF8}"/>
              </a:ext>
            </a:extLst>
          </p:cNvPr>
          <p:cNvSpPr txBox="1"/>
          <p:nvPr/>
        </p:nvSpPr>
        <p:spPr>
          <a:xfrm>
            <a:off x="692174" y="3460145"/>
            <a:ext cx="10573667" cy="2551981"/>
          </a:xfrm>
          <a:prstGeom prst="rect">
            <a:avLst/>
          </a:prstGeom>
        </p:spPr>
        <p:txBody>
          <a:bodyPr vert="horz" wrap="square" lIns="0" tIns="12700" rIns="0" bIns="0" rtlCol="0">
            <a:spAutoFit/>
          </a:bodyPr>
          <a:lstStyle/>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Validation of Requirements</a:t>
            </a:r>
            <a:r>
              <a:rPr lang="en-US" sz="2000" dirty="0">
                <a:latin typeface="Times New Roman" panose="02020603050405020304" pitchFamily="18" charset="0"/>
                <a:cs typeface="Times New Roman" panose="02020603050405020304" pitchFamily="18" charset="0"/>
              </a:rPr>
              <a:t> – Ensure that software meets business and functional requirements.</a:t>
            </a:r>
          </a:p>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Clear Testing Process</a:t>
            </a:r>
            <a:r>
              <a:rPr lang="en-US" sz="2000" dirty="0">
                <a:latin typeface="Times New Roman" panose="02020603050405020304" pitchFamily="18" charset="0"/>
                <a:cs typeface="Times New Roman" panose="02020603050405020304" pitchFamily="18" charset="0"/>
              </a:rPr>
              <a:t> – Provide step-by-step guidance for testers to avoid ambiguity.</a:t>
            </a:r>
          </a:p>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Defect Identification</a:t>
            </a:r>
            <a:r>
              <a:rPr lang="en-US" sz="2000" dirty="0">
                <a:latin typeface="Times New Roman" panose="02020603050405020304" pitchFamily="18" charset="0"/>
                <a:cs typeface="Times New Roman" panose="02020603050405020304" pitchFamily="18" charset="0"/>
              </a:rPr>
              <a:t> – Help in detecting bugs early by systematically checking functionality.</a:t>
            </a:r>
          </a:p>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Knowledge Transfer</a:t>
            </a:r>
            <a:r>
              <a:rPr lang="en-US" sz="2000" dirty="0">
                <a:latin typeface="Times New Roman" panose="02020603050405020304" pitchFamily="18" charset="0"/>
                <a:cs typeface="Times New Roman" panose="02020603050405020304" pitchFamily="18" charset="0"/>
              </a:rPr>
              <a:t> – Test cases act as documentation, making it easier for new team members to understand testing.</a:t>
            </a:r>
          </a:p>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Traceability</a:t>
            </a:r>
            <a:r>
              <a:rPr lang="en-US" sz="2000" dirty="0">
                <a:latin typeface="Times New Roman" panose="02020603050405020304" pitchFamily="18" charset="0"/>
                <a:cs typeface="Times New Roman" panose="02020603050405020304" pitchFamily="18" charset="0"/>
              </a:rPr>
              <a:t> – Allow mapping of requirements to tests, ensuring no feature is left untested.</a:t>
            </a:r>
          </a:p>
          <a:p>
            <a:pPr marL="342900" indent="-342900">
              <a:spcBef>
                <a:spcPts val="300"/>
              </a:spcBef>
              <a:spcAft>
                <a:spcPts val="30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Regression Testing Support</a:t>
            </a:r>
            <a:r>
              <a:rPr lang="en-US" sz="2000" dirty="0">
                <a:latin typeface="Times New Roman" panose="02020603050405020304" pitchFamily="18" charset="0"/>
                <a:cs typeface="Times New Roman" panose="02020603050405020304" pitchFamily="18" charset="0"/>
              </a:rPr>
              <a:t> – Serve as reusable scripts for future testing when software is updated.</a:t>
            </a:r>
          </a:p>
        </p:txBody>
      </p:sp>
    </p:spTree>
    <p:extLst>
      <p:ext uri="{BB962C8B-B14F-4D97-AF65-F5344CB8AC3E}">
        <p14:creationId xmlns:p14="http://schemas.microsoft.com/office/powerpoint/2010/main" val="86403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E3136-2185-3E4E-7BC6-9B6CAD41E19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30CBF4D-7E3D-FCC1-3BE2-DB25044A705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The Flow of Test Case:</a:t>
            </a:r>
          </a:p>
        </p:txBody>
      </p:sp>
      <p:pic>
        <p:nvPicPr>
          <p:cNvPr id="7" name="Picture 6">
            <a:extLst>
              <a:ext uri="{FF2B5EF4-FFF2-40B4-BE49-F238E27FC236}">
                <a16:creationId xmlns:a16="http://schemas.microsoft.com/office/drawing/2014/main" id="{946EB623-B0A3-EF88-5D09-7F0664682D77}"/>
              </a:ext>
            </a:extLst>
          </p:cNvPr>
          <p:cNvPicPr>
            <a:picLocks noChangeAspect="1"/>
          </p:cNvPicPr>
          <p:nvPr/>
        </p:nvPicPr>
        <p:blipFill>
          <a:blip r:embed="rId3"/>
          <a:srcRect t="2664"/>
          <a:stretch>
            <a:fillRect/>
          </a:stretch>
        </p:blipFill>
        <p:spPr>
          <a:xfrm>
            <a:off x="692174" y="1594363"/>
            <a:ext cx="10807652" cy="3836077"/>
          </a:xfrm>
          <a:prstGeom prst="rect">
            <a:avLst/>
          </a:prstGeom>
          <a:ln>
            <a:solidFill>
              <a:schemeClr val="tx1"/>
            </a:solidFill>
          </a:ln>
        </p:spPr>
      </p:pic>
    </p:spTree>
    <p:extLst>
      <p:ext uri="{BB962C8B-B14F-4D97-AF65-F5344CB8AC3E}">
        <p14:creationId xmlns:p14="http://schemas.microsoft.com/office/powerpoint/2010/main" val="3616148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D4AA-F79D-3482-0330-55D810B3E53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78E0C6D-EE48-5FAB-A795-24AC0F4DEBFF}"/>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Types of Test Cases</a:t>
            </a:r>
          </a:p>
        </p:txBody>
      </p:sp>
      <p:sp>
        <p:nvSpPr>
          <p:cNvPr id="3" name="object 5">
            <a:extLst>
              <a:ext uri="{FF2B5EF4-FFF2-40B4-BE49-F238E27FC236}">
                <a16:creationId xmlns:a16="http://schemas.microsoft.com/office/drawing/2014/main" id="{5D602CC5-2529-DE11-2B96-0A098D1D6686}"/>
              </a:ext>
            </a:extLst>
          </p:cNvPr>
          <p:cNvSpPr txBox="1"/>
          <p:nvPr/>
        </p:nvSpPr>
        <p:spPr>
          <a:xfrm>
            <a:off x="692174" y="1265585"/>
            <a:ext cx="10573667" cy="4574137"/>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Functionality Test Cases</a:t>
            </a:r>
            <a:r>
              <a:rPr lang="en-US" sz="2000" dirty="0">
                <a:latin typeface="Times New Roman" panose="02020603050405020304" pitchFamily="18" charset="0"/>
                <a:cs typeface="Times New Roman" panose="02020603050405020304" pitchFamily="18" charset="0"/>
              </a:rPr>
              <a:t> – Verify that each feature works as expected.</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Performance Test Cases</a:t>
            </a:r>
            <a:r>
              <a:rPr lang="en-US" sz="2000" dirty="0">
                <a:latin typeface="Times New Roman" panose="02020603050405020304" pitchFamily="18" charset="0"/>
                <a:cs typeface="Times New Roman" panose="02020603050405020304" pitchFamily="18" charset="0"/>
              </a:rPr>
              <a:t> – Ensure speed, scalability, and stability meet requirements.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Unit Test Cases</a:t>
            </a:r>
            <a:r>
              <a:rPr lang="en-US" sz="2000" dirty="0">
                <a:latin typeface="Times New Roman" panose="02020603050405020304" pitchFamily="18" charset="0"/>
                <a:cs typeface="Times New Roman" panose="02020603050405020304" pitchFamily="18" charset="0"/>
              </a:rPr>
              <a:t> – Check individual modules, functions, or components.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UI Test Cases</a:t>
            </a:r>
            <a:r>
              <a:rPr lang="en-US" sz="2000" dirty="0">
                <a:latin typeface="Times New Roman" panose="02020603050405020304" pitchFamily="18" charset="0"/>
                <a:cs typeface="Times New Roman" panose="02020603050405020304" pitchFamily="18" charset="0"/>
              </a:rPr>
              <a:t> – Validate user interface elements for correct display and ease of use.</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Security Test Cases</a:t>
            </a:r>
            <a:r>
              <a:rPr lang="en-US" sz="2000" dirty="0">
                <a:latin typeface="Times New Roman" panose="02020603050405020304" pitchFamily="18" charset="0"/>
                <a:cs typeface="Times New Roman" panose="02020603050405020304" pitchFamily="18" charset="0"/>
              </a:rPr>
              <a:t> – Confirm protection against unauthorized access and data breaches.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Integration Test Cases</a:t>
            </a:r>
            <a:r>
              <a:rPr lang="en-US" sz="2000" dirty="0">
                <a:latin typeface="Times New Roman" panose="02020603050405020304" pitchFamily="18" charset="0"/>
                <a:cs typeface="Times New Roman" panose="02020603050405020304" pitchFamily="18" charset="0"/>
              </a:rPr>
              <a:t> – Verify smooth interaction between system modules.</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Database Test Cases</a:t>
            </a:r>
            <a:r>
              <a:rPr lang="en-US" sz="2000" dirty="0">
                <a:latin typeface="Times New Roman" panose="02020603050405020304" pitchFamily="18" charset="0"/>
                <a:cs typeface="Times New Roman" panose="02020603050405020304" pitchFamily="18" charset="0"/>
              </a:rPr>
              <a:t> – Ensure database integrity, performance, and business rule support.</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Usability Test Cases</a:t>
            </a:r>
            <a:r>
              <a:rPr lang="en-US" sz="2000" dirty="0">
                <a:latin typeface="Times New Roman" panose="02020603050405020304" pitchFamily="18" charset="0"/>
                <a:cs typeface="Times New Roman" panose="02020603050405020304" pitchFamily="18" charset="0"/>
              </a:rPr>
              <a:t> – Check if the system is user-friendly and easy to navigate.</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User Acceptance Test Cases</a:t>
            </a:r>
            <a:r>
              <a:rPr lang="en-US" sz="2000" dirty="0">
                <a:latin typeface="Times New Roman" panose="02020603050405020304" pitchFamily="18" charset="0"/>
                <a:cs typeface="Times New Roman" panose="02020603050405020304" pitchFamily="18" charset="0"/>
              </a:rPr>
              <a:t> – Confirm the system meets business requirements before release.</a:t>
            </a:r>
          </a:p>
          <a:p>
            <a:pPr marL="342900" indent="-342900">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Regression Test Cases</a:t>
            </a:r>
            <a:r>
              <a:rPr lang="en-US" sz="2000" dirty="0">
                <a:latin typeface="Times New Roman" panose="02020603050405020304" pitchFamily="18" charset="0"/>
                <a:cs typeface="Times New Roman" panose="02020603050405020304" pitchFamily="18" charset="0"/>
              </a:rPr>
              <a:t> – Ensure new changes do not break existing functionality.</a:t>
            </a:r>
          </a:p>
        </p:txBody>
      </p:sp>
    </p:spTree>
    <p:extLst>
      <p:ext uri="{BB962C8B-B14F-4D97-AF65-F5344CB8AC3E}">
        <p14:creationId xmlns:p14="http://schemas.microsoft.com/office/powerpoint/2010/main" val="1034476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IN" dirty="0">
                <a:latin typeface="Times New Roman" panose="02020603050405020304" pitchFamily="18" charset="0"/>
                <a:cs typeface="Times New Roman" panose="02020603050405020304" pitchFamily="18" charset="0"/>
              </a:rPr>
              <a:t>Parameters and </a:t>
            </a:r>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Structure of a Good Test Case</a:t>
            </a: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807652" cy="4574137"/>
          </a:xfrm>
          <a:prstGeom prst="rect">
            <a:avLst/>
          </a:prstGeom>
        </p:spPr>
        <p:txBody>
          <a:bodyPr vert="horz" wrap="square" lIns="0" tIns="12700" rIns="0" bIns="0" rtlCol="0">
            <a:spAutoFit/>
          </a:bodyPr>
          <a:lstStyle/>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Test Case ID:</a:t>
            </a:r>
            <a:r>
              <a:rPr lang="en-US" sz="2000" dirty="0">
                <a:latin typeface="Times New Roman" panose="02020603050405020304" pitchFamily="18" charset="0"/>
                <a:cs typeface="Times New Roman" panose="02020603050405020304" pitchFamily="18" charset="0"/>
              </a:rPr>
              <a:t> Unique number/code for easy tracking (e.g., TC001).</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Title/Description:</a:t>
            </a:r>
            <a:r>
              <a:rPr lang="en-US" sz="2000" dirty="0">
                <a:latin typeface="Times New Roman" panose="02020603050405020304" pitchFamily="18" charset="0"/>
                <a:cs typeface="Times New Roman" panose="02020603050405020304" pitchFamily="18" charset="0"/>
              </a:rPr>
              <a:t> Brief statement of what is being tested (e.g., "Login with valid credentials").</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Preconditions:</a:t>
            </a:r>
            <a:r>
              <a:rPr lang="en-US" sz="2000" dirty="0">
                <a:latin typeface="Times New Roman" panose="02020603050405020304" pitchFamily="18" charset="0"/>
                <a:cs typeface="Times New Roman" panose="02020603050405020304" pitchFamily="18" charset="0"/>
              </a:rPr>
              <a:t> Setup required before execution (e.g., user must be registered).</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Test Steps:</a:t>
            </a:r>
            <a:r>
              <a:rPr lang="en-US" sz="2000" dirty="0">
                <a:latin typeface="Times New Roman" panose="02020603050405020304" pitchFamily="18" charset="0"/>
                <a:cs typeface="Times New Roman" panose="02020603050405020304" pitchFamily="18" charset="0"/>
              </a:rPr>
              <a:t> Ordered sequence of actions (e.g., enter username, enter password, click login).</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Test Data:</a:t>
            </a:r>
            <a:r>
              <a:rPr lang="en-US" sz="2000" dirty="0">
                <a:latin typeface="Times New Roman" panose="02020603050405020304" pitchFamily="18" charset="0"/>
                <a:cs typeface="Times New Roman" panose="02020603050405020304" pitchFamily="18" charset="0"/>
              </a:rPr>
              <a:t> Input values, such as usernames, passwords, or form data.</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Expected Result:</a:t>
            </a:r>
            <a:r>
              <a:rPr lang="en-US" sz="2000" dirty="0">
                <a:latin typeface="Times New Roman" panose="02020603050405020304" pitchFamily="18" charset="0"/>
                <a:cs typeface="Times New Roman" panose="02020603050405020304" pitchFamily="18" charset="0"/>
              </a:rPr>
              <a:t> The correct outcome if the feature works as intended.</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Actual Result:</a:t>
            </a:r>
            <a:r>
              <a:rPr lang="en-US" sz="2000" dirty="0">
                <a:latin typeface="Times New Roman" panose="02020603050405020304" pitchFamily="18" charset="0"/>
                <a:cs typeface="Times New Roman" panose="02020603050405020304" pitchFamily="18" charset="0"/>
              </a:rPr>
              <a:t> Filled in after testing, recording what happened.</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Status (Pass/Fail):</a:t>
            </a:r>
            <a:r>
              <a:rPr lang="en-US" sz="2000" dirty="0">
                <a:latin typeface="Times New Roman" panose="02020603050405020304" pitchFamily="18" charset="0"/>
                <a:cs typeface="Times New Roman" panose="02020603050405020304" pitchFamily="18" charset="0"/>
              </a:rPr>
              <a:t> Indicates if the result matched expectations.</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Priority &amp; Severity (Optional):</a:t>
            </a:r>
            <a:r>
              <a:rPr lang="en-US" sz="2000" dirty="0">
                <a:latin typeface="Times New Roman" panose="02020603050405020304" pitchFamily="18" charset="0"/>
                <a:cs typeface="Times New Roman" panose="02020603050405020304" pitchFamily="18" charset="0"/>
              </a:rPr>
              <a:t> Indicates the importance of the test case and the seriousness of a failure.</a:t>
            </a:r>
          </a:p>
        </p:txBody>
      </p:sp>
    </p:spTree>
    <p:extLst>
      <p:ext uri="{BB962C8B-B14F-4D97-AF65-F5344CB8AC3E}">
        <p14:creationId xmlns:p14="http://schemas.microsoft.com/office/powerpoint/2010/main" val="1557459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24A3-DAE9-5D2A-A4A0-2B9795CFDF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72BDE3-4CBD-4D3C-23EE-EBE9D974C79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 of a Test Case (Login Feature)</a:t>
            </a:r>
          </a:p>
        </p:txBody>
      </p:sp>
      <p:graphicFrame>
        <p:nvGraphicFramePr>
          <p:cNvPr id="2" name="Table 1">
            <a:extLst>
              <a:ext uri="{FF2B5EF4-FFF2-40B4-BE49-F238E27FC236}">
                <a16:creationId xmlns:a16="http://schemas.microsoft.com/office/drawing/2014/main" id="{E17B8645-4FCA-12E8-FE32-682C6AA037A3}"/>
              </a:ext>
            </a:extLst>
          </p:cNvPr>
          <p:cNvGraphicFramePr>
            <a:graphicFrameLocks noGrp="1"/>
          </p:cNvGraphicFramePr>
          <p:nvPr/>
        </p:nvGraphicFramePr>
        <p:xfrm>
          <a:off x="692174" y="1253332"/>
          <a:ext cx="10212324" cy="4468838"/>
        </p:xfrm>
        <a:graphic>
          <a:graphicData uri="http://schemas.openxmlformats.org/drawingml/2006/table">
            <a:tbl>
              <a:tblPr/>
              <a:tblGrid>
                <a:gridCol w="3225891">
                  <a:extLst>
                    <a:ext uri="{9D8B030D-6E8A-4147-A177-3AD203B41FA5}">
                      <a16:colId xmlns:a16="http://schemas.microsoft.com/office/drawing/2014/main" val="2539474296"/>
                    </a:ext>
                  </a:extLst>
                </a:gridCol>
                <a:gridCol w="6986433">
                  <a:extLst>
                    <a:ext uri="{9D8B030D-6E8A-4147-A177-3AD203B41FA5}">
                      <a16:colId xmlns:a16="http://schemas.microsoft.com/office/drawing/2014/main" val="3952590710"/>
                    </a:ext>
                  </a:extLst>
                </a:gridCol>
              </a:tblGrid>
              <a:tr h="355211">
                <a:tc>
                  <a:txBody>
                    <a:bodyPr/>
                    <a:lstStyle/>
                    <a:p>
                      <a:pPr algn="ctr">
                        <a:buNone/>
                      </a:pPr>
                      <a:r>
                        <a:rPr lang="en-IN" sz="2000" b="1">
                          <a:solidFill>
                            <a:srgbClr val="0066CC"/>
                          </a:solidFill>
                          <a:latin typeface="Times New Roman" panose="02020603050405020304" pitchFamily="18" charset="0"/>
                          <a:cs typeface="Times New Roman" panose="02020603050405020304" pitchFamily="18" charset="0"/>
                        </a:rPr>
                        <a:t>Field</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2000" b="1" dirty="0">
                          <a:solidFill>
                            <a:srgbClr val="0066CC"/>
                          </a:solidFill>
                          <a:latin typeface="Times New Roman" panose="02020603050405020304" pitchFamily="18" charset="0"/>
                          <a:cs typeface="Times New Roman" panose="02020603050405020304" pitchFamily="18" charset="0"/>
                        </a:rPr>
                        <a:t>Description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1374492"/>
                  </a:ext>
                </a:extLst>
              </a:tr>
              <a:tr h="355211">
                <a:tc>
                  <a:txBody>
                    <a:bodyPr/>
                    <a:lstStyle/>
                    <a:p>
                      <a:pPr>
                        <a:buNone/>
                      </a:pPr>
                      <a:r>
                        <a:rPr lang="en-IN" sz="1800" b="1" dirty="0">
                          <a:latin typeface="Times New Roman" panose="02020603050405020304" pitchFamily="18" charset="0"/>
                          <a:cs typeface="Times New Roman" panose="02020603050405020304" pitchFamily="18" charset="0"/>
                        </a:rPr>
                        <a:t>Test Case ID</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800" dirty="0">
                          <a:latin typeface="Times New Roman" panose="02020603050405020304" pitchFamily="18" charset="0"/>
                          <a:cs typeface="Times New Roman" panose="02020603050405020304" pitchFamily="18" charset="0"/>
                        </a:rPr>
                        <a:t>TC001</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4676551"/>
                  </a:ext>
                </a:extLst>
              </a:tr>
              <a:tr h="355211">
                <a:tc>
                  <a:txBody>
                    <a:bodyPr/>
                    <a:lstStyle/>
                    <a:p>
                      <a:pPr>
                        <a:buNone/>
                      </a:pPr>
                      <a:r>
                        <a:rPr lang="en-IN" sz="1800" b="1" dirty="0">
                          <a:latin typeface="Times New Roman" panose="02020603050405020304" pitchFamily="18" charset="0"/>
                          <a:cs typeface="Times New Roman" panose="02020603050405020304" pitchFamily="18" charset="0"/>
                        </a:rPr>
                        <a:t>Title/Description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latin typeface="Times New Roman" panose="02020603050405020304" pitchFamily="18" charset="0"/>
                          <a:cs typeface="Times New Roman" panose="02020603050405020304" pitchFamily="18" charset="0"/>
                        </a:rPr>
                        <a:t>Verify login works with valid credentials</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1267436"/>
                  </a:ext>
                </a:extLst>
              </a:tr>
              <a:tr h="355211">
                <a:tc>
                  <a:txBody>
                    <a:bodyPr/>
                    <a:lstStyle/>
                    <a:p>
                      <a:pPr>
                        <a:buNone/>
                      </a:pPr>
                      <a:r>
                        <a:rPr lang="en-IN" sz="1800" b="1">
                          <a:latin typeface="Times New Roman" panose="02020603050405020304" pitchFamily="18" charset="0"/>
                          <a:cs typeface="Times New Roman" panose="02020603050405020304" pitchFamily="18" charset="0"/>
                        </a:rPr>
                        <a:t>Preconditions</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latin typeface="Times New Roman" panose="02020603050405020304" pitchFamily="18" charset="0"/>
                          <a:cs typeface="Times New Roman" panose="02020603050405020304" pitchFamily="18" charset="0"/>
                        </a:rPr>
                        <a:t>User must be registered and on the login page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4510849"/>
                  </a:ext>
                </a:extLst>
              </a:tr>
              <a:tr h="888028">
                <a:tc>
                  <a:txBody>
                    <a:bodyPr/>
                    <a:lstStyle/>
                    <a:p>
                      <a:pPr>
                        <a:buNone/>
                      </a:pPr>
                      <a:r>
                        <a:rPr lang="en-IN" sz="1800" b="1">
                          <a:latin typeface="Times New Roman" panose="02020603050405020304" pitchFamily="18" charset="0"/>
                          <a:cs typeface="Times New Roman" panose="02020603050405020304" pitchFamily="18" charset="0"/>
                        </a:rPr>
                        <a:t>Test Steps</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800" dirty="0">
                          <a:latin typeface="Times New Roman" panose="02020603050405020304" pitchFamily="18" charset="0"/>
                          <a:cs typeface="Times New Roman" panose="02020603050405020304" pitchFamily="18" charset="0"/>
                        </a:rPr>
                        <a:t>1. Enter valid username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 Enter valid password </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3. Click login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881277"/>
                  </a:ext>
                </a:extLst>
              </a:tr>
              <a:tr h="355211">
                <a:tc>
                  <a:txBody>
                    <a:bodyPr/>
                    <a:lstStyle/>
                    <a:p>
                      <a:pPr>
                        <a:buNone/>
                      </a:pPr>
                      <a:r>
                        <a:rPr lang="en-IN" sz="1800" b="1">
                          <a:latin typeface="Times New Roman" panose="02020603050405020304" pitchFamily="18" charset="0"/>
                          <a:cs typeface="Times New Roman" panose="02020603050405020304" pitchFamily="18" charset="0"/>
                        </a:rPr>
                        <a:t>Test Data</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800" dirty="0">
                          <a:latin typeface="Times New Roman" panose="02020603050405020304" pitchFamily="18" charset="0"/>
                          <a:cs typeface="Times New Roman" panose="02020603050405020304" pitchFamily="18" charset="0"/>
                        </a:rPr>
                        <a:t>Username: </a:t>
                      </a:r>
                      <a:r>
                        <a:rPr lang="en-IN" sz="1800" dirty="0" err="1">
                          <a:latin typeface="Times New Roman" panose="02020603050405020304" pitchFamily="18" charset="0"/>
                          <a:cs typeface="Times New Roman" panose="02020603050405020304" pitchFamily="18" charset="0"/>
                        </a:rPr>
                        <a:t>testuser</a:t>
                      </a:r>
                      <a:r>
                        <a:rPr lang="en-IN" sz="1800" dirty="0">
                          <a:latin typeface="Times New Roman" panose="02020603050405020304" pitchFamily="18" charset="0"/>
                          <a:cs typeface="Times New Roman" panose="02020603050405020304" pitchFamily="18" charset="0"/>
                        </a:rPr>
                        <a:t>, Password: Test@123</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013454"/>
                  </a:ext>
                </a:extLst>
              </a:tr>
              <a:tr h="621620">
                <a:tc>
                  <a:txBody>
                    <a:bodyPr/>
                    <a:lstStyle/>
                    <a:p>
                      <a:pPr>
                        <a:buNone/>
                      </a:pPr>
                      <a:r>
                        <a:rPr lang="en-IN" sz="1800" b="1">
                          <a:latin typeface="Times New Roman" panose="02020603050405020304" pitchFamily="18" charset="0"/>
                          <a:cs typeface="Times New Roman" panose="02020603050405020304" pitchFamily="18" charset="0"/>
                        </a:rPr>
                        <a:t>Expected Result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latin typeface="Times New Roman" panose="02020603050405020304" pitchFamily="18" charset="0"/>
                          <a:cs typeface="Times New Roman" panose="02020603050405020304" pitchFamily="18" charset="0"/>
                        </a:rPr>
                        <a:t>User is redirected to the dashboard with a welcome message</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8974572"/>
                  </a:ext>
                </a:extLst>
              </a:tr>
              <a:tr h="355211">
                <a:tc>
                  <a:txBody>
                    <a:bodyPr/>
                    <a:lstStyle/>
                    <a:p>
                      <a:pPr>
                        <a:buNone/>
                      </a:pPr>
                      <a:r>
                        <a:rPr lang="en-IN" sz="1800" b="1">
                          <a:latin typeface="Times New Roman" panose="02020603050405020304" pitchFamily="18" charset="0"/>
                          <a:cs typeface="Times New Roman" panose="02020603050405020304" pitchFamily="18" charset="0"/>
                        </a:rPr>
                        <a:t>Actual Result</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latin typeface="Times New Roman" panose="02020603050405020304" pitchFamily="18" charset="0"/>
                          <a:cs typeface="Times New Roman" panose="02020603050405020304" pitchFamily="18" charset="0"/>
                        </a:rPr>
                        <a:t>(To be filled after execution)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1584525"/>
                  </a:ext>
                </a:extLst>
              </a:tr>
              <a:tr h="355211">
                <a:tc>
                  <a:txBody>
                    <a:bodyPr/>
                    <a:lstStyle/>
                    <a:p>
                      <a:pPr>
                        <a:buNone/>
                      </a:pPr>
                      <a:r>
                        <a:rPr lang="en-IN" sz="1800" b="1">
                          <a:latin typeface="Times New Roman" panose="02020603050405020304" pitchFamily="18" charset="0"/>
                          <a:cs typeface="Times New Roman" panose="02020603050405020304" pitchFamily="18" charset="0"/>
                        </a:rPr>
                        <a:t>Status</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a:latin typeface="Times New Roman" panose="02020603050405020304" pitchFamily="18" charset="0"/>
                          <a:cs typeface="Times New Roman" panose="02020603050405020304" pitchFamily="18" charset="0"/>
                        </a:rPr>
                        <a:t>Pass/Fail (to be marked after execution)</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10109761"/>
                  </a:ext>
                </a:extLst>
              </a:tr>
              <a:tr h="355211">
                <a:tc>
                  <a:txBody>
                    <a:bodyPr/>
                    <a:lstStyle/>
                    <a:p>
                      <a:pPr>
                        <a:buNone/>
                      </a:pPr>
                      <a:r>
                        <a:rPr lang="en-IN" sz="1800" b="1" dirty="0">
                          <a:latin typeface="Times New Roman" panose="02020603050405020304" pitchFamily="18" charset="0"/>
                          <a:cs typeface="Times New Roman" panose="02020603050405020304" pitchFamily="18" charset="0"/>
                        </a:rPr>
                        <a:t>Priority</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800" dirty="0">
                          <a:latin typeface="Times New Roman" panose="02020603050405020304" pitchFamily="18" charset="0"/>
                          <a:cs typeface="Times New Roman" panose="02020603050405020304" pitchFamily="18" charset="0"/>
                        </a:rPr>
                        <a:t>High (as login is a critical functionality)</a:t>
                      </a:r>
                    </a:p>
                  </a:txBody>
                  <a:tcPr marL="88803" marR="88803" marT="44401" marB="44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930639"/>
                  </a:ext>
                </a:extLst>
              </a:tr>
            </a:tbl>
          </a:graphicData>
        </a:graphic>
      </p:graphicFrame>
    </p:spTree>
    <p:extLst>
      <p:ext uri="{BB962C8B-B14F-4D97-AF65-F5344CB8AC3E}">
        <p14:creationId xmlns:p14="http://schemas.microsoft.com/office/powerpoint/2010/main" val="9700532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1E2AE-0255-1352-E8D6-ACD12E04BE9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36A6F95-178E-F321-2F7B-34B9E1961F95}"/>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Best Practices for Writing Test Cases</a:t>
            </a:r>
          </a:p>
        </p:txBody>
      </p:sp>
      <p:sp>
        <p:nvSpPr>
          <p:cNvPr id="3" name="object 5">
            <a:extLst>
              <a:ext uri="{FF2B5EF4-FFF2-40B4-BE49-F238E27FC236}">
                <a16:creationId xmlns:a16="http://schemas.microsoft.com/office/drawing/2014/main" id="{849302C1-BDBF-E8D3-2A50-2089FA4E67E4}"/>
              </a:ext>
            </a:extLst>
          </p:cNvPr>
          <p:cNvSpPr txBox="1"/>
          <p:nvPr/>
        </p:nvSpPr>
        <p:spPr>
          <a:xfrm>
            <a:off x="692174" y="1322611"/>
            <a:ext cx="10807652" cy="4522841"/>
          </a:xfrm>
          <a:prstGeom prst="rect">
            <a:avLst/>
          </a:prstGeom>
        </p:spPr>
        <p:txBody>
          <a:bodyPr vert="horz" wrap="square" lIns="0" tIns="12700" rIns="0" bIns="0" rtlCol="0">
            <a:spAutoFit/>
          </a:bodyPr>
          <a:lstStyle/>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Write clear and unambiguous steps that any tester can follow.</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Cover both positive and negative test scenarios.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Use consistent naming conventions for test cases and IDs.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Ensure test data is realistic and varied.</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Break large test cases into smaller, modular cases.</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Link test cases to requirements (traceability matrix).</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Update test cases regularly as requirements evolve.</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Automate repetitive cases to save time and effort.</a:t>
            </a:r>
          </a:p>
          <a:p>
            <a:pPr marL="342900" indent="-342900">
              <a:lnSpc>
                <a:spcPct val="150000"/>
              </a:lnSpc>
              <a:spcBef>
                <a:spcPts val="200"/>
              </a:spcBef>
              <a:spcAft>
                <a:spcPts val="200"/>
              </a:spcAft>
              <a:buFont typeface="Arial" panose="020B0604020202020204" pitchFamily="34" charset="0"/>
              <a:buChar char="•"/>
              <a:defRPr sz="1800"/>
            </a:pPr>
            <a:r>
              <a:rPr lang="en-US" sz="2000" dirty="0">
                <a:latin typeface="Times New Roman" panose="02020603050405020304" pitchFamily="18" charset="0"/>
                <a:cs typeface="Times New Roman" panose="02020603050405020304" pitchFamily="18" charset="0"/>
              </a:rPr>
              <a:t>Prioritize test cases based on business importance (critical functionalities tested first).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52479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251C-049F-9914-C087-AB5C298EB64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6068536-424A-D50D-21C9-0D4E9278483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Benefits of Well-Written Test Cases</a:t>
            </a:r>
          </a:p>
        </p:txBody>
      </p:sp>
      <p:sp>
        <p:nvSpPr>
          <p:cNvPr id="3" name="object 5">
            <a:extLst>
              <a:ext uri="{FF2B5EF4-FFF2-40B4-BE49-F238E27FC236}">
                <a16:creationId xmlns:a16="http://schemas.microsoft.com/office/drawing/2014/main" id="{7B886C4F-9401-95D4-D9B3-265E7920AE30}"/>
              </a:ext>
            </a:extLst>
          </p:cNvPr>
          <p:cNvSpPr txBox="1"/>
          <p:nvPr/>
        </p:nvSpPr>
        <p:spPr>
          <a:xfrm>
            <a:off x="692174" y="1322611"/>
            <a:ext cx="10081121" cy="3650808"/>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Provide a </a:t>
            </a:r>
            <a:r>
              <a:rPr lang="en-US" sz="2000" b="1" dirty="0">
                <a:latin typeface="Times New Roman" panose="02020603050405020304" pitchFamily="18" charset="0"/>
                <a:cs typeface="Times New Roman" panose="02020603050405020304" pitchFamily="18" charset="0"/>
              </a:rPr>
              <a:t>systematic and repeatable</a:t>
            </a:r>
            <a:r>
              <a:rPr lang="en-US" sz="2000" dirty="0">
                <a:latin typeface="Times New Roman" panose="02020603050405020304" pitchFamily="18" charset="0"/>
                <a:cs typeface="Times New Roman" panose="02020603050405020304" pitchFamily="18" charset="0"/>
              </a:rPr>
              <a:t> way to test software.</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Help ensure </a:t>
            </a:r>
            <a:r>
              <a:rPr lang="en-US" sz="2000" b="1" dirty="0">
                <a:latin typeface="Times New Roman" panose="02020603050405020304" pitchFamily="18" charset="0"/>
                <a:cs typeface="Times New Roman" panose="02020603050405020304" pitchFamily="18" charset="0"/>
              </a:rPr>
              <a:t>completeness of testing</a:t>
            </a:r>
            <a:r>
              <a:rPr lang="en-US" sz="2000" dirty="0">
                <a:latin typeface="Times New Roman" panose="02020603050405020304" pitchFamily="18" charset="0"/>
                <a:cs typeface="Times New Roman" panose="02020603050405020304" pitchFamily="18" charset="0"/>
              </a:rPr>
              <a:t> by covering all scenarios.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 </a:t>
            </a:r>
            <a:r>
              <a:rPr lang="en-US" sz="2000" b="1" dirty="0">
                <a:latin typeface="Times New Roman" panose="02020603050405020304" pitchFamily="18" charset="0"/>
                <a:cs typeface="Times New Roman" panose="02020603050405020304" pitchFamily="18" charset="0"/>
              </a:rPr>
              <a:t>software quality</a:t>
            </a:r>
            <a:r>
              <a:rPr lang="en-US" sz="2000" dirty="0">
                <a:latin typeface="Times New Roman" panose="02020603050405020304" pitchFamily="18" charset="0"/>
                <a:cs typeface="Times New Roman" panose="02020603050405020304" pitchFamily="18" charset="0"/>
              </a:rPr>
              <a:t> by reducing missed bugs.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Save time during regression testing since old test cases can be reused.</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 as </a:t>
            </a:r>
            <a:r>
              <a:rPr lang="en-US" sz="2000" b="1" dirty="0">
                <a:latin typeface="Times New Roman" panose="02020603050405020304" pitchFamily="18" charset="0"/>
                <a:cs typeface="Times New Roman" panose="02020603050405020304" pitchFamily="18" charset="0"/>
              </a:rPr>
              <a:t>reference documentation</a:t>
            </a:r>
            <a:r>
              <a:rPr lang="en-US" sz="2000" dirty="0">
                <a:latin typeface="Times New Roman" panose="02020603050405020304" pitchFamily="18" charset="0"/>
                <a:cs typeface="Times New Roman" panose="02020603050405020304" pitchFamily="18" charset="0"/>
              </a:rPr>
              <a:t> for developers, testers, and auditors.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 easier </a:t>
            </a:r>
            <a:r>
              <a:rPr lang="en-US" sz="2000" b="1" dirty="0">
                <a:latin typeface="Times New Roman" panose="02020603050405020304" pitchFamily="18" charset="0"/>
                <a:cs typeface="Times New Roman" panose="02020603050405020304" pitchFamily="18" charset="0"/>
              </a:rPr>
              <a:t>onboarding</a:t>
            </a:r>
            <a:r>
              <a:rPr lang="en-US" sz="2000" dirty="0">
                <a:latin typeface="Times New Roman" panose="02020603050405020304" pitchFamily="18" charset="0"/>
                <a:cs typeface="Times New Roman" panose="02020603050405020304" pitchFamily="18" charset="0"/>
              </a:rPr>
              <a:t> of new testers who can execute existing cases without prior knowledge of the system.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Increase </a:t>
            </a:r>
            <a:r>
              <a:rPr lang="en-US" sz="2000" b="1" dirty="0">
                <a:latin typeface="Times New Roman" panose="02020603050405020304" pitchFamily="18" charset="0"/>
                <a:cs typeface="Times New Roman" panose="02020603050405020304" pitchFamily="18" charset="0"/>
              </a:rPr>
              <a:t>customer satisfaction</a:t>
            </a:r>
            <a:r>
              <a:rPr lang="en-US" sz="2000" dirty="0">
                <a:latin typeface="Times New Roman" panose="02020603050405020304" pitchFamily="18" charset="0"/>
                <a:cs typeface="Times New Roman" panose="02020603050405020304" pitchFamily="18" charset="0"/>
              </a:rPr>
              <a:t> as thoroughly tested software is more reliable.</a:t>
            </a:r>
          </a:p>
        </p:txBody>
      </p:sp>
    </p:spTree>
    <p:extLst>
      <p:ext uri="{BB962C8B-B14F-4D97-AF65-F5344CB8AC3E}">
        <p14:creationId xmlns:p14="http://schemas.microsoft.com/office/powerpoint/2010/main" val="536317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D0D79-F28E-B31C-5975-A0D3CC86F351}"/>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6BD8E18F-D085-9361-725E-1F55F72D2DDD}"/>
              </a:ext>
            </a:extLst>
          </p:cNvPr>
          <p:cNvSpPr txBox="1">
            <a:spLocks/>
          </p:cNvSpPr>
          <p:nvPr/>
        </p:nvSpPr>
        <p:spPr>
          <a:xfrm>
            <a:off x="1172385" y="1937218"/>
            <a:ext cx="10532918" cy="1292678"/>
          </a:xfrm>
          <a:prstGeom prst="rect">
            <a:avLst/>
          </a:prstGeom>
        </p:spPr>
        <p:txBody>
          <a:bodyPr vert="horz" lIns="0" tIns="0" rIns="0" bIns="0" rtlCol="0" anchor="ctr" anchorCtr="0">
            <a:normAutofit/>
          </a:bodyPr>
          <a:lstStyle>
            <a:lvl1pPr algn="ctr" defTabSz="914400" rtl="0" eaLnBrk="1" latinLnBrk="0" hangingPunct="1">
              <a:lnSpc>
                <a:spcPct val="90000"/>
              </a:lnSpc>
              <a:spcBef>
                <a:spcPct val="0"/>
              </a:spcBef>
              <a:buNone/>
              <a:defRPr sz="4800" b="1" i="0" kern="1200">
                <a:solidFill>
                  <a:schemeClr val="bg1"/>
                </a:solidFill>
                <a:latin typeface="Arial" charset="0"/>
                <a:ea typeface="Arial" charset="0"/>
                <a:cs typeface="Arial" charset="0"/>
              </a:defRPr>
            </a:lvl1pPr>
          </a:lstStyle>
          <a:p>
            <a:pPr algn="l"/>
            <a:r>
              <a:rPr lang="en-US" dirty="0"/>
              <a:t>Debugging in Software Engineering</a:t>
            </a:r>
          </a:p>
        </p:txBody>
      </p:sp>
    </p:spTree>
    <p:extLst>
      <p:ext uri="{BB962C8B-B14F-4D97-AF65-F5344CB8AC3E}">
        <p14:creationId xmlns:p14="http://schemas.microsoft.com/office/powerpoint/2010/main" val="3995278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5">
            <a:extLst>
              <a:ext uri="{FF2B5EF4-FFF2-40B4-BE49-F238E27FC236}">
                <a16:creationId xmlns:a16="http://schemas.microsoft.com/office/drawing/2014/main" id="{0BAA2AD5-466B-61DB-B32C-5B3F931C1083}"/>
              </a:ext>
            </a:extLst>
          </p:cNvPr>
          <p:cNvSpPr txBox="1"/>
          <p:nvPr/>
        </p:nvSpPr>
        <p:spPr>
          <a:xfrm>
            <a:off x="692174" y="1176000"/>
            <a:ext cx="10573667" cy="1342483"/>
          </a:xfrm>
          <a:prstGeom prst="rect">
            <a:avLst/>
          </a:prstGeom>
        </p:spPr>
        <p:txBody>
          <a:bodyPr vert="horz" wrap="square" lIns="0" tIns="12700" rIns="0" bIns="0" rtlCol="0">
            <a:spAutoFit/>
          </a:bodyPr>
          <a:lstStyle/>
          <a:p>
            <a:pPr>
              <a:lnSpc>
                <a:spcPct val="150000"/>
              </a:lnSpc>
              <a:spcBef>
                <a:spcPts val="300"/>
              </a:spcBef>
              <a:spcAft>
                <a:spcPts val="300"/>
              </a:spcAft>
              <a:defRPr sz="1800"/>
            </a:pPr>
            <a:r>
              <a:rPr lang="en-US" sz="2000" dirty="0">
                <a:latin typeface="Times New Roman" panose="02020603050405020304" pitchFamily="18" charset="0"/>
                <a:cs typeface="Times New Roman" panose="02020603050405020304" pitchFamily="18" charset="0"/>
              </a:rPr>
              <a:t>Debugging is the systematic process of identifying, analyzing, and resolving bugs or defects in software. It ensures that the application behaves as expected and meets its requirements by correcting errors that appear during development or after deployment.</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01C015DD-7676-77C5-A631-890298ED346C}"/>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What is Debugging?</a:t>
            </a:r>
          </a:p>
        </p:txBody>
      </p:sp>
      <p:sp>
        <p:nvSpPr>
          <p:cNvPr id="2" name="Title 1">
            <a:extLst>
              <a:ext uri="{FF2B5EF4-FFF2-40B4-BE49-F238E27FC236}">
                <a16:creationId xmlns:a16="http://schemas.microsoft.com/office/drawing/2014/main" id="{76E83440-B62A-578B-9F85-369B6E59B943}"/>
              </a:ext>
            </a:extLst>
          </p:cNvPr>
          <p:cNvSpPr txBox="1">
            <a:spLocks/>
          </p:cNvSpPr>
          <p:nvPr/>
        </p:nvSpPr>
        <p:spPr>
          <a:xfrm>
            <a:off x="692174" y="2769070"/>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Process of Debugging</a:t>
            </a:r>
          </a:p>
        </p:txBody>
      </p:sp>
      <p:sp>
        <p:nvSpPr>
          <p:cNvPr id="3" name="object 5">
            <a:extLst>
              <a:ext uri="{FF2B5EF4-FFF2-40B4-BE49-F238E27FC236}">
                <a16:creationId xmlns:a16="http://schemas.microsoft.com/office/drawing/2014/main" id="{A9535595-621C-7C24-3CD6-BC9AF82D3CF8}"/>
              </a:ext>
            </a:extLst>
          </p:cNvPr>
          <p:cNvSpPr txBox="1"/>
          <p:nvPr/>
        </p:nvSpPr>
        <p:spPr>
          <a:xfrm>
            <a:off x="692174" y="3460145"/>
            <a:ext cx="10573667" cy="2244204"/>
          </a:xfrm>
          <a:prstGeom prst="rect">
            <a:avLst/>
          </a:prstGeom>
        </p:spPr>
        <p:txBody>
          <a:bodyPr vert="horz" wrap="square" lIns="0" tIns="12700" rIns="0" bIns="0" rtlCol="0">
            <a:spAutoFit/>
          </a:bodyPr>
          <a:lstStyle/>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Identify the Problem </a:t>
            </a:r>
            <a:r>
              <a:rPr lang="en-US" sz="2000" dirty="0">
                <a:latin typeface="Times New Roman" panose="02020603050405020304" pitchFamily="18" charset="0"/>
                <a:cs typeface="Times New Roman" panose="02020603050405020304" pitchFamily="18" charset="0"/>
              </a:rPr>
              <a:t>– Detect abnormal behavior or failure.</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Reproduce the Bug </a:t>
            </a:r>
            <a:r>
              <a:rPr lang="en-US" sz="2000" dirty="0">
                <a:latin typeface="Times New Roman" panose="02020603050405020304" pitchFamily="18" charset="0"/>
                <a:cs typeface="Times New Roman" panose="02020603050405020304" pitchFamily="18" charset="0"/>
              </a:rPr>
              <a:t>– Consistently recreate the error for analysis.</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Analyze the Code </a:t>
            </a:r>
            <a:r>
              <a:rPr lang="en-US" sz="2000" dirty="0">
                <a:latin typeface="Times New Roman" panose="02020603050405020304" pitchFamily="18" charset="0"/>
                <a:cs typeface="Times New Roman" panose="02020603050405020304" pitchFamily="18" charset="0"/>
              </a:rPr>
              <a:t>– Investigate the logic, inputs, and outputs.</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Isolate the Error </a:t>
            </a:r>
            <a:r>
              <a:rPr lang="en-US" sz="2000" dirty="0">
                <a:latin typeface="Times New Roman" panose="02020603050405020304" pitchFamily="18" charset="0"/>
                <a:cs typeface="Times New Roman" panose="02020603050405020304" pitchFamily="18" charset="0"/>
              </a:rPr>
              <a:t>– Narrow down the specific faulty section.</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Fix the Issue </a:t>
            </a:r>
            <a:r>
              <a:rPr lang="en-US" sz="2000" dirty="0">
                <a:latin typeface="Times New Roman" panose="02020603050405020304" pitchFamily="18" charset="0"/>
                <a:cs typeface="Times New Roman" panose="02020603050405020304" pitchFamily="18" charset="0"/>
              </a:rPr>
              <a:t>– Correct the code or configuration.</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Test Again </a:t>
            </a:r>
            <a:r>
              <a:rPr lang="en-US" sz="2000" dirty="0">
                <a:latin typeface="Times New Roman" panose="02020603050405020304" pitchFamily="18" charset="0"/>
                <a:cs typeface="Times New Roman" panose="02020603050405020304" pitchFamily="18" charset="0"/>
              </a:rPr>
              <a:t>– Verify that the bug is fixed and no new issues occur.</a:t>
            </a:r>
          </a:p>
        </p:txBody>
      </p:sp>
    </p:spTree>
    <p:extLst>
      <p:ext uri="{BB962C8B-B14F-4D97-AF65-F5344CB8AC3E}">
        <p14:creationId xmlns:p14="http://schemas.microsoft.com/office/powerpoint/2010/main" val="2784972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3DC2D-9A9A-F19D-F138-35CF2E9462DB}"/>
            </a:ext>
          </a:extLst>
        </p:cNvPr>
        <p:cNvGrpSpPr/>
        <p:nvPr/>
      </p:nvGrpSpPr>
      <p:grpSpPr>
        <a:xfrm>
          <a:off x="0" y="0"/>
          <a:ext cx="0" cy="0"/>
          <a:chOff x="0" y="0"/>
          <a:chExt cx="0" cy="0"/>
        </a:xfrm>
      </p:grpSpPr>
      <p:sp>
        <p:nvSpPr>
          <p:cNvPr id="16" name="object 5">
            <a:extLst>
              <a:ext uri="{FF2B5EF4-FFF2-40B4-BE49-F238E27FC236}">
                <a16:creationId xmlns:a16="http://schemas.microsoft.com/office/drawing/2014/main" id="{CC3D86E8-6AC4-714B-7B0B-7E861D3AADCB}"/>
              </a:ext>
            </a:extLst>
          </p:cNvPr>
          <p:cNvSpPr txBox="1"/>
          <p:nvPr/>
        </p:nvSpPr>
        <p:spPr>
          <a:xfrm>
            <a:off x="692174" y="1176000"/>
            <a:ext cx="10573667" cy="1342483"/>
          </a:xfrm>
          <a:prstGeom prst="rect">
            <a:avLst/>
          </a:prstGeom>
        </p:spPr>
        <p:txBody>
          <a:bodyPr vert="horz" wrap="square" lIns="0" tIns="12700" rIns="0" bIns="0" rtlCol="0">
            <a:spAutoFit/>
          </a:bodyPr>
          <a:lstStyle/>
          <a:p>
            <a:pPr>
              <a:lnSpc>
                <a:spcPct val="150000"/>
              </a:lnSpc>
              <a:spcBef>
                <a:spcPts val="300"/>
              </a:spcBef>
              <a:spcAft>
                <a:spcPts val="300"/>
              </a:spcAft>
              <a:defRPr sz="1800"/>
            </a:pPr>
            <a:r>
              <a:rPr lang="en-US" sz="2000" dirty="0">
                <a:latin typeface="Times New Roman" panose="02020603050405020304" pitchFamily="18" charset="0"/>
                <a:cs typeface="Times New Roman" panose="02020603050405020304" pitchFamily="18" charset="0"/>
              </a:rPr>
              <a:t>Debugging is essential because it improves software quality, performance, and user satisfaction. It helps developers maintain reliability, ensures smooth functioning, reduces downtime, and prevents costly system failures.</a:t>
            </a:r>
            <a:endParaRPr lang="en-IN" sz="20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1BCA2CB6-9D5B-5D0C-7C5B-DEA7A407A36E}"/>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Why is Debugging Important?</a:t>
            </a:r>
          </a:p>
        </p:txBody>
      </p:sp>
      <p:sp>
        <p:nvSpPr>
          <p:cNvPr id="2" name="Title 1">
            <a:extLst>
              <a:ext uri="{FF2B5EF4-FFF2-40B4-BE49-F238E27FC236}">
                <a16:creationId xmlns:a16="http://schemas.microsoft.com/office/drawing/2014/main" id="{27A5201D-477B-658B-70F5-018BCBEB3383}"/>
              </a:ext>
            </a:extLst>
          </p:cNvPr>
          <p:cNvSpPr txBox="1">
            <a:spLocks/>
          </p:cNvSpPr>
          <p:nvPr/>
        </p:nvSpPr>
        <p:spPr>
          <a:xfrm>
            <a:off x="692174" y="2769070"/>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Debugging Approaches/Strategies</a:t>
            </a:r>
          </a:p>
        </p:txBody>
      </p:sp>
      <p:sp>
        <p:nvSpPr>
          <p:cNvPr id="3" name="object 5">
            <a:extLst>
              <a:ext uri="{FF2B5EF4-FFF2-40B4-BE49-F238E27FC236}">
                <a16:creationId xmlns:a16="http://schemas.microsoft.com/office/drawing/2014/main" id="{50ADA391-64C5-D181-ED71-96E183575E41}"/>
              </a:ext>
            </a:extLst>
          </p:cNvPr>
          <p:cNvSpPr txBox="1"/>
          <p:nvPr/>
        </p:nvSpPr>
        <p:spPr>
          <a:xfrm>
            <a:off x="692174" y="3460145"/>
            <a:ext cx="10573667" cy="1859483"/>
          </a:xfrm>
          <a:prstGeom prst="rect">
            <a:avLst/>
          </a:prstGeom>
        </p:spPr>
        <p:txBody>
          <a:bodyPr vert="horz" wrap="square" lIns="0" tIns="12700" rIns="0" bIns="0" rtlCol="0">
            <a:spAutoFit/>
          </a:bodyPr>
          <a:lstStyle/>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Brute Force </a:t>
            </a:r>
            <a:r>
              <a:rPr lang="en-US" sz="2000" dirty="0">
                <a:latin typeface="Times New Roman" panose="02020603050405020304" pitchFamily="18" charset="0"/>
                <a:cs typeface="Times New Roman" panose="02020603050405020304" pitchFamily="18" charset="0"/>
              </a:rPr>
              <a:t>– Using print/log statements to check values.</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Backtracking</a:t>
            </a:r>
            <a:r>
              <a:rPr lang="en-US" sz="2000" dirty="0">
                <a:latin typeface="Times New Roman" panose="02020603050405020304" pitchFamily="18" charset="0"/>
                <a:cs typeface="Times New Roman" panose="02020603050405020304" pitchFamily="18" charset="0"/>
              </a:rPr>
              <a:t> – Tracing back from the point of failure to locate the error.</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Cause Elimination </a:t>
            </a:r>
            <a:r>
              <a:rPr lang="en-US" sz="2000" dirty="0">
                <a:latin typeface="Times New Roman" panose="02020603050405020304" pitchFamily="18" charset="0"/>
                <a:cs typeface="Times New Roman" panose="02020603050405020304" pitchFamily="18" charset="0"/>
              </a:rPr>
              <a:t>– Systematically eliminating possible causes until the bug is found.</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Binary Search (Divide &amp; Conquer) </a:t>
            </a:r>
            <a:r>
              <a:rPr lang="en-US" sz="2000" dirty="0">
                <a:latin typeface="Times New Roman" panose="02020603050405020304" pitchFamily="18" charset="0"/>
                <a:cs typeface="Times New Roman" panose="02020603050405020304" pitchFamily="18" charset="0"/>
              </a:rPr>
              <a:t>– Breaking down the program to isolate faulty sections.</a:t>
            </a:r>
          </a:p>
          <a:p>
            <a:pPr marL="457200" indent="-457200">
              <a:spcBef>
                <a:spcPts val="300"/>
              </a:spcBef>
              <a:spcAft>
                <a:spcPts val="300"/>
              </a:spcAft>
              <a:buFont typeface="+mj-lt"/>
              <a:buAutoNum type="arabicParenR"/>
            </a:pPr>
            <a:r>
              <a:rPr lang="en-US" sz="2000" b="1" dirty="0">
                <a:solidFill>
                  <a:srgbClr val="0066CC"/>
                </a:solidFill>
                <a:latin typeface="Times New Roman" panose="02020603050405020304" pitchFamily="18" charset="0"/>
                <a:cs typeface="Times New Roman" panose="02020603050405020304" pitchFamily="18" charset="0"/>
              </a:rPr>
              <a:t>Automated Tools </a:t>
            </a:r>
            <a:r>
              <a:rPr lang="en-US" sz="2000" dirty="0">
                <a:latin typeface="Times New Roman" panose="02020603050405020304" pitchFamily="18" charset="0"/>
                <a:cs typeface="Times New Roman" panose="02020603050405020304" pitchFamily="18" charset="0"/>
              </a:rPr>
              <a:t>– Using debuggers, analyzers, and profilers to speed up detection.</a:t>
            </a:r>
          </a:p>
        </p:txBody>
      </p:sp>
    </p:spTree>
    <p:extLst>
      <p:ext uri="{BB962C8B-B14F-4D97-AF65-F5344CB8AC3E}">
        <p14:creationId xmlns:p14="http://schemas.microsoft.com/office/powerpoint/2010/main" val="2414570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4D4AA-F79D-3482-0330-55D810B3E53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78E0C6D-EE48-5FAB-A795-24AC0F4DEBFF}"/>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Examples of Errors During Debugging</a:t>
            </a:r>
          </a:p>
        </p:txBody>
      </p:sp>
      <p:sp>
        <p:nvSpPr>
          <p:cNvPr id="3" name="object 5">
            <a:extLst>
              <a:ext uri="{FF2B5EF4-FFF2-40B4-BE49-F238E27FC236}">
                <a16:creationId xmlns:a16="http://schemas.microsoft.com/office/drawing/2014/main" id="{5D602CC5-2529-DE11-2B96-0A098D1D6686}"/>
              </a:ext>
            </a:extLst>
          </p:cNvPr>
          <p:cNvSpPr txBox="1"/>
          <p:nvPr/>
        </p:nvSpPr>
        <p:spPr>
          <a:xfrm>
            <a:off x="692174" y="1265585"/>
            <a:ext cx="10573667" cy="4983416"/>
          </a:xfrm>
          <a:prstGeom prst="rect">
            <a:avLst/>
          </a:prstGeom>
        </p:spPr>
        <p:txBody>
          <a:bodyPr vert="horz" wrap="square" lIns="0" tIns="12700" rIns="0" bIns="0" rtlCol="0">
            <a:spAutoFit/>
          </a:bodyPr>
          <a:lstStyle/>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Syntax Errors </a:t>
            </a:r>
            <a:r>
              <a:rPr lang="en-US" dirty="0">
                <a:latin typeface="Times New Roman" panose="02020603050405020304" pitchFamily="18" charset="0"/>
                <a:cs typeface="Times New Roman" panose="02020603050405020304" pitchFamily="18" charset="0"/>
              </a:rPr>
              <a:t>– Mistakes in code grammar, such as missing semicolons, wrong indentation, unmatched brackets, or misspelled keywords.</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Logical Errors </a:t>
            </a:r>
            <a:r>
              <a:rPr lang="en-US" dirty="0">
                <a:latin typeface="Times New Roman" panose="02020603050405020304" pitchFamily="18" charset="0"/>
                <a:cs typeface="Times New Roman" panose="02020603050405020304" pitchFamily="18" charset="0"/>
              </a:rPr>
              <a:t>– The program runs but produces wrong results, e.g., using &gt; instead of &lt;, incorrect formulas, or misplaced conditions.</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Runtime Errors </a:t>
            </a:r>
            <a:r>
              <a:rPr lang="en-US" dirty="0">
                <a:latin typeface="Times New Roman" panose="02020603050405020304" pitchFamily="18" charset="0"/>
                <a:cs typeface="Times New Roman" panose="02020603050405020304" pitchFamily="18" charset="0"/>
              </a:rPr>
              <a:t>– Errors that occur while the program is running, such as division by zero, null pointer exceptions, or file not found.</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Memory Errors </a:t>
            </a:r>
            <a:r>
              <a:rPr lang="en-US" dirty="0">
                <a:latin typeface="Times New Roman" panose="02020603050405020304" pitchFamily="18" charset="0"/>
                <a:cs typeface="Times New Roman" panose="02020603050405020304" pitchFamily="18" charset="0"/>
              </a:rPr>
              <a:t>– Issues like memory leaks, buffer overflows, dangling pointers, or incorrect memory allocation.</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Integration Errors </a:t>
            </a:r>
            <a:r>
              <a:rPr lang="en-US" dirty="0">
                <a:latin typeface="Times New Roman" panose="02020603050405020304" pitchFamily="18" charset="0"/>
                <a:cs typeface="Times New Roman" panose="02020603050405020304" pitchFamily="18" charset="0"/>
              </a:rPr>
              <a:t>– Failures when combining different modules or systems due to mismatched interfaces or incompatible data formats.</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Compilation Errors </a:t>
            </a:r>
            <a:r>
              <a:rPr lang="en-US" dirty="0">
                <a:latin typeface="Times New Roman" panose="02020603050405020304" pitchFamily="18" charset="0"/>
                <a:cs typeface="Times New Roman" panose="02020603050405020304" pitchFamily="18" charset="0"/>
              </a:rPr>
              <a:t>– Errors found by the compiler, like undeclared variables, type mismatches, or missing libraries.</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Configuration Errors </a:t>
            </a:r>
            <a:r>
              <a:rPr lang="en-US" dirty="0">
                <a:latin typeface="Times New Roman" panose="02020603050405020304" pitchFamily="18" charset="0"/>
                <a:cs typeface="Times New Roman" panose="02020603050405020304" pitchFamily="18" charset="0"/>
              </a:rPr>
              <a:t>– Wrong setup of environment, paths, or dependencies, e.g., missing config files or incorrect database connection strings.</a:t>
            </a:r>
          </a:p>
          <a:p>
            <a:pPr marL="342900" indent="-342900">
              <a:spcBef>
                <a:spcPts val="600"/>
              </a:spcBef>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Handling Errors </a:t>
            </a:r>
            <a:r>
              <a:rPr lang="en-US" dirty="0">
                <a:latin typeface="Times New Roman" panose="02020603050405020304" pitchFamily="18" charset="0"/>
                <a:cs typeface="Times New Roman" panose="02020603050405020304" pitchFamily="18" charset="0"/>
              </a:rPr>
              <a:t>– Wrong parsing, formatting, or transformation of data, like incorrect date formats or locale mismatches.</a:t>
            </a:r>
          </a:p>
        </p:txBody>
      </p:sp>
    </p:spTree>
    <p:extLst>
      <p:ext uri="{BB962C8B-B14F-4D97-AF65-F5344CB8AC3E}">
        <p14:creationId xmlns:p14="http://schemas.microsoft.com/office/powerpoint/2010/main" val="3749724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702E-07AE-70E9-EB11-9E721BEE3D7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F01E1AF-273A-9EB4-BDBA-C7D8A3E432EB}"/>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IN" dirty="0">
                <a:latin typeface="Times New Roman" panose="02020603050405020304" pitchFamily="18" charset="0"/>
                <a:cs typeface="Times New Roman" panose="02020603050405020304" pitchFamily="18" charset="0"/>
              </a:rPr>
              <a:t>Debugging Tools</a:t>
            </a:r>
            <a:endPar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endParaRPr>
          </a:p>
        </p:txBody>
      </p:sp>
      <p:sp>
        <p:nvSpPr>
          <p:cNvPr id="3" name="object 5">
            <a:extLst>
              <a:ext uri="{FF2B5EF4-FFF2-40B4-BE49-F238E27FC236}">
                <a16:creationId xmlns:a16="http://schemas.microsoft.com/office/drawing/2014/main" id="{33FE1551-5048-9F12-2E51-5D6F3236A362}"/>
              </a:ext>
            </a:extLst>
          </p:cNvPr>
          <p:cNvSpPr txBox="1"/>
          <p:nvPr/>
        </p:nvSpPr>
        <p:spPr>
          <a:xfrm>
            <a:off x="692174" y="1322611"/>
            <a:ext cx="10807652" cy="2727478"/>
          </a:xfrm>
          <a:prstGeom prst="rect">
            <a:avLst/>
          </a:prstGeom>
        </p:spPr>
        <p:txBody>
          <a:bodyPr vert="horz" wrap="square" lIns="0" tIns="12700" rIns="0" bIns="0" rtlCol="0">
            <a:spAutoFit/>
          </a:bodyPr>
          <a:lstStyle/>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GDB (GNU Debugger) – </a:t>
            </a:r>
            <a:r>
              <a:rPr lang="en-US" sz="2000" dirty="0">
                <a:latin typeface="Times New Roman" panose="02020603050405020304" pitchFamily="18" charset="0"/>
                <a:cs typeface="Times New Roman" panose="02020603050405020304" pitchFamily="18" charset="0"/>
              </a:rPr>
              <a:t>for C/C++ programs.</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PDB (Python Debugger) – </a:t>
            </a:r>
            <a:r>
              <a:rPr lang="en-US" sz="2000" dirty="0">
                <a:latin typeface="Times New Roman" panose="02020603050405020304" pitchFamily="18" charset="0"/>
                <a:cs typeface="Times New Roman" panose="02020603050405020304" pitchFamily="18" charset="0"/>
              </a:rPr>
              <a:t>for Python scripts.</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Eclipse/IntelliJ Debugger – </a:t>
            </a:r>
            <a:r>
              <a:rPr lang="en-US" sz="2000" dirty="0">
                <a:latin typeface="Times New Roman" panose="02020603050405020304" pitchFamily="18" charset="0"/>
                <a:cs typeface="Times New Roman" panose="02020603050405020304" pitchFamily="18" charset="0"/>
              </a:rPr>
              <a:t>for Java applications.</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Visual Studio Debugger – </a:t>
            </a:r>
            <a:r>
              <a:rPr lang="en-US" sz="2000" dirty="0">
                <a:latin typeface="Times New Roman" panose="02020603050405020304" pitchFamily="18" charset="0"/>
                <a:cs typeface="Times New Roman" panose="02020603050405020304" pitchFamily="18" charset="0"/>
              </a:rPr>
              <a:t>for C#, C++, .NET apps.</a:t>
            </a:r>
          </a:p>
          <a:p>
            <a:pPr marL="457200" indent="-457200">
              <a:lnSpc>
                <a:spcPct val="150000"/>
              </a:lnSpc>
              <a:buFont typeface="+mj-lt"/>
              <a:buAutoNum type="arabicParenR"/>
            </a:pPr>
            <a:r>
              <a:rPr lang="en-US" sz="2000" b="1" dirty="0" err="1">
                <a:latin typeface="Times New Roman" panose="02020603050405020304" pitchFamily="18" charset="0"/>
                <a:cs typeface="Times New Roman" panose="02020603050405020304" pitchFamily="18" charset="0"/>
              </a:rPr>
              <a:t>Valgrind</a:t>
            </a:r>
            <a:r>
              <a:rPr lang="en-US" sz="2000" b="1"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for memory error detection.</a:t>
            </a:r>
          </a:p>
          <a:p>
            <a:pPr marL="457200" indent="-457200">
              <a:lnSpc>
                <a:spcPct val="150000"/>
              </a:lnSpc>
              <a:buFont typeface="+mj-lt"/>
              <a:buAutoNum type="arabicParenR"/>
            </a:pPr>
            <a:r>
              <a:rPr lang="en-US" sz="2000" b="1" dirty="0">
                <a:latin typeface="Times New Roman" panose="02020603050405020304" pitchFamily="18" charset="0"/>
                <a:cs typeface="Times New Roman" panose="02020603050405020304" pitchFamily="18" charset="0"/>
              </a:rPr>
              <a:t>Logging Libraries – </a:t>
            </a:r>
            <a:r>
              <a:rPr lang="en-US" sz="2000" dirty="0">
                <a:latin typeface="Times New Roman" panose="02020603050405020304" pitchFamily="18" charset="0"/>
                <a:cs typeface="Times New Roman" panose="02020603050405020304" pitchFamily="18" charset="0"/>
              </a:rPr>
              <a:t>like Log4j, Python’s logging module.</a:t>
            </a:r>
          </a:p>
        </p:txBody>
      </p:sp>
    </p:spTree>
    <p:extLst>
      <p:ext uri="{BB962C8B-B14F-4D97-AF65-F5344CB8AC3E}">
        <p14:creationId xmlns:p14="http://schemas.microsoft.com/office/powerpoint/2010/main" val="29921945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124A3-DAE9-5D2A-A4A0-2B9795CFDF7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B72BDE3-4CBD-4D3C-23EE-EBE9D974C79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Difference Between Debugging and Testing</a:t>
            </a:r>
          </a:p>
        </p:txBody>
      </p:sp>
      <p:pic>
        <p:nvPicPr>
          <p:cNvPr id="5" name="Picture 4">
            <a:extLst>
              <a:ext uri="{FF2B5EF4-FFF2-40B4-BE49-F238E27FC236}">
                <a16:creationId xmlns:a16="http://schemas.microsoft.com/office/drawing/2014/main" id="{878ED277-48E0-D1DE-AB85-D97D00CE4849}"/>
              </a:ext>
            </a:extLst>
          </p:cNvPr>
          <p:cNvPicPr>
            <a:picLocks noChangeAspect="1"/>
          </p:cNvPicPr>
          <p:nvPr/>
        </p:nvPicPr>
        <p:blipFill>
          <a:blip r:embed="rId3"/>
          <a:srcRect t="585"/>
          <a:stretch>
            <a:fillRect/>
          </a:stretch>
        </p:blipFill>
        <p:spPr>
          <a:xfrm>
            <a:off x="692174" y="1329242"/>
            <a:ext cx="10807652" cy="4227580"/>
          </a:xfrm>
          <a:prstGeom prst="rect">
            <a:avLst/>
          </a:prstGeom>
          <a:ln w="12700">
            <a:solidFill>
              <a:schemeClr val="tx1"/>
            </a:solidFill>
          </a:ln>
        </p:spPr>
      </p:pic>
    </p:spTree>
    <p:extLst>
      <p:ext uri="{BB962C8B-B14F-4D97-AF65-F5344CB8AC3E}">
        <p14:creationId xmlns:p14="http://schemas.microsoft.com/office/powerpoint/2010/main" val="22267768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0251C-049F-9914-C087-AB5C298EB64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6068536-424A-D50D-21C9-0D4E92784836}"/>
              </a:ext>
            </a:extLst>
          </p:cNvPr>
          <p:cNvSpPr txBox="1">
            <a:spLocks/>
          </p:cNvSpPr>
          <p:nvPr/>
        </p:nvSpPr>
        <p:spPr>
          <a:xfrm>
            <a:off x="692174" y="563384"/>
            <a:ext cx="10807652" cy="440488"/>
          </a:xfrm>
          <a:prstGeom prst="rect">
            <a:avLst/>
          </a:prstGeom>
        </p:spPr>
        <p:txBody>
          <a:bodyPr vert="horz" lIns="0" tIns="0" rIns="0" bIns="0" rtlCol="0" anchor="ctr" anchorCtr="0">
            <a:normAutofit/>
          </a:bodyPr>
          <a:lstStyle>
            <a:lvl1pPr algn="l" defTabSz="914400" rtl="0" eaLnBrk="1" latinLnBrk="0" hangingPunct="1">
              <a:lnSpc>
                <a:spcPts val="2667"/>
              </a:lnSpc>
              <a:spcBef>
                <a:spcPct val="0"/>
              </a:spcBef>
              <a:buNone/>
              <a:defRPr sz="2933" b="1" i="0" kern="1200">
                <a:solidFill>
                  <a:schemeClr val="tx1"/>
                </a:solidFill>
                <a:latin typeface="Arial" charset="0"/>
                <a:ea typeface="Arial" charset="0"/>
                <a:cs typeface="Arial" charset="0"/>
              </a:defRPr>
            </a:lvl1pPr>
          </a:lstStyle>
          <a:p>
            <a:r>
              <a:rPr lang="en-US" altLang="en-US" sz="2800" dirty="0">
                <a:latin typeface="Times New Roman" panose="02020603050405020304" pitchFamily="18" charset="0"/>
                <a:ea typeface="ＭＳ Ｐゴシック" panose="020B0600070205080204" pitchFamily="34" charset="-128"/>
                <a:cs typeface="Times New Roman" panose="02020603050405020304" pitchFamily="18" charset="0"/>
              </a:rPr>
              <a:t>Advantages vs Disadvantages of Debugging</a:t>
            </a:r>
          </a:p>
        </p:txBody>
      </p:sp>
      <p:graphicFrame>
        <p:nvGraphicFramePr>
          <p:cNvPr id="2" name="Table 1">
            <a:extLst>
              <a:ext uri="{FF2B5EF4-FFF2-40B4-BE49-F238E27FC236}">
                <a16:creationId xmlns:a16="http://schemas.microsoft.com/office/drawing/2014/main" id="{9D494D36-8D72-E08B-B9FD-3F439D944F75}"/>
              </a:ext>
            </a:extLst>
          </p:cNvPr>
          <p:cNvGraphicFramePr>
            <a:graphicFrameLocks noGrp="1"/>
          </p:cNvGraphicFramePr>
          <p:nvPr/>
        </p:nvGraphicFramePr>
        <p:xfrm>
          <a:off x="838200" y="1436818"/>
          <a:ext cx="10515600" cy="4328160"/>
        </p:xfrm>
        <a:graphic>
          <a:graphicData uri="http://schemas.openxmlformats.org/drawingml/2006/table">
            <a:tbl>
              <a:tblPr/>
              <a:tblGrid>
                <a:gridCol w="5257800">
                  <a:extLst>
                    <a:ext uri="{9D8B030D-6E8A-4147-A177-3AD203B41FA5}">
                      <a16:colId xmlns:a16="http://schemas.microsoft.com/office/drawing/2014/main" val="1720023623"/>
                    </a:ext>
                  </a:extLst>
                </a:gridCol>
                <a:gridCol w="5257800">
                  <a:extLst>
                    <a:ext uri="{9D8B030D-6E8A-4147-A177-3AD203B41FA5}">
                      <a16:colId xmlns:a16="http://schemas.microsoft.com/office/drawing/2014/main" val="1584356494"/>
                    </a:ext>
                  </a:extLst>
                </a:gridCol>
              </a:tblGrid>
              <a:tr h="0">
                <a:tc>
                  <a:txBody>
                    <a:bodyPr/>
                    <a:lstStyle/>
                    <a:p>
                      <a:pPr algn="ctr">
                        <a:buNone/>
                      </a:pPr>
                      <a:r>
                        <a:rPr lang="en-IN" sz="2000" b="1" dirty="0">
                          <a:solidFill>
                            <a:schemeClr val="bg1"/>
                          </a:solidFill>
                          <a:latin typeface="Times New Roman" panose="02020603050405020304" pitchFamily="18" charset="0"/>
                          <a:cs typeface="Times New Roman" panose="02020603050405020304" pitchFamily="18" charset="0"/>
                        </a:rPr>
                        <a:t>Advantages</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tc>
                  <a:txBody>
                    <a:bodyPr/>
                    <a:lstStyle/>
                    <a:p>
                      <a:pPr algn="ctr">
                        <a:buNone/>
                      </a:pPr>
                      <a:r>
                        <a:rPr lang="en-IN" sz="2000" b="1" dirty="0">
                          <a:solidFill>
                            <a:schemeClr val="bg1"/>
                          </a:solidFill>
                          <a:latin typeface="Times New Roman" panose="02020603050405020304" pitchFamily="18" charset="0"/>
                          <a:cs typeface="Times New Roman" panose="02020603050405020304" pitchFamily="18" charset="0"/>
                        </a:rPr>
                        <a:t>Disadvantages</a:t>
                      </a:r>
                      <a:endParaRPr lang="en-IN" sz="2000"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66CC"/>
                    </a:solidFill>
                  </a:tcPr>
                </a:tc>
                <a:extLst>
                  <a:ext uri="{0D108BD9-81ED-4DB2-BD59-A6C34878D82A}">
                    <a16:rowId xmlns:a16="http://schemas.microsoft.com/office/drawing/2014/main" val="3802433304"/>
                  </a:ext>
                </a:extLst>
              </a:tr>
              <a:tr h="0">
                <a:tc>
                  <a:txBody>
                    <a:bodyPr/>
                    <a:lstStyle/>
                    <a:p>
                      <a:pPr>
                        <a:buNone/>
                      </a:pPr>
                      <a:r>
                        <a:rPr lang="en-US">
                          <a:latin typeface="Times New Roman" panose="02020603050405020304" pitchFamily="18" charset="0"/>
                          <a:cs typeface="Times New Roman" panose="02020603050405020304" pitchFamily="18" charset="0"/>
                        </a:rPr>
                        <a:t>Helps identify and fix errors early in development.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Can be time-consuming and require significant effort.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0309182"/>
                  </a:ext>
                </a:extLst>
              </a:tr>
              <a:tr h="0">
                <a:tc>
                  <a:txBody>
                    <a:bodyPr/>
                    <a:lstStyle/>
                    <a:p>
                      <a:pPr>
                        <a:buNone/>
                      </a:pPr>
                      <a:r>
                        <a:rPr lang="en-US" dirty="0">
                          <a:latin typeface="Times New Roman" panose="02020603050405020304" pitchFamily="18" charset="0"/>
                          <a:cs typeface="Times New Roman" panose="02020603050405020304" pitchFamily="18" charset="0"/>
                        </a:rPr>
                        <a:t>Improves code quality, stability, and reliability.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Debugging complex systems may require advanced skills.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353753"/>
                  </a:ext>
                </a:extLst>
              </a:tr>
              <a:tr h="0">
                <a:tc>
                  <a:txBody>
                    <a:bodyPr/>
                    <a:lstStyle/>
                    <a:p>
                      <a:pPr>
                        <a:buNone/>
                      </a:pPr>
                      <a:r>
                        <a:rPr lang="en-US">
                          <a:latin typeface="Times New Roman" panose="02020603050405020304" pitchFamily="18" charset="0"/>
                          <a:cs typeface="Times New Roman" panose="02020603050405020304" pitchFamily="18" charset="0"/>
                        </a:rPr>
                        <a:t>Enhances understanding of program flow and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Tools may be expensive or difficult to configure.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4869893"/>
                  </a:ext>
                </a:extLst>
              </a:tr>
              <a:tr h="0">
                <a:tc>
                  <a:txBody>
                    <a:bodyPr/>
                    <a:lstStyle/>
                    <a:p>
                      <a:pPr>
                        <a:buNone/>
                      </a:pPr>
                      <a:r>
                        <a:rPr lang="en-US" dirty="0">
                          <a:latin typeface="Times New Roman" panose="02020603050405020304" pitchFamily="18" charset="0"/>
                          <a:cs typeface="Times New Roman" panose="02020603050405020304" pitchFamily="18" charset="0"/>
                        </a:rPr>
                        <a:t>Prevents issues from propagating to later stages.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Debugging may not always pinpoint the root cause immediately.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0091534"/>
                  </a:ext>
                </a:extLst>
              </a:tr>
              <a:tr h="0">
                <a:tc>
                  <a:txBody>
                    <a:bodyPr/>
                    <a:lstStyle/>
                    <a:p>
                      <a:pPr>
                        <a:buNone/>
                      </a:pPr>
                      <a:r>
                        <a:rPr lang="en-US" dirty="0">
                          <a:latin typeface="Times New Roman" panose="02020603050405020304" pitchFamily="18" charset="0"/>
                          <a:cs typeface="Times New Roman" panose="02020603050405020304" pitchFamily="18" charset="0"/>
                        </a:rPr>
                        <a:t>Supports smooth teamwork by maintaining clean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Over-reliance on debugging tools may reduce logical problem-solving skills.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766225"/>
                  </a:ext>
                </a:extLst>
              </a:tr>
              <a:tr h="0">
                <a:tc>
                  <a:txBody>
                    <a:bodyPr/>
                    <a:lstStyle/>
                    <a:p>
                      <a:pPr>
                        <a:buNone/>
                      </a:pPr>
                      <a:r>
                        <a:rPr lang="en-US">
                          <a:latin typeface="Times New Roman" panose="02020603050405020304" pitchFamily="18" charset="0"/>
                          <a:cs typeface="Times New Roman" panose="02020603050405020304" pitchFamily="18" charset="0"/>
                        </a:rPr>
                        <a:t>Reduces overall project cost by catching bugs 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latin typeface="Times New Roman" panose="02020603050405020304" pitchFamily="18" charset="0"/>
                          <a:cs typeface="Times New Roman" panose="02020603050405020304" pitchFamily="18" charset="0"/>
                        </a:rPr>
                        <a:t>Continuous debugging can slow down the development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9911737"/>
                  </a:ext>
                </a:extLst>
              </a:tr>
              <a:tr h="0">
                <a:tc>
                  <a:txBody>
                    <a:bodyPr/>
                    <a:lstStyle/>
                    <a:p>
                      <a:pPr>
                        <a:buNone/>
                      </a:pPr>
                      <a:r>
                        <a:rPr lang="en-US">
                          <a:latin typeface="Times New Roman" panose="02020603050405020304" pitchFamily="18" charset="0"/>
                          <a:cs typeface="Times New Roman" panose="02020603050405020304" pitchFamily="18" charset="0"/>
                        </a:rPr>
                        <a:t>Builds developer confidence in delivering robust software.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latin typeface="Times New Roman" panose="02020603050405020304" pitchFamily="18" charset="0"/>
                          <a:cs typeface="Times New Roman" panose="02020603050405020304" pitchFamily="18" charset="0"/>
                        </a:rPr>
                        <a:t>Can be frustrating and mentally exhausting.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0495777"/>
                  </a:ext>
                </a:extLst>
              </a:tr>
            </a:tbl>
          </a:graphicData>
        </a:graphic>
      </p:graphicFrame>
    </p:spTree>
    <p:extLst>
      <p:ext uri="{BB962C8B-B14F-4D97-AF65-F5344CB8AC3E}">
        <p14:creationId xmlns:p14="http://schemas.microsoft.com/office/powerpoint/2010/main" val="26255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1823</Words>
  <Application>Microsoft Office PowerPoint</Application>
  <PresentationFormat>Widescreen</PresentationFormat>
  <Paragraphs>174</Paragraphs>
  <Slides>21</Slides>
  <Notes>18</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Renu  Jindal</dc:creator>
  <cp:lastModifiedBy>Renu  Jindal</cp:lastModifiedBy>
  <cp:revision>2</cp:revision>
  <dcterms:created xsi:type="dcterms:W3CDTF">2025-10-13T14:29:16Z</dcterms:created>
  <dcterms:modified xsi:type="dcterms:W3CDTF">2025-10-16T04:37:08Z</dcterms:modified>
</cp:coreProperties>
</file>